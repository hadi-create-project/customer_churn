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102" y="1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769638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6528816"/>
            <a:ext cx="12191695" cy="329184"/>
          </a:xfrm>
          <a:prstGeom prst="rect">
            <a:avLst/>
          </a:prstGeom>
          <a:solidFill>
            <a:srgbClr val="F4F8FB"/>
          </a:solidFill>
          <a:ln/>
        </p:spPr>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065A82">
              <a:alpha val="45000"/>
            </a:srgbClr>
          </a:solidFill>
          <a:ln/>
        </p:spPr>
      </p:sp>
      <p:sp>
        <p:nvSpPr>
          <p:cNvPr id="3" name="Shape 1"/>
          <p:cNvSpPr/>
          <p:nvPr/>
        </p:nvSpPr>
        <p:spPr>
          <a:xfrm>
            <a:off x="-2194560" y="4937760"/>
            <a:ext cx="5029200" cy="5029200"/>
          </a:xfrm>
          <a:prstGeom prst="ellipse">
            <a:avLst/>
          </a:prstGeom>
          <a:solidFill>
            <a:srgbClr val="1C7293">
              <a:alpha val="40000"/>
            </a:srgbClr>
          </a:solidFill>
          <a:ln/>
        </p:spPr>
      </p:sp>
      <p:sp>
        <p:nvSpPr>
          <p:cNvPr id="4" name="Shape 2"/>
          <p:cNvSpPr/>
          <p:nvPr/>
        </p:nvSpPr>
        <p:spPr>
          <a:xfrm>
            <a:off x="640080" y="685800"/>
            <a:ext cx="3246120" cy="384048"/>
          </a:xfrm>
          <a:prstGeom prst="roundRect">
            <a:avLst>
              <a:gd name="adj" fmla="val 50000"/>
            </a:avLst>
          </a:prstGeom>
          <a:solidFill>
            <a:srgbClr val="FFFFFF">
              <a:alpha val="12000"/>
            </a:srgbClr>
          </a:solidFill>
          <a:ln w="9525">
            <a:solidFill>
              <a:srgbClr val="FFFFFF">
                <a:alpha val="30000"/>
              </a:srgbClr>
            </a:solidFill>
            <a:prstDash val="solid"/>
          </a:ln>
        </p:spPr>
      </p:sp>
      <p:sp>
        <p:nvSpPr>
          <p:cNvPr id="5" name="Text 3"/>
          <p:cNvSpPr txBox="1"/>
          <p:nvPr/>
        </p:nvSpPr>
        <p:spPr>
          <a:xfrm>
            <a:off x="640080" y="685800"/>
            <a:ext cx="3246120" cy="384048"/>
          </a:xfrm>
          <a:prstGeom prst="rect">
            <a:avLst/>
          </a:prstGeom>
          <a:noFill/>
          <a:ln/>
        </p:spPr>
        <p:txBody>
          <a:bodyPr wrap="square" lIns="0" tIns="0" rIns="0" bIns="0" rtlCol="0" anchor="ctr"/>
          <a:lstStyle/>
          <a:p>
            <a:pPr marL="0" indent="0" algn="ctr">
              <a:buNone/>
            </a:pPr>
            <a:r>
              <a:rPr lang="en-US" sz="1050" b="1" kern="0" spc="150" dirty="0">
                <a:solidFill>
                  <a:srgbClr val="FFFFFF"/>
                </a:solidFill>
                <a:latin typeface="Calibri" pitchFamily="34" charset="0"/>
                <a:ea typeface="Calibri" pitchFamily="34" charset="-122"/>
                <a:cs typeface="Calibri" pitchFamily="34" charset="-120"/>
              </a:rPr>
              <a:t>DATA ANALYST PORTFOLIO</a:t>
            </a:r>
            <a:endParaRPr lang="en-US" sz="1050" dirty="0"/>
          </a:p>
        </p:txBody>
      </p:sp>
      <p:sp>
        <p:nvSpPr>
          <p:cNvPr id="6" name="Text 4"/>
          <p:cNvSpPr txBox="1"/>
          <p:nvPr/>
        </p:nvSpPr>
        <p:spPr>
          <a:xfrm>
            <a:off x="640080" y="1417320"/>
            <a:ext cx="9601200" cy="914400"/>
          </a:xfrm>
          <a:prstGeom prst="rect">
            <a:avLst/>
          </a:prstGeom>
          <a:noFill/>
          <a:ln/>
        </p:spPr>
        <p:txBody>
          <a:bodyPr wrap="square" lIns="0" tIns="0" rIns="0" bIns="0" rtlCol="0" anchor="ctr"/>
          <a:lstStyle/>
          <a:p>
            <a:pPr marL="0" indent="0">
              <a:buNone/>
            </a:pPr>
            <a:r>
              <a:rPr lang="en-US" sz="4200" b="1" dirty="0">
                <a:solidFill>
                  <a:srgbClr val="FFFFFF"/>
                </a:solidFill>
                <a:latin typeface="Cambria" pitchFamily="34" charset="0"/>
                <a:ea typeface="Cambria" pitchFamily="34" charset="-122"/>
                <a:cs typeface="Cambria" pitchFamily="34" charset="-120"/>
              </a:rPr>
              <a:t>Customer Churn Analysis</a:t>
            </a:r>
            <a:endParaRPr lang="en-US" sz="4200" dirty="0"/>
          </a:p>
        </p:txBody>
      </p:sp>
      <p:sp>
        <p:nvSpPr>
          <p:cNvPr id="7" name="Text 5"/>
          <p:cNvSpPr txBox="1"/>
          <p:nvPr/>
        </p:nvSpPr>
        <p:spPr>
          <a:xfrm>
            <a:off x="640080" y="2148840"/>
            <a:ext cx="9601200" cy="640080"/>
          </a:xfrm>
          <a:prstGeom prst="rect">
            <a:avLst/>
          </a:prstGeom>
          <a:noFill/>
          <a:ln/>
        </p:spPr>
        <p:txBody>
          <a:bodyPr wrap="square" lIns="0" tIns="0" rIns="0" bIns="0" rtlCol="0" anchor="ctr"/>
          <a:lstStyle/>
          <a:p>
            <a:pPr marL="0" indent="0">
              <a:buNone/>
            </a:pPr>
            <a:r>
              <a:rPr lang="en-US" sz="2600" dirty="0">
                <a:solidFill>
                  <a:srgbClr val="CADCFC"/>
                </a:solidFill>
                <a:latin typeface="Cambria" pitchFamily="34" charset="0"/>
                <a:ea typeface="Cambria" pitchFamily="34" charset="-122"/>
                <a:cs typeface="Cambria" pitchFamily="34" charset="-120"/>
              </a:rPr>
              <a:t>Telco Customer Churn Dataset</a:t>
            </a:r>
            <a:endParaRPr lang="en-US" sz="2600" dirty="0"/>
          </a:p>
        </p:txBody>
      </p:sp>
      <p:sp>
        <p:nvSpPr>
          <p:cNvPr id="8" name="Text 6"/>
          <p:cNvSpPr txBox="1"/>
          <p:nvPr/>
        </p:nvSpPr>
        <p:spPr>
          <a:xfrm>
            <a:off x="640080" y="2880360"/>
            <a:ext cx="7589520" cy="685800"/>
          </a:xfrm>
          <a:prstGeom prst="rect">
            <a:avLst/>
          </a:prstGeom>
          <a:noFill/>
          <a:ln/>
        </p:spPr>
        <p:txBody>
          <a:bodyPr wrap="square" lIns="0" tIns="0" rIns="0" bIns="0" rtlCol="0" anchor="ctr"/>
          <a:lstStyle/>
          <a:p>
            <a:pPr marL="0" indent="0">
              <a:lnSpc>
                <a:spcPct val="125000"/>
              </a:lnSpc>
              <a:buNone/>
            </a:pPr>
            <a:r>
              <a:rPr lang="en-US" sz="1300" dirty="0">
                <a:solidFill>
                  <a:srgbClr val="D7E6F2"/>
                </a:solidFill>
                <a:latin typeface="Calibri" pitchFamily="34" charset="0"/>
                <a:ea typeface="Calibri" pitchFamily="34" charset="-122"/>
                <a:cs typeface="Calibri" pitchFamily="34" charset="-120"/>
              </a:rPr>
              <a:t>Mengidentifikasi pola, driver, dan segmen berisiko churn pada pelanggan telekomunikasi — dari data mentah hingga rekomendasi bisnis yang terukur dampaknya.</a:t>
            </a:r>
            <a:endParaRPr lang="en-US" sz="1300" dirty="0"/>
          </a:p>
        </p:txBody>
      </p:sp>
      <p:sp>
        <p:nvSpPr>
          <p:cNvPr id="9" name="Shape 7"/>
          <p:cNvSpPr/>
          <p:nvPr/>
        </p:nvSpPr>
        <p:spPr>
          <a:xfrm>
            <a:off x="640080" y="3794760"/>
            <a:ext cx="1382573" cy="365760"/>
          </a:xfrm>
          <a:prstGeom prst="roundRect">
            <a:avLst>
              <a:gd name="adj" fmla="val 50000"/>
            </a:avLst>
          </a:prstGeom>
          <a:solidFill>
            <a:srgbClr val="FFFFFF">
              <a:alpha val="12000"/>
            </a:srgbClr>
          </a:solidFill>
          <a:ln w="9525">
            <a:solidFill>
              <a:srgbClr val="FFFFFF">
                <a:alpha val="35000"/>
              </a:srgbClr>
            </a:solidFill>
            <a:prstDash val="solid"/>
          </a:ln>
        </p:spPr>
      </p:sp>
      <p:sp>
        <p:nvSpPr>
          <p:cNvPr id="10" name="Text 8"/>
          <p:cNvSpPr txBox="1"/>
          <p:nvPr/>
        </p:nvSpPr>
        <p:spPr>
          <a:xfrm>
            <a:off x="640080" y="3794760"/>
            <a:ext cx="1382573" cy="3657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BigQuery · SQL</a:t>
            </a:r>
            <a:endParaRPr lang="en-US" sz="1050" dirty="0"/>
          </a:p>
        </p:txBody>
      </p:sp>
      <p:sp>
        <p:nvSpPr>
          <p:cNvPr id="11" name="Shape 9"/>
          <p:cNvSpPr/>
          <p:nvPr/>
        </p:nvSpPr>
        <p:spPr>
          <a:xfrm>
            <a:off x="2159813" y="3794760"/>
            <a:ext cx="1463040" cy="365760"/>
          </a:xfrm>
          <a:prstGeom prst="roundRect">
            <a:avLst>
              <a:gd name="adj" fmla="val 50000"/>
            </a:avLst>
          </a:prstGeom>
          <a:solidFill>
            <a:srgbClr val="FFFFFF">
              <a:alpha val="12000"/>
            </a:srgbClr>
          </a:solidFill>
          <a:ln w="9525">
            <a:solidFill>
              <a:srgbClr val="FFFFFF">
                <a:alpha val="35000"/>
              </a:srgbClr>
            </a:solidFill>
            <a:prstDash val="solid"/>
          </a:ln>
        </p:spPr>
      </p:sp>
      <p:sp>
        <p:nvSpPr>
          <p:cNvPr id="12" name="Text 10"/>
          <p:cNvSpPr txBox="1"/>
          <p:nvPr/>
        </p:nvSpPr>
        <p:spPr>
          <a:xfrm>
            <a:off x="2159813" y="3794760"/>
            <a:ext cx="1463040" cy="3657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Python · Pandas</a:t>
            </a:r>
            <a:endParaRPr lang="en-US" sz="1050" dirty="0"/>
          </a:p>
        </p:txBody>
      </p:sp>
      <p:sp>
        <p:nvSpPr>
          <p:cNvPr id="13" name="Shape 11"/>
          <p:cNvSpPr/>
          <p:nvPr/>
        </p:nvSpPr>
        <p:spPr>
          <a:xfrm>
            <a:off x="3760013" y="3794760"/>
            <a:ext cx="819302" cy="365760"/>
          </a:xfrm>
          <a:prstGeom prst="roundRect">
            <a:avLst>
              <a:gd name="adj" fmla="val 50000"/>
            </a:avLst>
          </a:prstGeom>
          <a:solidFill>
            <a:srgbClr val="FFFFFF">
              <a:alpha val="12000"/>
            </a:srgbClr>
          </a:solidFill>
          <a:ln w="9525">
            <a:solidFill>
              <a:srgbClr val="FFFFFF">
                <a:alpha val="35000"/>
              </a:srgbClr>
            </a:solidFill>
            <a:prstDash val="solid"/>
          </a:ln>
        </p:spPr>
      </p:sp>
      <p:sp>
        <p:nvSpPr>
          <p:cNvPr id="14" name="Text 12"/>
          <p:cNvSpPr txBox="1"/>
          <p:nvPr/>
        </p:nvSpPr>
        <p:spPr>
          <a:xfrm>
            <a:off x="3760013" y="3794760"/>
            <a:ext cx="819302" cy="3657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XGBoost</a:t>
            </a:r>
            <a:endParaRPr lang="en-US" sz="1050" dirty="0"/>
          </a:p>
        </p:txBody>
      </p:sp>
      <p:sp>
        <p:nvSpPr>
          <p:cNvPr id="15" name="Shape 13"/>
          <p:cNvSpPr/>
          <p:nvPr/>
        </p:nvSpPr>
        <p:spPr>
          <a:xfrm>
            <a:off x="4716475" y="3794760"/>
            <a:ext cx="899770" cy="365760"/>
          </a:xfrm>
          <a:prstGeom prst="roundRect">
            <a:avLst>
              <a:gd name="adj" fmla="val 50000"/>
            </a:avLst>
          </a:prstGeom>
          <a:solidFill>
            <a:srgbClr val="FFFFFF">
              <a:alpha val="12000"/>
            </a:srgbClr>
          </a:solidFill>
          <a:ln w="9525">
            <a:solidFill>
              <a:srgbClr val="FFFFFF">
                <a:alpha val="35000"/>
              </a:srgbClr>
            </a:solidFill>
            <a:prstDash val="solid"/>
          </a:ln>
        </p:spPr>
      </p:sp>
      <p:sp>
        <p:nvSpPr>
          <p:cNvPr id="16" name="Text 14"/>
          <p:cNvSpPr txBox="1"/>
          <p:nvPr/>
        </p:nvSpPr>
        <p:spPr>
          <a:xfrm>
            <a:off x="4716475" y="3794760"/>
            <a:ext cx="899770" cy="365760"/>
          </a:xfrm>
          <a:prstGeom prst="rect">
            <a:avLst/>
          </a:prstGeom>
          <a:noFill/>
          <a:ln/>
        </p:spPr>
        <p:txBody>
          <a:bodyPr wrap="square" lIns="0" tIns="0" rIns="0" bIns="0"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Power BI</a:t>
            </a:r>
            <a:endParaRPr lang="en-US" sz="1050" dirty="0"/>
          </a:p>
        </p:txBody>
      </p:sp>
      <p:sp>
        <p:nvSpPr>
          <p:cNvPr id="17" name="Shape 15"/>
          <p:cNvSpPr/>
          <p:nvPr/>
        </p:nvSpPr>
        <p:spPr>
          <a:xfrm>
            <a:off x="640080" y="5989320"/>
            <a:ext cx="10881360" cy="0"/>
          </a:xfrm>
          <a:prstGeom prst="line">
            <a:avLst/>
          </a:prstGeom>
          <a:noFill/>
          <a:ln w="12700">
            <a:solidFill>
              <a:srgbClr val="FFFFFF">
                <a:alpha val="25000"/>
              </a:srgbClr>
            </a:solidFill>
            <a:prstDash val="solid"/>
          </a:ln>
        </p:spPr>
      </p:sp>
      <p:sp>
        <p:nvSpPr>
          <p:cNvPr id="18" name="Text 16"/>
          <p:cNvSpPr txBox="1"/>
          <p:nvPr/>
        </p:nvSpPr>
        <p:spPr>
          <a:xfrm>
            <a:off x="640080" y="6172200"/>
            <a:ext cx="3291840" cy="228600"/>
          </a:xfrm>
          <a:prstGeom prst="rect">
            <a:avLst/>
          </a:prstGeom>
          <a:noFill/>
          <a:ln/>
        </p:spPr>
        <p:txBody>
          <a:bodyPr wrap="square" lIns="0" tIns="0" rIns="0" bIns="0" rtlCol="0" anchor="ctr"/>
          <a:lstStyle/>
          <a:p>
            <a:pPr marL="0" indent="0">
              <a:buNone/>
            </a:pPr>
            <a:r>
              <a:rPr lang="en-US" sz="850" kern="0" spc="100" dirty="0">
                <a:solidFill>
                  <a:srgbClr val="9FC1DE"/>
                </a:solidFill>
                <a:latin typeface="Calibri" pitchFamily="34" charset="0"/>
                <a:ea typeface="Calibri" pitchFamily="34" charset="-122"/>
                <a:cs typeface="Calibri" pitchFamily="34" charset="-120"/>
              </a:rPr>
              <a:t>DISUSUN OLEH</a:t>
            </a:r>
            <a:endParaRPr lang="en-US" sz="850" dirty="0"/>
          </a:p>
        </p:txBody>
      </p:sp>
      <p:sp>
        <p:nvSpPr>
          <p:cNvPr id="19" name="Text 17"/>
          <p:cNvSpPr txBox="1"/>
          <p:nvPr/>
        </p:nvSpPr>
        <p:spPr>
          <a:xfrm>
            <a:off x="640080" y="6400800"/>
            <a:ext cx="32918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Hadi Rahman</a:t>
            </a:r>
            <a:endParaRPr lang="en-US" sz="1200" dirty="0"/>
          </a:p>
        </p:txBody>
      </p:sp>
      <p:sp>
        <p:nvSpPr>
          <p:cNvPr id="20" name="Text 18"/>
          <p:cNvSpPr txBox="1"/>
          <p:nvPr/>
        </p:nvSpPr>
        <p:spPr>
          <a:xfrm>
            <a:off x="4206240" y="6172200"/>
            <a:ext cx="3291840" cy="228600"/>
          </a:xfrm>
          <a:prstGeom prst="rect">
            <a:avLst/>
          </a:prstGeom>
          <a:noFill/>
          <a:ln/>
        </p:spPr>
        <p:txBody>
          <a:bodyPr wrap="square" lIns="0" tIns="0" rIns="0" bIns="0" rtlCol="0" anchor="ctr"/>
          <a:lstStyle/>
          <a:p>
            <a:pPr marL="0" indent="0">
              <a:buNone/>
            </a:pPr>
            <a:r>
              <a:rPr lang="en-US" sz="850" kern="0" spc="100" dirty="0">
                <a:solidFill>
                  <a:srgbClr val="9FC1DE"/>
                </a:solidFill>
                <a:latin typeface="Calibri" pitchFamily="34" charset="0"/>
                <a:ea typeface="Calibri" pitchFamily="34" charset="-122"/>
                <a:cs typeface="Calibri" pitchFamily="34" charset="-120"/>
              </a:rPr>
              <a:t>SUMBER DATA</a:t>
            </a:r>
            <a:endParaRPr lang="en-US" sz="850" dirty="0"/>
          </a:p>
        </p:txBody>
      </p:sp>
      <p:sp>
        <p:nvSpPr>
          <p:cNvPr id="21" name="Text 19"/>
          <p:cNvSpPr txBox="1"/>
          <p:nvPr/>
        </p:nvSpPr>
        <p:spPr>
          <a:xfrm>
            <a:off x="4206240" y="6400800"/>
            <a:ext cx="32918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Kaggle — Telco Customer Churn</a:t>
            </a:r>
            <a:endParaRPr lang="en-US" sz="1200" dirty="0"/>
          </a:p>
        </p:txBody>
      </p:sp>
      <p:sp>
        <p:nvSpPr>
          <p:cNvPr id="22" name="Text 20"/>
          <p:cNvSpPr txBox="1"/>
          <p:nvPr/>
        </p:nvSpPr>
        <p:spPr>
          <a:xfrm>
            <a:off x="7772400" y="6172200"/>
            <a:ext cx="3291840" cy="228600"/>
          </a:xfrm>
          <a:prstGeom prst="rect">
            <a:avLst/>
          </a:prstGeom>
          <a:noFill/>
          <a:ln/>
        </p:spPr>
        <p:txBody>
          <a:bodyPr wrap="square" lIns="0" tIns="0" rIns="0" bIns="0" rtlCol="0" anchor="ctr"/>
          <a:lstStyle/>
          <a:p>
            <a:pPr marL="0" indent="0">
              <a:buNone/>
            </a:pPr>
            <a:r>
              <a:rPr lang="en-US" sz="850" kern="0" spc="100" dirty="0">
                <a:solidFill>
                  <a:srgbClr val="9FC1DE"/>
                </a:solidFill>
                <a:latin typeface="Calibri" pitchFamily="34" charset="0"/>
                <a:ea typeface="Calibri" pitchFamily="34" charset="-122"/>
                <a:cs typeface="Calibri" pitchFamily="34" charset="-120"/>
              </a:rPr>
              <a:t>UKURAN DATA</a:t>
            </a:r>
            <a:endParaRPr lang="en-US" sz="850" dirty="0"/>
          </a:p>
        </p:txBody>
      </p:sp>
      <p:sp>
        <p:nvSpPr>
          <p:cNvPr id="23" name="Text 21"/>
          <p:cNvSpPr txBox="1"/>
          <p:nvPr/>
        </p:nvSpPr>
        <p:spPr>
          <a:xfrm>
            <a:off x="7772400" y="6400800"/>
            <a:ext cx="3291840" cy="27432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7.043 baris × 21 kolom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RINGKASAN</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Executive Summary</a:t>
            </a:r>
            <a:endParaRPr lang="en-US" sz="2700" dirty="0"/>
          </a:p>
        </p:txBody>
      </p:sp>
      <p:sp>
        <p:nvSpPr>
          <p:cNvPr id="4" name="Shape 2"/>
          <p:cNvSpPr/>
          <p:nvPr/>
        </p:nvSpPr>
        <p:spPr>
          <a:xfrm>
            <a:off x="548640" y="1417320"/>
            <a:ext cx="2651760" cy="960120"/>
          </a:xfrm>
          <a:prstGeom prst="roundRect">
            <a:avLst>
              <a:gd name="adj" fmla="val 5714"/>
            </a:avLst>
          </a:prstGeom>
          <a:solidFill>
            <a:srgbClr val="F4F8FB"/>
          </a:solidFill>
          <a:ln w="9525">
            <a:solidFill>
              <a:srgbClr val="DCE6EF"/>
            </a:solidFill>
            <a:prstDash val="solid"/>
          </a:ln>
        </p:spPr>
      </p:sp>
      <p:sp>
        <p:nvSpPr>
          <p:cNvPr id="5" name="Shape 3"/>
          <p:cNvSpPr/>
          <p:nvPr/>
        </p:nvSpPr>
        <p:spPr>
          <a:xfrm>
            <a:off x="548640" y="1417320"/>
            <a:ext cx="54864" cy="960120"/>
          </a:xfrm>
          <a:prstGeom prst="rect">
            <a:avLst/>
          </a:prstGeom>
          <a:solidFill>
            <a:srgbClr val="1C7293"/>
          </a:solidFill>
          <a:ln/>
        </p:spPr>
      </p:sp>
      <p:sp>
        <p:nvSpPr>
          <p:cNvPr id="6" name="Text 4"/>
          <p:cNvSpPr txBox="1"/>
          <p:nvPr/>
        </p:nvSpPr>
        <p:spPr>
          <a:xfrm>
            <a:off x="713232" y="1508760"/>
            <a:ext cx="237744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7.043</a:t>
            </a:r>
            <a:endParaRPr lang="en-US" sz="2400" dirty="0"/>
          </a:p>
        </p:txBody>
      </p:sp>
      <p:sp>
        <p:nvSpPr>
          <p:cNvPr id="7" name="Text 5"/>
          <p:cNvSpPr txBox="1"/>
          <p:nvPr/>
        </p:nvSpPr>
        <p:spPr>
          <a:xfrm>
            <a:off x="713232" y="2011680"/>
            <a:ext cx="2377440" cy="320040"/>
          </a:xfrm>
          <a:prstGeom prst="rect">
            <a:avLst/>
          </a:prstGeom>
          <a:noFill/>
          <a:ln/>
        </p:spPr>
        <p:txBody>
          <a:bodyPr wrap="square" lIns="0" tIns="0" rIns="0" bIns="0" rtlCol="0" anchor="ctr"/>
          <a:lstStyle/>
          <a:p>
            <a:pPr marL="0" indent="0">
              <a:buNone/>
            </a:pPr>
            <a:r>
              <a:rPr lang="en-US" sz="850" kern="0" spc="50" dirty="0">
                <a:solidFill>
                  <a:srgbClr val="5C6B80"/>
                </a:solidFill>
                <a:latin typeface="Calibri" pitchFamily="34" charset="0"/>
                <a:ea typeface="Calibri" pitchFamily="34" charset="-122"/>
                <a:cs typeface="Calibri" pitchFamily="34" charset="-120"/>
              </a:rPr>
              <a:t>TOTAL PELANGGAN</a:t>
            </a:r>
            <a:endParaRPr lang="en-US" sz="850" dirty="0"/>
          </a:p>
        </p:txBody>
      </p:sp>
      <p:sp>
        <p:nvSpPr>
          <p:cNvPr id="8" name="Shape 6"/>
          <p:cNvSpPr/>
          <p:nvPr/>
        </p:nvSpPr>
        <p:spPr>
          <a:xfrm>
            <a:off x="3337560" y="1417320"/>
            <a:ext cx="2651760" cy="960120"/>
          </a:xfrm>
          <a:prstGeom prst="roundRect">
            <a:avLst>
              <a:gd name="adj" fmla="val 5714"/>
            </a:avLst>
          </a:prstGeom>
          <a:solidFill>
            <a:srgbClr val="F4F8FB"/>
          </a:solidFill>
          <a:ln w="9525">
            <a:solidFill>
              <a:srgbClr val="DCE6EF"/>
            </a:solidFill>
            <a:prstDash val="solid"/>
          </a:ln>
        </p:spPr>
      </p:sp>
      <p:sp>
        <p:nvSpPr>
          <p:cNvPr id="9" name="Shape 7"/>
          <p:cNvSpPr/>
          <p:nvPr/>
        </p:nvSpPr>
        <p:spPr>
          <a:xfrm>
            <a:off x="3337560" y="1417320"/>
            <a:ext cx="54864" cy="960120"/>
          </a:xfrm>
          <a:prstGeom prst="rect">
            <a:avLst/>
          </a:prstGeom>
          <a:solidFill>
            <a:srgbClr val="C0392B"/>
          </a:solidFill>
          <a:ln/>
        </p:spPr>
      </p:sp>
      <p:sp>
        <p:nvSpPr>
          <p:cNvPr id="10" name="Text 8"/>
          <p:cNvSpPr txBox="1"/>
          <p:nvPr/>
        </p:nvSpPr>
        <p:spPr>
          <a:xfrm>
            <a:off x="3502152" y="1508760"/>
            <a:ext cx="237744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26,54%</a:t>
            </a:r>
            <a:endParaRPr lang="en-US" sz="2400" dirty="0"/>
          </a:p>
        </p:txBody>
      </p:sp>
      <p:sp>
        <p:nvSpPr>
          <p:cNvPr id="11" name="Text 9"/>
          <p:cNvSpPr txBox="1"/>
          <p:nvPr/>
        </p:nvSpPr>
        <p:spPr>
          <a:xfrm>
            <a:off x="3502152" y="2011680"/>
            <a:ext cx="2377440" cy="320040"/>
          </a:xfrm>
          <a:prstGeom prst="rect">
            <a:avLst/>
          </a:prstGeom>
          <a:noFill/>
          <a:ln/>
        </p:spPr>
        <p:txBody>
          <a:bodyPr wrap="square" lIns="0" tIns="0" rIns="0" bIns="0" rtlCol="0" anchor="ctr"/>
          <a:lstStyle/>
          <a:p>
            <a:pPr marL="0" indent="0">
              <a:buNone/>
            </a:pPr>
            <a:r>
              <a:rPr lang="en-US" sz="850" kern="0" spc="50" dirty="0">
                <a:solidFill>
                  <a:srgbClr val="5C6B80"/>
                </a:solidFill>
                <a:latin typeface="Calibri" pitchFamily="34" charset="0"/>
                <a:ea typeface="Calibri" pitchFamily="34" charset="-122"/>
                <a:cs typeface="Calibri" pitchFamily="34" charset="-120"/>
              </a:rPr>
              <a:t>CHURN RATE</a:t>
            </a:r>
            <a:endParaRPr lang="en-US" sz="850" dirty="0"/>
          </a:p>
        </p:txBody>
      </p:sp>
      <p:sp>
        <p:nvSpPr>
          <p:cNvPr id="12" name="Shape 10"/>
          <p:cNvSpPr/>
          <p:nvPr/>
        </p:nvSpPr>
        <p:spPr>
          <a:xfrm>
            <a:off x="6126480" y="1417320"/>
            <a:ext cx="2651760" cy="960120"/>
          </a:xfrm>
          <a:prstGeom prst="roundRect">
            <a:avLst>
              <a:gd name="adj" fmla="val 5714"/>
            </a:avLst>
          </a:prstGeom>
          <a:solidFill>
            <a:srgbClr val="F4F8FB"/>
          </a:solidFill>
          <a:ln w="9525">
            <a:solidFill>
              <a:srgbClr val="DCE6EF"/>
            </a:solidFill>
            <a:prstDash val="solid"/>
          </a:ln>
        </p:spPr>
      </p:sp>
      <p:sp>
        <p:nvSpPr>
          <p:cNvPr id="13" name="Shape 11"/>
          <p:cNvSpPr/>
          <p:nvPr/>
        </p:nvSpPr>
        <p:spPr>
          <a:xfrm>
            <a:off x="6126480" y="1417320"/>
            <a:ext cx="54864" cy="960120"/>
          </a:xfrm>
          <a:prstGeom prst="rect">
            <a:avLst/>
          </a:prstGeom>
          <a:solidFill>
            <a:srgbClr val="C0392B"/>
          </a:solidFill>
          <a:ln/>
        </p:spPr>
      </p:sp>
      <p:sp>
        <p:nvSpPr>
          <p:cNvPr id="14" name="Text 12"/>
          <p:cNvSpPr txBox="1"/>
          <p:nvPr/>
        </p:nvSpPr>
        <p:spPr>
          <a:xfrm>
            <a:off x="6291072" y="1508760"/>
            <a:ext cx="237744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1.869</a:t>
            </a:r>
            <a:endParaRPr lang="en-US" sz="2400" dirty="0"/>
          </a:p>
        </p:txBody>
      </p:sp>
      <p:sp>
        <p:nvSpPr>
          <p:cNvPr id="15" name="Text 13"/>
          <p:cNvSpPr txBox="1"/>
          <p:nvPr/>
        </p:nvSpPr>
        <p:spPr>
          <a:xfrm>
            <a:off x="6291072" y="2011680"/>
            <a:ext cx="2377440" cy="320040"/>
          </a:xfrm>
          <a:prstGeom prst="rect">
            <a:avLst/>
          </a:prstGeom>
          <a:noFill/>
          <a:ln/>
        </p:spPr>
        <p:txBody>
          <a:bodyPr wrap="square" lIns="0" tIns="0" rIns="0" bIns="0" rtlCol="0" anchor="ctr"/>
          <a:lstStyle/>
          <a:p>
            <a:pPr marL="0" indent="0">
              <a:buNone/>
            </a:pPr>
            <a:r>
              <a:rPr lang="en-US" sz="850" kern="0" spc="50" dirty="0">
                <a:solidFill>
                  <a:srgbClr val="5C6B80"/>
                </a:solidFill>
                <a:latin typeface="Calibri" pitchFamily="34" charset="0"/>
                <a:ea typeface="Calibri" pitchFamily="34" charset="-122"/>
                <a:cs typeface="Calibri" pitchFamily="34" charset="-120"/>
              </a:rPr>
              <a:t>PELANGGAN CHURN</a:t>
            </a:r>
            <a:endParaRPr lang="en-US" sz="850" dirty="0"/>
          </a:p>
        </p:txBody>
      </p:sp>
      <p:sp>
        <p:nvSpPr>
          <p:cNvPr id="16" name="Shape 14"/>
          <p:cNvSpPr/>
          <p:nvPr/>
        </p:nvSpPr>
        <p:spPr>
          <a:xfrm>
            <a:off x="8915400" y="1417320"/>
            <a:ext cx="2724912" cy="960120"/>
          </a:xfrm>
          <a:prstGeom prst="roundRect">
            <a:avLst>
              <a:gd name="adj" fmla="val 5714"/>
            </a:avLst>
          </a:prstGeom>
          <a:solidFill>
            <a:srgbClr val="F4F8FB"/>
          </a:solidFill>
          <a:ln w="9525">
            <a:solidFill>
              <a:srgbClr val="DCE6EF"/>
            </a:solidFill>
            <a:prstDash val="solid"/>
          </a:ln>
        </p:spPr>
      </p:sp>
      <p:sp>
        <p:nvSpPr>
          <p:cNvPr id="17" name="Shape 15"/>
          <p:cNvSpPr/>
          <p:nvPr/>
        </p:nvSpPr>
        <p:spPr>
          <a:xfrm>
            <a:off x="8915400" y="1417320"/>
            <a:ext cx="54864" cy="960120"/>
          </a:xfrm>
          <a:prstGeom prst="rect">
            <a:avLst/>
          </a:prstGeom>
          <a:solidFill>
            <a:srgbClr val="D9822B"/>
          </a:solidFill>
          <a:ln/>
        </p:spPr>
      </p:sp>
      <p:sp>
        <p:nvSpPr>
          <p:cNvPr id="18" name="Text 16"/>
          <p:cNvSpPr txBox="1"/>
          <p:nvPr/>
        </p:nvSpPr>
        <p:spPr>
          <a:xfrm>
            <a:off x="9079992" y="1508760"/>
            <a:ext cx="2450592"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$2,86 Jt</a:t>
            </a:r>
            <a:endParaRPr lang="en-US" sz="2400" dirty="0"/>
          </a:p>
        </p:txBody>
      </p:sp>
      <p:sp>
        <p:nvSpPr>
          <p:cNvPr id="19" name="Text 17"/>
          <p:cNvSpPr txBox="1"/>
          <p:nvPr/>
        </p:nvSpPr>
        <p:spPr>
          <a:xfrm>
            <a:off x="9079992" y="2011680"/>
            <a:ext cx="2450592" cy="320040"/>
          </a:xfrm>
          <a:prstGeom prst="rect">
            <a:avLst/>
          </a:prstGeom>
          <a:noFill/>
          <a:ln/>
        </p:spPr>
        <p:txBody>
          <a:bodyPr wrap="square" lIns="0" tIns="0" rIns="0" bIns="0" rtlCol="0" anchor="ctr"/>
          <a:lstStyle/>
          <a:p>
            <a:pPr marL="0" indent="0">
              <a:buNone/>
            </a:pPr>
            <a:r>
              <a:rPr lang="en-US" sz="850" kern="0" spc="50" dirty="0">
                <a:solidFill>
                  <a:srgbClr val="5C6B80"/>
                </a:solidFill>
                <a:latin typeface="Calibri" pitchFamily="34" charset="0"/>
                <a:ea typeface="Calibri" pitchFamily="34" charset="-122"/>
                <a:cs typeface="Calibri" pitchFamily="34" charset="-120"/>
              </a:rPr>
              <a:t>HISTORICAL REVENUE DARI CHURN</a:t>
            </a:r>
            <a:endParaRPr lang="en-US" sz="850" dirty="0"/>
          </a:p>
        </p:txBody>
      </p:sp>
      <p:sp>
        <p:nvSpPr>
          <p:cNvPr id="20" name="Shape 18"/>
          <p:cNvSpPr/>
          <p:nvPr/>
        </p:nvSpPr>
        <p:spPr>
          <a:xfrm>
            <a:off x="548640" y="2606040"/>
            <a:ext cx="11091672" cy="3566160"/>
          </a:xfrm>
          <a:prstGeom prst="roundRect">
            <a:avLst>
              <a:gd name="adj" fmla="val 1795"/>
            </a:avLst>
          </a:prstGeom>
          <a:solidFill>
            <a:srgbClr val="F4F8FB"/>
          </a:solidFill>
          <a:ln w="9525">
            <a:solidFill>
              <a:srgbClr val="DCE6EF"/>
            </a:solidFill>
            <a:prstDash val="solid"/>
          </a:ln>
        </p:spPr>
      </p:sp>
      <p:sp>
        <p:nvSpPr>
          <p:cNvPr id="21" name="Text 19"/>
          <p:cNvSpPr txBox="1"/>
          <p:nvPr/>
        </p:nvSpPr>
        <p:spPr>
          <a:xfrm>
            <a:off x="868680" y="2880360"/>
            <a:ext cx="10515600" cy="1188720"/>
          </a:xfrm>
          <a:prstGeom prst="rect">
            <a:avLst/>
          </a:prstGeom>
          <a:noFill/>
          <a:ln/>
        </p:spPr>
        <p:txBody>
          <a:bodyPr wrap="square" lIns="0" tIns="0" rIns="0" bIns="0" rtlCol="0" anchor="t"/>
          <a:lstStyle/>
          <a:p>
            <a:pPr marL="0" indent="0">
              <a:lnSpc>
                <a:spcPct val="130000"/>
              </a:lnSpc>
              <a:buNone/>
            </a:pPr>
            <a:r>
              <a:rPr lang="en-US" sz="1300" dirty="0">
                <a:solidFill>
                  <a:srgbClr val="1B2430"/>
                </a:solidFill>
                <a:latin typeface="Calibri" pitchFamily="34" charset="0"/>
                <a:ea typeface="Calibri" pitchFamily="34" charset="-122"/>
                <a:cs typeface="Calibri" pitchFamily="34" charset="-120"/>
              </a:rPr>
              <a:t>Perusahaan telekomunikasi ini kehilangan </a:t>
            </a:r>
            <a:r>
              <a:rPr lang="en-US" sz="1300" b="1" dirty="0">
                <a:solidFill>
                  <a:srgbClr val="C0392B"/>
                </a:solidFill>
                <a:latin typeface="Calibri" pitchFamily="34" charset="0"/>
                <a:ea typeface="Calibri" pitchFamily="34" charset="-122"/>
                <a:cs typeface="Calibri" pitchFamily="34" charset="-120"/>
              </a:rPr>
              <a:t>26,54% </a:t>
            </a:r>
            <a:r>
              <a:rPr lang="en-US" sz="1300" dirty="0">
                <a:solidFill>
                  <a:srgbClr val="1B2430"/>
                </a:solidFill>
                <a:latin typeface="Calibri" pitchFamily="34" charset="0"/>
                <a:ea typeface="Calibri" pitchFamily="34" charset="-122"/>
                <a:cs typeface="Calibri" pitchFamily="34" charset="-120"/>
              </a:rPr>
              <a:t>basis pelanggannya — jauh di atas ambang sehat industri telco (15–20%). Risiko churn </a:t>
            </a:r>
            <a:r>
              <a:rPr lang="en-US" sz="1300" b="1" dirty="0">
                <a:solidFill>
                  <a:srgbClr val="1B2430"/>
                </a:solidFill>
                <a:latin typeface="Calibri" pitchFamily="34" charset="0"/>
                <a:ea typeface="Calibri" pitchFamily="34" charset="-122"/>
                <a:cs typeface="Calibri" pitchFamily="34" charset="-120"/>
              </a:rPr>
              <a:t>tidak tersebar merata</a:t>
            </a:r>
            <a:r>
              <a:rPr lang="en-US" sz="1300" dirty="0">
                <a:solidFill>
                  <a:srgbClr val="1B2430"/>
                </a:solidFill>
                <a:latin typeface="Calibri" pitchFamily="34" charset="0"/>
                <a:ea typeface="Calibri" pitchFamily="34" charset="-122"/>
                <a:cs typeface="Calibri" pitchFamily="34" charset="-120"/>
              </a:rPr>
              <a:t>: terkonsentrasi pada pelanggan baru (tenure 0–12 bulan), kontrak </a:t>
            </a:r>
            <a:r>
              <a:rPr lang="en-US" sz="1300" i="1" dirty="0">
                <a:solidFill>
                  <a:srgbClr val="1B2430"/>
                </a:solidFill>
                <a:latin typeface="Calibri" pitchFamily="34" charset="0"/>
                <a:ea typeface="Calibri" pitchFamily="34" charset="-122"/>
                <a:cs typeface="Calibri" pitchFamily="34" charset="-120"/>
              </a:rPr>
              <a:t>Month-to-month</a:t>
            </a:r>
            <a:r>
              <a:rPr lang="en-US" sz="1300" dirty="0">
                <a:solidFill>
                  <a:srgbClr val="1B2430"/>
                </a:solidFill>
                <a:latin typeface="Calibri" pitchFamily="34" charset="0"/>
                <a:ea typeface="Calibri" pitchFamily="34" charset="-122"/>
                <a:cs typeface="Calibri" pitchFamily="34" charset="-120"/>
              </a:rPr>
              <a:t>, layanan </a:t>
            </a:r>
            <a:r>
              <a:rPr lang="en-US" sz="1300" i="1" dirty="0">
                <a:solidFill>
                  <a:srgbClr val="1B2430"/>
                </a:solidFill>
                <a:latin typeface="Calibri" pitchFamily="34" charset="0"/>
                <a:ea typeface="Calibri" pitchFamily="34" charset="-122"/>
                <a:cs typeface="Calibri" pitchFamily="34" charset="-120"/>
              </a:rPr>
              <a:t>Fiber optic</a:t>
            </a:r>
            <a:r>
              <a:rPr lang="en-US" sz="1300" dirty="0">
                <a:solidFill>
                  <a:srgbClr val="1B2430"/>
                </a:solidFill>
                <a:latin typeface="Calibri" pitchFamily="34" charset="0"/>
                <a:ea typeface="Calibri" pitchFamily="34" charset="-122"/>
                <a:cs typeface="Calibri" pitchFamily="34" charset="-120"/>
              </a:rPr>
              <a:t>, dan metode bayar manual (Electronic check).</a:t>
            </a:r>
            <a:endParaRPr lang="en-US" sz="1300" dirty="0"/>
          </a:p>
        </p:txBody>
      </p:sp>
      <p:sp>
        <p:nvSpPr>
          <p:cNvPr id="22" name="Text 20"/>
          <p:cNvSpPr txBox="1"/>
          <p:nvPr/>
        </p:nvSpPr>
        <p:spPr>
          <a:xfrm>
            <a:off x="868680" y="4114800"/>
            <a:ext cx="10515600" cy="960120"/>
          </a:xfrm>
          <a:prstGeom prst="rect">
            <a:avLst/>
          </a:prstGeom>
          <a:noFill/>
          <a:ln/>
        </p:spPr>
        <p:txBody>
          <a:bodyPr wrap="square" lIns="0" tIns="0" rIns="0" bIns="0" rtlCol="0" anchor="t"/>
          <a:lstStyle/>
          <a:p>
            <a:pPr marL="0" indent="0">
              <a:lnSpc>
                <a:spcPct val="130000"/>
              </a:lnSpc>
              <a:buNone/>
            </a:pPr>
            <a:r>
              <a:rPr lang="en-US" sz="1300" dirty="0">
                <a:solidFill>
                  <a:srgbClr val="1B2430"/>
                </a:solidFill>
                <a:latin typeface="Calibri" pitchFamily="34" charset="0"/>
                <a:ea typeface="Calibri" pitchFamily="34" charset="-122"/>
                <a:cs typeface="Calibri" pitchFamily="34" charset="-120"/>
              </a:rPr>
              <a:t>Seluruh pola divalidasi lewat </a:t>
            </a:r>
            <a:r>
              <a:rPr lang="en-US" sz="1300" b="1" dirty="0">
                <a:solidFill>
                  <a:srgbClr val="1B2430"/>
                </a:solidFill>
                <a:latin typeface="Calibri" pitchFamily="34" charset="0"/>
                <a:ea typeface="Calibri" pitchFamily="34" charset="-122"/>
                <a:cs typeface="Calibri" pitchFamily="34" charset="-120"/>
              </a:rPr>
              <a:t>uji Chi-square (p &lt; 0.001)</a:t>
            </a:r>
            <a:r>
              <a:rPr lang="en-US" sz="1300" dirty="0">
                <a:solidFill>
                  <a:srgbClr val="1B2430"/>
                </a:solidFill>
                <a:latin typeface="Calibri" pitchFamily="34" charset="0"/>
                <a:ea typeface="Calibri" pitchFamily="34" charset="-122"/>
                <a:cs typeface="Calibri" pitchFamily="34" charset="-120"/>
              </a:rPr>
              <a:t> dan dikonfirmasi model </a:t>
            </a:r>
            <a:r>
              <a:rPr lang="en-US" sz="1300" b="1" dirty="0">
                <a:solidFill>
                  <a:srgbClr val="1B2430"/>
                </a:solidFill>
                <a:latin typeface="Calibri" pitchFamily="34" charset="0"/>
                <a:ea typeface="Calibri" pitchFamily="34" charset="-122"/>
                <a:cs typeface="Calibri" pitchFamily="34" charset="-120"/>
              </a:rPr>
              <a:t>XGBoost</a:t>
            </a:r>
            <a:r>
              <a:rPr lang="en-US" sz="1300" dirty="0">
                <a:solidFill>
                  <a:srgbClr val="1B2430"/>
                </a:solidFill>
                <a:latin typeface="Calibri" pitchFamily="34" charset="0"/>
                <a:ea typeface="Calibri" pitchFamily="34" charset="-122"/>
                <a:cs typeface="Calibri" pitchFamily="34" charset="-120"/>
              </a:rPr>
              <a:t>, yang menempatkan Contract, tenure, dan InternetService sebagai fitur paling berpengaruh — selaras penuh dengan EDA. Model menangkap </a:t>
            </a:r>
            <a:r>
              <a:rPr lang="en-US" sz="1300" b="1" dirty="0">
                <a:solidFill>
                  <a:srgbClr val="1C7293"/>
                </a:solidFill>
                <a:latin typeface="Calibri" pitchFamily="34" charset="0"/>
                <a:ea typeface="Calibri" pitchFamily="34" charset="-122"/>
                <a:cs typeface="Calibri" pitchFamily="34" charset="-120"/>
              </a:rPr>
              <a:t>79% pelanggan yang benar-benar akan churn</a:t>
            </a:r>
            <a:r>
              <a:rPr lang="en-US" sz="1300" dirty="0">
                <a:solidFill>
                  <a:srgbClr val="1B2430"/>
                </a:solidFill>
                <a:latin typeface="Calibri" pitchFamily="34" charset="0"/>
                <a:ea typeface="Calibri" pitchFamily="34" charset="-122"/>
                <a:cs typeface="Calibri" pitchFamily="34" charset="-120"/>
              </a:rPr>
              <a:t> (recall).</a:t>
            </a:r>
            <a:endParaRPr lang="en-US" sz="1300" dirty="0"/>
          </a:p>
        </p:txBody>
      </p:sp>
      <p:sp>
        <p:nvSpPr>
          <p:cNvPr id="23" name="Text 21"/>
          <p:cNvSpPr txBox="1"/>
          <p:nvPr/>
        </p:nvSpPr>
        <p:spPr>
          <a:xfrm>
            <a:off x="868680" y="5074920"/>
            <a:ext cx="10515600" cy="914400"/>
          </a:xfrm>
          <a:prstGeom prst="rect">
            <a:avLst/>
          </a:prstGeom>
          <a:noFill/>
          <a:ln/>
        </p:spPr>
        <p:txBody>
          <a:bodyPr wrap="square" lIns="0" tIns="0" rIns="0" bIns="0" rtlCol="0" anchor="t"/>
          <a:lstStyle/>
          <a:p>
            <a:pPr marL="0" indent="0">
              <a:lnSpc>
                <a:spcPct val="130000"/>
              </a:lnSpc>
              <a:buNone/>
            </a:pPr>
            <a:r>
              <a:rPr lang="en-US" sz="1300" b="1" dirty="0">
                <a:solidFill>
                  <a:srgbClr val="1B2430"/>
                </a:solidFill>
                <a:latin typeface="Calibri" pitchFamily="34" charset="0"/>
                <a:ea typeface="Calibri" pitchFamily="34" charset="-122"/>
                <a:cs typeface="Calibri" pitchFamily="34" charset="-120"/>
              </a:rPr>
              <a:t>Rekomendasi utama: </a:t>
            </a:r>
            <a:r>
              <a:rPr lang="en-US" sz="1300" dirty="0">
                <a:solidFill>
                  <a:srgbClr val="1B2430"/>
                </a:solidFill>
                <a:latin typeface="Calibri" pitchFamily="34" charset="0"/>
                <a:ea typeface="Calibri" pitchFamily="34" charset="-122"/>
                <a:cs typeface="Calibri" pitchFamily="34" charset="-120"/>
              </a:rPr>
              <a:t>insentif migrasi ke kontrak tahunan, program onboarding 12 bulan pertama, dan dorongan pembayaran otomatis — dengan potensi penyelamatan pendapatan berulang yang signifikan setiap bulan (detail di Bagian Impact).</a:t>
            </a:r>
            <a:endParaRPr lang="en-US" sz="1300" dirty="0"/>
          </a:p>
        </p:txBody>
      </p:sp>
      <p:sp>
        <p:nvSpPr>
          <p:cNvPr id="24" name="Text 22"/>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Executive Summary</a:t>
            </a:r>
            <a:endParaRPr lang="en-US" sz="850" dirty="0"/>
          </a:p>
        </p:txBody>
      </p:sp>
      <p:sp>
        <p:nvSpPr>
          <p:cNvPr id="25" name="Text 23"/>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2 / 16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01</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Background &amp; Business Problem</a:t>
            </a:r>
            <a:endParaRPr lang="en-US" sz="2700" dirty="0"/>
          </a:p>
        </p:txBody>
      </p:sp>
      <p:sp>
        <p:nvSpPr>
          <p:cNvPr id="4" name="Text 2"/>
          <p:cNvSpPr txBox="1"/>
          <p:nvPr/>
        </p:nvSpPr>
        <p:spPr>
          <a:xfrm>
            <a:off x="548640" y="1417320"/>
            <a:ext cx="6675120" cy="320040"/>
          </a:xfrm>
          <a:prstGeom prst="rect">
            <a:avLst/>
          </a:prstGeom>
          <a:noFill/>
          <a:ln/>
        </p:spPr>
        <p:txBody>
          <a:bodyPr wrap="square" lIns="0" tIns="0" rIns="0" bIns="0" rtlCol="0" anchor="ctr"/>
          <a:lstStyle/>
          <a:p>
            <a:pPr marL="0" indent="0">
              <a:buNone/>
            </a:pPr>
            <a:r>
              <a:rPr lang="en-US" sz="1500" b="1" dirty="0">
                <a:solidFill>
                  <a:srgbClr val="065A82"/>
                </a:solidFill>
                <a:latin typeface="Cambria" pitchFamily="34" charset="0"/>
                <a:ea typeface="Cambria" pitchFamily="34" charset="-122"/>
                <a:cs typeface="Cambria" pitchFamily="34" charset="-120"/>
              </a:rPr>
              <a:t>Konteks Industri</a:t>
            </a:r>
            <a:endParaRPr lang="en-US" sz="1500" dirty="0"/>
          </a:p>
        </p:txBody>
      </p:sp>
      <p:sp>
        <p:nvSpPr>
          <p:cNvPr id="5" name="Text 3"/>
          <p:cNvSpPr txBox="1"/>
          <p:nvPr/>
        </p:nvSpPr>
        <p:spPr>
          <a:xfrm>
            <a:off x="548640" y="1783080"/>
            <a:ext cx="6675120" cy="1371600"/>
          </a:xfrm>
          <a:prstGeom prst="rect">
            <a:avLst/>
          </a:prstGeom>
          <a:noFill/>
          <a:ln/>
        </p:spPr>
        <p:txBody>
          <a:bodyPr wrap="square" lIns="0" tIns="0" rIns="0" bIns="0" rtlCol="0" anchor="t"/>
          <a:lstStyle/>
          <a:p>
            <a:pPr marL="0" indent="0">
              <a:lnSpc>
                <a:spcPct val="130000"/>
              </a:lnSpc>
              <a:buNone/>
            </a:pPr>
            <a:r>
              <a:rPr lang="en-US" sz="1250" dirty="0">
                <a:solidFill>
                  <a:srgbClr val="1B2430"/>
                </a:solidFill>
                <a:latin typeface="Calibri" pitchFamily="34" charset="0"/>
                <a:ea typeface="Calibri" pitchFamily="34" charset="-122"/>
                <a:cs typeface="Calibri" pitchFamily="34" charset="-120"/>
              </a:rPr>
              <a:t>Bisnis telekomunikasi berjalan dengan model subscription — pendapatan datang berulang selama pelanggan tetap aktif. Biaya akuisisi pelanggan baru bisa 5–7× lebih mahal dibanding mempertahankan pelanggan lama, membuat retensi menjadi pengungkit profitabilitas paling besar.</a:t>
            </a:r>
            <a:endParaRPr lang="en-US" sz="1250" dirty="0"/>
          </a:p>
        </p:txBody>
      </p:sp>
      <p:sp>
        <p:nvSpPr>
          <p:cNvPr id="6" name="Text 4"/>
          <p:cNvSpPr txBox="1"/>
          <p:nvPr/>
        </p:nvSpPr>
        <p:spPr>
          <a:xfrm>
            <a:off x="548640" y="3246120"/>
            <a:ext cx="6675120" cy="320040"/>
          </a:xfrm>
          <a:prstGeom prst="rect">
            <a:avLst/>
          </a:prstGeom>
          <a:noFill/>
          <a:ln/>
        </p:spPr>
        <p:txBody>
          <a:bodyPr wrap="square" lIns="0" tIns="0" rIns="0" bIns="0" rtlCol="0" anchor="ctr"/>
          <a:lstStyle/>
          <a:p>
            <a:pPr marL="0" indent="0">
              <a:buNone/>
            </a:pPr>
            <a:r>
              <a:rPr lang="en-US" sz="1500" b="1" dirty="0">
                <a:solidFill>
                  <a:srgbClr val="065A82"/>
                </a:solidFill>
                <a:latin typeface="Cambria" pitchFamily="34" charset="0"/>
                <a:ea typeface="Cambria" pitchFamily="34" charset="-122"/>
                <a:cs typeface="Cambria" pitchFamily="34" charset="-120"/>
              </a:rPr>
              <a:t>Problem Statement</a:t>
            </a:r>
            <a:endParaRPr lang="en-US" sz="1500" dirty="0"/>
          </a:p>
        </p:txBody>
      </p:sp>
      <p:sp>
        <p:nvSpPr>
          <p:cNvPr id="7" name="Text 5"/>
          <p:cNvSpPr txBox="1"/>
          <p:nvPr/>
        </p:nvSpPr>
        <p:spPr>
          <a:xfrm>
            <a:off x="548640" y="3611880"/>
            <a:ext cx="6675120" cy="173736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Segmen pelanggan mana yang paling rentan churn?</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Faktor layanan/kontrak apa yang paling berkontribusi?</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Berapa besar potensi kerugian pendapatannya?</a:t>
            </a:r>
            <a:endParaRPr lang="en-US" sz="1250" dirty="0"/>
          </a:p>
          <a:p>
            <a:pPr marL="342900" indent="-342900">
              <a:spcAft>
                <a:spcPts val="800"/>
              </a:spcAft>
              <a:buSzPct val="100000"/>
              <a:buChar char="•"/>
            </a:pPr>
            <a:r>
              <a:rPr lang="en-US" sz="1250" dirty="0">
                <a:solidFill>
                  <a:srgbClr val="1B2430"/>
                </a:solidFill>
                <a:latin typeface="Calibri" pitchFamily="34" charset="0"/>
                <a:ea typeface="Calibri" pitchFamily="34" charset="-122"/>
                <a:cs typeface="Calibri" pitchFamily="34" charset="-120"/>
              </a:rPr>
              <a:t>Langkah retensi mana yang paling efisien diprioritaskan?</a:t>
            </a:r>
            <a:endParaRPr lang="en-US" sz="1250" dirty="0"/>
          </a:p>
        </p:txBody>
      </p:sp>
      <p:sp>
        <p:nvSpPr>
          <p:cNvPr id="8" name="Text 6"/>
          <p:cNvSpPr txBox="1"/>
          <p:nvPr/>
        </p:nvSpPr>
        <p:spPr>
          <a:xfrm>
            <a:off x="7543800" y="1417320"/>
            <a:ext cx="4069080" cy="274320"/>
          </a:xfrm>
          <a:prstGeom prst="rect">
            <a:avLst/>
          </a:prstGeom>
          <a:noFill/>
          <a:ln/>
        </p:spPr>
        <p:txBody>
          <a:bodyPr wrap="square" lIns="0" tIns="0" rIns="0" bIns="0" rtlCol="0" anchor="ctr"/>
          <a:lstStyle/>
          <a:p>
            <a:pPr marL="0" indent="0">
              <a:buNone/>
            </a:pPr>
            <a:r>
              <a:rPr lang="en-US" sz="1050" b="1" kern="0" spc="100" dirty="0">
                <a:solidFill>
                  <a:srgbClr val="1C7293"/>
                </a:solidFill>
                <a:latin typeface="Calibri" pitchFamily="34" charset="0"/>
                <a:ea typeface="Calibri" pitchFamily="34" charset="-122"/>
                <a:cs typeface="Calibri" pitchFamily="34" charset="-120"/>
              </a:rPr>
              <a:t>STAKEHOLDER</a:t>
            </a:r>
            <a:endParaRPr lang="en-US" sz="1050" dirty="0"/>
          </a:p>
        </p:txBody>
      </p:sp>
      <p:sp>
        <p:nvSpPr>
          <p:cNvPr id="9" name="Shape 7"/>
          <p:cNvSpPr/>
          <p:nvPr/>
        </p:nvSpPr>
        <p:spPr>
          <a:xfrm>
            <a:off x="7543800" y="1737360"/>
            <a:ext cx="4069080" cy="868680"/>
          </a:xfrm>
          <a:prstGeom prst="roundRect">
            <a:avLst>
              <a:gd name="adj" fmla="val 6316"/>
            </a:avLst>
          </a:prstGeom>
          <a:solidFill>
            <a:srgbClr val="F4F8FB"/>
          </a:solidFill>
          <a:ln w="9525">
            <a:solidFill>
              <a:srgbClr val="DCE6EF"/>
            </a:solidFill>
            <a:prstDash val="solid"/>
          </a:ln>
        </p:spPr>
      </p:sp>
      <p:sp>
        <p:nvSpPr>
          <p:cNvPr id="10" name="Text 8"/>
          <p:cNvSpPr txBox="1"/>
          <p:nvPr/>
        </p:nvSpPr>
        <p:spPr>
          <a:xfrm>
            <a:off x="7772400" y="1828800"/>
            <a:ext cx="3657600" cy="292608"/>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Retention / CRM</a:t>
            </a:r>
            <a:endParaRPr lang="en-US" sz="1200" dirty="0"/>
          </a:p>
        </p:txBody>
      </p:sp>
      <p:sp>
        <p:nvSpPr>
          <p:cNvPr id="11" name="Text 9"/>
          <p:cNvSpPr txBox="1"/>
          <p:nvPr/>
        </p:nvSpPr>
        <p:spPr>
          <a:xfrm>
            <a:off x="7772400" y="2139696"/>
            <a:ext cx="3657600" cy="384048"/>
          </a:xfrm>
          <a:prstGeom prst="rect">
            <a:avLst/>
          </a:prstGeom>
          <a:noFill/>
          <a:ln/>
        </p:spPr>
        <p:txBody>
          <a:bodyPr wrap="square" lIns="0" tIns="0" rIns="0" bIns="0" rtlCol="0" anchor="ctr"/>
          <a:lstStyle/>
          <a:p>
            <a:pPr marL="0" indent="0">
              <a:buNone/>
            </a:pPr>
            <a:r>
              <a:rPr lang="en-US" sz="1000" dirty="0">
                <a:solidFill>
                  <a:srgbClr val="5C6B80"/>
                </a:solidFill>
                <a:latin typeface="Calibri" pitchFamily="34" charset="0"/>
                <a:ea typeface="Calibri" pitchFamily="34" charset="-122"/>
                <a:cs typeface="Calibri" pitchFamily="34" charset="-120"/>
              </a:rPr>
              <a:t>Segmen prioritas &amp; onboarding</a:t>
            </a:r>
            <a:endParaRPr lang="en-US" sz="1000" dirty="0"/>
          </a:p>
        </p:txBody>
      </p:sp>
      <p:sp>
        <p:nvSpPr>
          <p:cNvPr id="12" name="Shape 10"/>
          <p:cNvSpPr/>
          <p:nvPr/>
        </p:nvSpPr>
        <p:spPr>
          <a:xfrm>
            <a:off x="7543800" y="2761488"/>
            <a:ext cx="4069080" cy="868680"/>
          </a:xfrm>
          <a:prstGeom prst="roundRect">
            <a:avLst>
              <a:gd name="adj" fmla="val 6316"/>
            </a:avLst>
          </a:prstGeom>
          <a:solidFill>
            <a:srgbClr val="F4F8FB"/>
          </a:solidFill>
          <a:ln w="9525">
            <a:solidFill>
              <a:srgbClr val="DCE6EF"/>
            </a:solidFill>
            <a:prstDash val="solid"/>
          </a:ln>
        </p:spPr>
      </p:sp>
      <p:sp>
        <p:nvSpPr>
          <p:cNvPr id="13" name="Text 11"/>
          <p:cNvSpPr txBox="1"/>
          <p:nvPr/>
        </p:nvSpPr>
        <p:spPr>
          <a:xfrm>
            <a:off x="7772400" y="2852928"/>
            <a:ext cx="3657600" cy="292608"/>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Marketing</a:t>
            </a:r>
            <a:endParaRPr lang="en-US" sz="1200" dirty="0"/>
          </a:p>
        </p:txBody>
      </p:sp>
      <p:sp>
        <p:nvSpPr>
          <p:cNvPr id="14" name="Text 12"/>
          <p:cNvSpPr txBox="1"/>
          <p:nvPr/>
        </p:nvSpPr>
        <p:spPr>
          <a:xfrm>
            <a:off x="7772400" y="3163824"/>
            <a:ext cx="3657600" cy="384048"/>
          </a:xfrm>
          <a:prstGeom prst="rect">
            <a:avLst/>
          </a:prstGeom>
          <a:noFill/>
          <a:ln/>
        </p:spPr>
        <p:txBody>
          <a:bodyPr wrap="square" lIns="0" tIns="0" rIns="0" bIns="0" rtlCol="0" anchor="ctr"/>
          <a:lstStyle/>
          <a:p>
            <a:pPr marL="0" indent="0">
              <a:buNone/>
            </a:pPr>
            <a:r>
              <a:rPr lang="en-US" sz="1000" dirty="0">
                <a:solidFill>
                  <a:srgbClr val="5C6B80"/>
                </a:solidFill>
                <a:latin typeface="Calibri" pitchFamily="34" charset="0"/>
                <a:ea typeface="Calibri" pitchFamily="34" charset="-122"/>
                <a:cs typeface="Calibri" pitchFamily="34" charset="-120"/>
              </a:rPr>
              <a:t>Insentif kontrak &amp; bundling</a:t>
            </a:r>
            <a:endParaRPr lang="en-US" sz="1000" dirty="0"/>
          </a:p>
        </p:txBody>
      </p:sp>
      <p:sp>
        <p:nvSpPr>
          <p:cNvPr id="15" name="Shape 13"/>
          <p:cNvSpPr/>
          <p:nvPr/>
        </p:nvSpPr>
        <p:spPr>
          <a:xfrm>
            <a:off x="7543800" y="3785616"/>
            <a:ext cx="4069080" cy="868680"/>
          </a:xfrm>
          <a:prstGeom prst="roundRect">
            <a:avLst>
              <a:gd name="adj" fmla="val 6316"/>
            </a:avLst>
          </a:prstGeom>
          <a:solidFill>
            <a:srgbClr val="F4F8FB"/>
          </a:solidFill>
          <a:ln w="9525">
            <a:solidFill>
              <a:srgbClr val="DCE6EF"/>
            </a:solidFill>
            <a:prstDash val="solid"/>
          </a:ln>
        </p:spPr>
      </p:sp>
      <p:sp>
        <p:nvSpPr>
          <p:cNvPr id="16" name="Text 14"/>
          <p:cNvSpPr txBox="1"/>
          <p:nvPr/>
        </p:nvSpPr>
        <p:spPr>
          <a:xfrm>
            <a:off x="7772400" y="3877056"/>
            <a:ext cx="3657600" cy="292608"/>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Product</a:t>
            </a:r>
            <a:endParaRPr lang="en-US" sz="1200" dirty="0"/>
          </a:p>
        </p:txBody>
      </p:sp>
      <p:sp>
        <p:nvSpPr>
          <p:cNvPr id="17" name="Text 15"/>
          <p:cNvSpPr txBox="1"/>
          <p:nvPr/>
        </p:nvSpPr>
        <p:spPr>
          <a:xfrm>
            <a:off x="7772400" y="4187952"/>
            <a:ext cx="3657600" cy="384048"/>
          </a:xfrm>
          <a:prstGeom prst="rect">
            <a:avLst/>
          </a:prstGeom>
          <a:noFill/>
          <a:ln/>
        </p:spPr>
        <p:txBody>
          <a:bodyPr wrap="square" lIns="0" tIns="0" rIns="0" bIns="0" rtlCol="0" anchor="ctr"/>
          <a:lstStyle/>
          <a:p>
            <a:pPr marL="0" indent="0">
              <a:buNone/>
            </a:pPr>
            <a:r>
              <a:rPr lang="en-US" sz="1000" dirty="0">
                <a:solidFill>
                  <a:srgbClr val="5C6B80"/>
                </a:solidFill>
                <a:latin typeface="Calibri" pitchFamily="34" charset="0"/>
                <a:ea typeface="Calibri" pitchFamily="34" charset="-122"/>
                <a:cs typeface="Calibri" pitchFamily="34" charset="-120"/>
              </a:rPr>
              <a:t>Evaluasi kualitas Fiber optic</a:t>
            </a:r>
            <a:endParaRPr lang="en-US" sz="1000" dirty="0"/>
          </a:p>
        </p:txBody>
      </p:sp>
      <p:sp>
        <p:nvSpPr>
          <p:cNvPr id="18" name="Shape 16"/>
          <p:cNvSpPr/>
          <p:nvPr/>
        </p:nvSpPr>
        <p:spPr>
          <a:xfrm>
            <a:off x="7543800" y="4809744"/>
            <a:ext cx="4069080" cy="868680"/>
          </a:xfrm>
          <a:prstGeom prst="roundRect">
            <a:avLst>
              <a:gd name="adj" fmla="val 6316"/>
            </a:avLst>
          </a:prstGeom>
          <a:solidFill>
            <a:srgbClr val="F4F8FB"/>
          </a:solidFill>
          <a:ln w="9525">
            <a:solidFill>
              <a:srgbClr val="DCE6EF"/>
            </a:solidFill>
            <a:prstDash val="solid"/>
          </a:ln>
        </p:spPr>
      </p:sp>
      <p:sp>
        <p:nvSpPr>
          <p:cNvPr id="19" name="Text 17"/>
          <p:cNvSpPr txBox="1"/>
          <p:nvPr/>
        </p:nvSpPr>
        <p:spPr>
          <a:xfrm>
            <a:off x="7772400" y="4901184"/>
            <a:ext cx="3657600" cy="292608"/>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Finance / Mgmt</a:t>
            </a:r>
            <a:endParaRPr lang="en-US" sz="1200" dirty="0"/>
          </a:p>
        </p:txBody>
      </p:sp>
      <p:sp>
        <p:nvSpPr>
          <p:cNvPr id="20" name="Text 18"/>
          <p:cNvSpPr txBox="1"/>
          <p:nvPr/>
        </p:nvSpPr>
        <p:spPr>
          <a:xfrm>
            <a:off x="7772400" y="5212080"/>
            <a:ext cx="3657600" cy="384048"/>
          </a:xfrm>
          <a:prstGeom prst="rect">
            <a:avLst/>
          </a:prstGeom>
          <a:noFill/>
          <a:ln/>
        </p:spPr>
        <p:txBody>
          <a:bodyPr wrap="square" lIns="0" tIns="0" rIns="0" bIns="0" rtlCol="0" anchor="ctr"/>
          <a:lstStyle/>
          <a:p>
            <a:pPr marL="0" indent="0">
              <a:buNone/>
            </a:pPr>
            <a:r>
              <a:rPr lang="en-US" sz="1000" dirty="0">
                <a:solidFill>
                  <a:srgbClr val="5C6B80"/>
                </a:solidFill>
                <a:latin typeface="Calibri" pitchFamily="34" charset="0"/>
                <a:ea typeface="Calibri" pitchFamily="34" charset="-122"/>
                <a:cs typeface="Calibri" pitchFamily="34" charset="-120"/>
              </a:rPr>
              <a:t>Revenue at risk &amp; dampak</a:t>
            </a:r>
            <a:endParaRPr lang="en-US" sz="1000" dirty="0"/>
          </a:p>
        </p:txBody>
      </p:sp>
      <p:sp>
        <p:nvSpPr>
          <p:cNvPr id="21" name="Text 19"/>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01 · Background &amp; Business Problem</a:t>
            </a:r>
            <a:endParaRPr lang="en-US" sz="850" dirty="0"/>
          </a:p>
        </p:txBody>
      </p:sp>
      <p:sp>
        <p:nvSpPr>
          <p:cNvPr id="22" name="Text 20"/>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3 / 16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02</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Business Questions &amp; Objectives</a:t>
            </a:r>
            <a:endParaRPr lang="en-US" sz="2700" dirty="0"/>
          </a:p>
        </p:txBody>
      </p:sp>
      <p:sp>
        <p:nvSpPr>
          <p:cNvPr id="4" name="Shape 2"/>
          <p:cNvSpPr/>
          <p:nvPr/>
        </p:nvSpPr>
        <p:spPr>
          <a:xfrm>
            <a:off x="548640" y="1463040"/>
            <a:ext cx="7315200" cy="365760"/>
          </a:xfrm>
          <a:prstGeom prst="rect">
            <a:avLst/>
          </a:prstGeom>
          <a:solidFill>
            <a:srgbClr val="21295C"/>
          </a:solidFill>
          <a:ln/>
        </p:spPr>
      </p:sp>
      <p:sp>
        <p:nvSpPr>
          <p:cNvPr id="5" name="Text 3"/>
          <p:cNvSpPr txBox="1"/>
          <p:nvPr/>
        </p:nvSpPr>
        <p:spPr>
          <a:xfrm>
            <a:off x="685800" y="1463040"/>
            <a:ext cx="704088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Pertanyaan Bisnis</a:t>
            </a:r>
            <a:endParaRPr lang="en-US" sz="1100" dirty="0"/>
          </a:p>
        </p:txBody>
      </p:sp>
      <p:sp>
        <p:nvSpPr>
          <p:cNvPr id="6" name="Shape 4"/>
          <p:cNvSpPr/>
          <p:nvPr/>
        </p:nvSpPr>
        <p:spPr>
          <a:xfrm>
            <a:off x="7863840" y="1463040"/>
            <a:ext cx="3776472" cy="365760"/>
          </a:xfrm>
          <a:prstGeom prst="rect">
            <a:avLst/>
          </a:prstGeom>
          <a:solidFill>
            <a:srgbClr val="21295C"/>
          </a:solidFill>
          <a:ln/>
        </p:spPr>
      </p:sp>
      <p:sp>
        <p:nvSpPr>
          <p:cNvPr id="7" name="Text 5"/>
          <p:cNvSpPr txBox="1"/>
          <p:nvPr/>
        </p:nvSpPr>
        <p:spPr>
          <a:xfrm>
            <a:off x="8001000" y="1463040"/>
            <a:ext cx="3566160" cy="36576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Dijawab Di</a:t>
            </a:r>
            <a:endParaRPr lang="en-US" sz="1100" dirty="0"/>
          </a:p>
        </p:txBody>
      </p:sp>
      <p:sp>
        <p:nvSpPr>
          <p:cNvPr id="8" name="Shape 6"/>
          <p:cNvSpPr/>
          <p:nvPr/>
        </p:nvSpPr>
        <p:spPr>
          <a:xfrm>
            <a:off x="548640" y="1828800"/>
            <a:ext cx="7315200" cy="475488"/>
          </a:xfrm>
          <a:prstGeom prst="rect">
            <a:avLst/>
          </a:prstGeom>
          <a:solidFill>
            <a:srgbClr val="FFFFFF"/>
          </a:solidFill>
          <a:ln w="6350">
            <a:solidFill>
              <a:srgbClr val="DCE6EF"/>
            </a:solidFill>
            <a:prstDash val="solid"/>
          </a:ln>
        </p:spPr>
      </p:sp>
      <p:sp>
        <p:nvSpPr>
          <p:cNvPr id="9" name="Text 7"/>
          <p:cNvSpPr txBox="1"/>
          <p:nvPr/>
        </p:nvSpPr>
        <p:spPr>
          <a:xfrm>
            <a:off x="685800" y="1828800"/>
            <a:ext cx="7040880" cy="475488"/>
          </a:xfrm>
          <a:prstGeom prst="rect">
            <a:avLst/>
          </a:prstGeom>
          <a:noFill/>
          <a:ln/>
        </p:spPr>
        <p:txBody>
          <a:bodyPr wrap="square" lIns="0" tIns="0" rIns="0" bIns="0" rtlCol="0" anchor="ctr"/>
          <a:lstStyle/>
          <a:p>
            <a:pPr marL="0" indent="0">
              <a:buNone/>
            </a:pPr>
            <a:r>
              <a:rPr lang="en-US" sz="1030" dirty="0">
                <a:solidFill>
                  <a:srgbClr val="1B2430"/>
                </a:solidFill>
                <a:latin typeface="Calibri" pitchFamily="34" charset="0"/>
                <a:ea typeface="Calibri" pitchFamily="34" charset="-122"/>
                <a:cs typeface="Calibri" pitchFamily="34" charset="-120"/>
              </a:rPr>
              <a:t>Berapa churn rate &amp; revenue terkait pelanggan churn?</a:t>
            </a:r>
            <a:endParaRPr lang="en-US" sz="1030" dirty="0"/>
          </a:p>
        </p:txBody>
      </p:sp>
      <p:sp>
        <p:nvSpPr>
          <p:cNvPr id="10" name="Shape 8"/>
          <p:cNvSpPr/>
          <p:nvPr/>
        </p:nvSpPr>
        <p:spPr>
          <a:xfrm>
            <a:off x="7863840" y="1828800"/>
            <a:ext cx="3776472" cy="475488"/>
          </a:xfrm>
          <a:prstGeom prst="rect">
            <a:avLst/>
          </a:prstGeom>
          <a:solidFill>
            <a:srgbClr val="FFFFFF"/>
          </a:solidFill>
          <a:ln w="6350">
            <a:solidFill>
              <a:srgbClr val="DCE6EF"/>
            </a:solidFill>
            <a:prstDash val="solid"/>
          </a:ln>
        </p:spPr>
      </p:sp>
      <p:sp>
        <p:nvSpPr>
          <p:cNvPr id="11" name="Text 9"/>
          <p:cNvSpPr txBox="1"/>
          <p:nvPr/>
        </p:nvSpPr>
        <p:spPr>
          <a:xfrm>
            <a:off x="8001000" y="1828800"/>
            <a:ext cx="3566160" cy="475488"/>
          </a:xfrm>
          <a:prstGeom prst="rect">
            <a:avLst/>
          </a:prstGeom>
          <a:noFill/>
          <a:ln/>
        </p:spPr>
        <p:txBody>
          <a:bodyPr wrap="square" lIns="0" tIns="0" rIns="0" bIns="0" rtlCol="0" anchor="ctr"/>
          <a:lstStyle/>
          <a:p>
            <a:pPr marL="0" indent="0">
              <a:buNone/>
            </a:pPr>
            <a:r>
              <a:rPr lang="en-US" sz="950" b="1" dirty="0">
                <a:solidFill>
                  <a:srgbClr val="1C7293"/>
                </a:solidFill>
                <a:latin typeface="Calibri" pitchFamily="34" charset="0"/>
                <a:ea typeface="Calibri" pitchFamily="34" charset="-122"/>
                <a:cs typeface="Calibri" pitchFamily="34" charset="-120"/>
              </a:rPr>
              <a:t>EDA Overview</a:t>
            </a:r>
            <a:endParaRPr lang="en-US" sz="950" dirty="0"/>
          </a:p>
        </p:txBody>
      </p:sp>
      <p:sp>
        <p:nvSpPr>
          <p:cNvPr id="12" name="Shape 10"/>
          <p:cNvSpPr/>
          <p:nvPr/>
        </p:nvSpPr>
        <p:spPr>
          <a:xfrm>
            <a:off x="548640" y="2304288"/>
            <a:ext cx="7315200" cy="475488"/>
          </a:xfrm>
          <a:prstGeom prst="rect">
            <a:avLst/>
          </a:prstGeom>
          <a:solidFill>
            <a:srgbClr val="F4F8FB"/>
          </a:solidFill>
          <a:ln w="6350">
            <a:solidFill>
              <a:srgbClr val="DCE6EF"/>
            </a:solidFill>
            <a:prstDash val="solid"/>
          </a:ln>
        </p:spPr>
      </p:sp>
      <p:sp>
        <p:nvSpPr>
          <p:cNvPr id="13" name="Text 11"/>
          <p:cNvSpPr txBox="1"/>
          <p:nvPr/>
        </p:nvSpPr>
        <p:spPr>
          <a:xfrm>
            <a:off x="685800" y="2304288"/>
            <a:ext cx="7040880" cy="475488"/>
          </a:xfrm>
          <a:prstGeom prst="rect">
            <a:avLst/>
          </a:prstGeom>
          <a:noFill/>
          <a:ln/>
        </p:spPr>
        <p:txBody>
          <a:bodyPr wrap="square" lIns="0" tIns="0" rIns="0" bIns="0" rtlCol="0" anchor="ctr"/>
          <a:lstStyle/>
          <a:p>
            <a:pPr marL="0" indent="0">
              <a:buNone/>
            </a:pPr>
            <a:r>
              <a:rPr lang="en-US" sz="1030" dirty="0">
                <a:solidFill>
                  <a:srgbClr val="1B2430"/>
                </a:solidFill>
                <a:latin typeface="Calibri" pitchFamily="34" charset="0"/>
                <a:ea typeface="Calibri" pitchFamily="34" charset="-122"/>
                <a:cs typeface="Calibri" pitchFamily="34" charset="-120"/>
              </a:rPr>
              <a:t>Kontrak &amp; tenure seperti apa yang paling rawan churn?</a:t>
            </a:r>
            <a:endParaRPr lang="en-US" sz="1030" dirty="0"/>
          </a:p>
        </p:txBody>
      </p:sp>
      <p:sp>
        <p:nvSpPr>
          <p:cNvPr id="14" name="Shape 12"/>
          <p:cNvSpPr/>
          <p:nvPr/>
        </p:nvSpPr>
        <p:spPr>
          <a:xfrm>
            <a:off x="7863840" y="2304288"/>
            <a:ext cx="3776472" cy="475488"/>
          </a:xfrm>
          <a:prstGeom prst="rect">
            <a:avLst/>
          </a:prstGeom>
          <a:solidFill>
            <a:srgbClr val="F4F8FB"/>
          </a:solidFill>
          <a:ln w="6350">
            <a:solidFill>
              <a:srgbClr val="DCE6EF"/>
            </a:solidFill>
            <a:prstDash val="solid"/>
          </a:ln>
        </p:spPr>
      </p:sp>
      <p:sp>
        <p:nvSpPr>
          <p:cNvPr id="15" name="Text 13"/>
          <p:cNvSpPr txBox="1"/>
          <p:nvPr/>
        </p:nvSpPr>
        <p:spPr>
          <a:xfrm>
            <a:off x="8001000" y="2304288"/>
            <a:ext cx="3566160" cy="475488"/>
          </a:xfrm>
          <a:prstGeom prst="rect">
            <a:avLst/>
          </a:prstGeom>
          <a:noFill/>
          <a:ln/>
        </p:spPr>
        <p:txBody>
          <a:bodyPr wrap="square" lIns="0" tIns="0" rIns="0" bIns="0" rtlCol="0" anchor="ctr"/>
          <a:lstStyle/>
          <a:p>
            <a:pPr marL="0" indent="0">
              <a:buNone/>
            </a:pPr>
            <a:r>
              <a:rPr lang="en-US" sz="950" b="1" dirty="0">
                <a:solidFill>
                  <a:srgbClr val="1C7293"/>
                </a:solidFill>
                <a:latin typeface="Calibri" pitchFamily="34" charset="0"/>
                <a:ea typeface="Calibri" pitchFamily="34" charset="-122"/>
                <a:cs typeface="Calibri" pitchFamily="34" charset="-120"/>
              </a:rPr>
              <a:t>Bivariate, Multivariate</a:t>
            </a:r>
            <a:endParaRPr lang="en-US" sz="950" dirty="0"/>
          </a:p>
        </p:txBody>
      </p:sp>
      <p:sp>
        <p:nvSpPr>
          <p:cNvPr id="16" name="Shape 14"/>
          <p:cNvSpPr/>
          <p:nvPr/>
        </p:nvSpPr>
        <p:spPr>
          <a:xfrm>
            <a:off x="548640" y="2779776"/>
            <a:ext cx="7315200" cy="475488"/>
          </a:xfrm>
          <a:prstGeom prst="rect">
            <a:avLst/>
          </a:prstGeom>
          <a:solidFill>
            <a:srgbClr val="FFFFFF"/>
          </a:solidFill>
          <a:ln w="6350">
            <a:solidFill>
              <a:srgbClr val="DCE6EF"/>
            </a:solidFill>
            <a:prstDash val="solid"/>
          </a:ln>
        </p:spPr>
      </p:sp>
      <p:sp>
        <p:nvSpPr>
          <p:cNvPr id="17" name="Text 15"/>
          <p:cNvSpPr txBox="1"/>
          <p:nvPr/>
        </p:nvSpPr>
        <p:spPr>
          <a:xfrm>
            <a:off x="685800" y="2779776"/>
            <a:ext cx="7040880" cy="475488"/>
          </a:xfrm>
          <a:prstGeom prst="rect">
            <a:avLst/>
          </a:prstGeom>
          <a:noFill/>
          <a:ln/>
        </p:spPr>
        <p:txBody>
          <a:bodyPr wrap="square" lIns="0" tIns="0" rIns="0" bIns="0" rtlCol="0" anchor="ctr"/>
          <a:lstStyle/>
          <a:p>
            <a:pPr marL="0" indent="0">
              <a:buNone/>
            </a:pPr>
            <a:r>
              <a:rPr lang="en-US" sz="1030" dirty="0">
                <a:solidFill>
                  <a:srgbClr val="1B2430"/>
                </a:solidFill>
                <a:latin typeface="Calibri" pitchFamily="34" charset="0"/>
                <a:ea typeface="Calibri" pitchFamily="34" charset="-122"/>
                <a:cs typeface="Calibri" pitchFamily="34" charset="-120"/>
              </a:rPr>
              <a:t>Apakah Fiber optic vs DSL berpengaruh ke churn?</a:t>
            </a:r>
            <a:endParaRPr lang="en-US" sz="1030" dirty="0"/>
          </a:p>
        </p:txBody>
      </p:sp>
      <p:sp>
        <p:nvSpPr>
          <p:cNvPr id="18" name="Shape 16"/>
          <p:cNvSpPr/>
          <p:nvPr/>
        </p:nvSpPr>
        <p:spPr>
          <a:xfrm>
            <a:off x="7863840" y="2779776"/>
            <a:ext cx="3776472" cy="475488"/>
          </a:xfrm>
          <a:prstGeom prst="rect">
            <a:avLst/>
          </a:prstGeom>
          <a:solidFill>
            <a:srgbClr val="FFFFFF"/>
          </a:solidFill>
          <a:ln w="6350">
            <a:solidFill>
              <a:srgbClr val="DCE6EF"/>
            </a:solidFill>
            <a:prstDash val="solid"/>
          </a:ln>
        </p:spPr>
      </p:sp>
      <p:sp>
        <p:nvSpPr>
          <p:cNvPr id="19" name="Text 17"/>
          <p:cNvSpPr txBox="1"/>
          <p:nvPr/>
        </p:nvSpPr>
        <p:spPr>
          <a:xfrm>
            <a:off x="8001000" y="2779776"/>
            <a:ext cx="3566160" cy="475488"/>
          </a:xfrm>
          <a:prstGeom prst="rect">
            <a:avLst/>
          </a:prstGeom>
          <a:noFill/>
          <a:ln/>
        </p:spPr>
        <p:txBody>
          <a:bodyPr wrap="square" lIns="0" tIns="0" rIns="0" bIns="0" rtlCol="0" anchor="ctr"/>
          <a:lstStyle/>
          <a:p>
            <a:pPr marL="0" indent="0">
              <a:buNone/>
            </a:pPr>
            <a:r>
              <a:rPr lang="en-US" sz="950" b="1" dirty="0">
                <a:solidFill>
                  <a:srgbClr val="1C7293"/>
                </a:solidFill>
                <a:latin typeface="Calibri" pitchFamily="34" charset="0"/>
                <a:ea typeface="Calibri" pitchFamily="34" charset="-122"/>
                <a:cs typeface="Calibri" pitchFamily="34" charset="-120"/>
              </a:rPr>
              <a:t>Bivariate, Multivariate</a:t>
            </a:r>
            <a:endParaRPr lang="en-US" sz="950" dirty="0"/>
          </a:p>
        </p:txBody>
      </p:sp>
      <p:sp>
        <p:nvSpPr>
          <p:cNvPr id="20" name="Shape 18"/>
          <p:cNvSpPr/>
          <p:nvPr/>
        </p:nvSpPr>
        <p:spPr>
          <a:xfrm>
            <a:off x="548640" y="3255264"/>
            <a:ext cx="7315200" cy="475488"/>
          </a:xfrm>
          <a:prstGeom prst="rect">
            <a:avLst/>
          </a:prstGeom>
          <a:solidFill>
            <a:srgbClr val="F4F8FB"/>
          </a:solidFill>
          <a:ln w="6350">
            <a:solidFill>
              <a:srgbClr val="DCE6EF"/>
            </a:solidFill>
            <a:prstDash val="solid"/>
          </a:ln>
        </p:spPr>
      </p:sp>
      <p:sp>
        <p:nvSpPr>
          <p:cNvPr id="21" name="Text 19"/>
          <p:cNvSpPr txBox="1"/>
          <p:nvPr/>
        </p:nvSpPr>
        <p:spPr>
          <a:xfrm>
            <a:off x="685800" y="3255264"/>
            <a:ext cx="7040880" cy="475488"/>
          </a:xfrm>
          <a:prstGeom prst="rect">
            <a:avLst/>
          </a:prstGeom>
          <a:noFill/>
          <a:ln/>
        </p:spPr>
        <p:txBody>
          <a:bodyPr wrap="square" lIns="0" tIns="0" rIns="0" bIns="0" rtlCol="0" anchor="ctr"/>
          <a:lstStyle/>
          <a:p>
            <a:pPr marL="0" indent="0">
              <a:buNone/>
            </a:pPr>
            <a:r>
              <a:rPr lang="en-US" sz="1030" dirty="0">
                <a:solidFill>
                  <a:srgbClr val="1B2430"/>
                </a:solidFill>
                <a:latin typeface="Calibri" pitchFamily="34" charset="0"/>
                <a:ea typeface="Calibri" pitchFamily="34" charset="-122"/>
                <a:cs typeface="Calibri" pitchFamily="34" charset="-120"/>
              </a:rPr>
              <a:t>Apakah layanan tambahan menahan pelanggan?</a:t>
            </a:r>
            <a:endParaRPr lang="en-US" sz="1030" dirty="0"/>
          </a:p>
        </p:txBody>
      </p:sp>
      <p:sp>
        <p:nvSpPr>
          <p:cNvPr id="22" name="Shape 20"/>
          <p:cNvSpPr/>
          <p:nvPr/>
        </p:nvSpPr>
        <p:spPr>
          <a:xfrm>
            <a:off x="7863840" y="3255264"/>
            <a:ext cx="3776472" cy="475488"/>
          </a:xfrm>
          <a:prstGeom prst="rect">
            <a:avLst/>
          </a:prstGeom>
          <a:solidFill>
            <a:srgbClr val="F4F8FB"/>
          </a:solidFill>
          <a:ln w="6350">
            <a:solidFill>
              <a:srgbClr val="DCE6EF"/>
            </a:solidFill>
            <a:prstDash val="solid"/>
          </a:ln>
        </p:spPr>
      </p:sp>
      <p:sp>
        <p:nvSpPr>
          <p:cNvPr id="23" name="Text 21"/>
          <p:cNvSpPr txBox="1"/>
          <p:nvPr/>
        </p:nvSpPr>
        <p:spPr>
          <a:xfrm>
            <a:off x="8001000" y="3255264"/>
            <a:ext cx="3566160" cy="475488"/>
          </a:xfrm>
          <a:prstGeom prst="rect">
            <a:avLst/>
          </a:prstGeom>
          <a:noFill/>
          <a:ln/>
        </p:spPr>
        <p:txBody>
          <a:bodyPr wrap="square" lIns="0" tIns="0" rIns="0" bIns="0" rtlCol="0" anchor="ctr"/>
          <a:lstStyle/>
          <a:p>
            <a:pPr marL="0" indent="0">
              <a:buNone/>
            </a:pPr>
            <a:r>
              <a:rPr lang="en-US" sz="950" b="1" dirty="0">
                <a:solidFill>
                  <a:srgbClr val="1C7293"/>
                </a:solidFill>
                <a:latin typeface="Calibri" pitchFamily="34" charset="0"/>
                <a:ea typeface="Calibri" pitchFamily="34" charset="-122"/>
                <a:cs typeface="Calibri" pitchFamily="34" charset="-120"/>
              </a:rPr>
              <a:t>Bivariate</a:t>
            </a:r>
            <a:endParaRPr lang="en-US" sz="950" dirty="0"/>
          </a:p>
        </p:txBody>
      </p:sp>
      <p:sp>
        <p:nvSpPr>
          <p:cNvPr id="24" name="Shape 22"/>
          <p:cNvSpPr/>
          <p:nvPr/>
        </p:nvSpPr>
        <p:spPr>
          <a:xfrm>
            <a:off x="548640" y="3730752"/>
            <a:ext cx="7315200" cy="475488"/>
          </a:xfrm>
          <a:prstGeom prst="rect">
            <a:avLst/>
          </a:prstGeom>
          <a:solidFill>
            <a:srgbClr val="FFFFFF"/>
          </a:solidFill>
          <a:ln w="6350">
            <a:solidFill>
              <a:srgbClr val="DCE6EF"/>
            </a:solidFill>
            <a:prstDash val="solid"/>
          </a:ln>
        </p:spPr>
      </p:sp>
      <p:sp>
        <p:nvSpPr>
          <p:cNvPr id="25" name="Text 23"/>
          <p:cNvSpPr txBox="1"/>
          <p:nvPr/>
        </p:nvSpPr>
        <p:spPr>
          <a:xfrm>
            <a:off x="685800" y="3730752"/>
            <a:ext cx="7040880" cy="475488"/>
          </a:xfrm>
          <a:prstGeom prst="rect">
            <a:avLst/>
          </a:prstGeom>
          <a:noFill/>
          <a:ln/>
        </p:spPr>
        <p:txBody>
          <a:bodyPr wrap="square" lIns="0" tIns="0" rIns="0" bIns="0" rtlCol="0" anchor="ctr"/>
          <a:lstStyle/>
          <a:p>
            <a:pPr marL="0" indent="0">
              <a:buNone/>
            </a:pPr>
            <a:r>
              <a:rPr lang="en-US" sz="1030" dirty="0">
                <a:solidFill>
                  <a:srgbClr val="1B2430"/>
                </a:solidFill>
                <a:latin typeface="Calibri" pitchFamily="34" charset="0"/>
                <a:ea typeface="Calibri" pitchFamily="34" charset="-122"/>
                <a:cs typeface="Calibri" pitchFamily="34" charset="-120"/>
              </a:rPr>
              <a:t>Apakah metode bayar &amp; tagihan berkaitan dgn churn?</a:t>
            </a:r>
            <a:endParaRPr lang="en-US" sz="1030" dirty="0"/>
          </a:p>
        </p:txBody>
      </p:sp>
      <p:sp>
        <p:nvSpPr>
          <p:cNvPr id="26" name="Shape 24"/>
          <p:cNvSpPr/>
          <p:nvPr/>
        </p:nvSpPr>
        <p:spPr>
          <a:xfrm>
            <a:off x="7863840" y="3730752"/>
            <a:ext cx="3776472" cy="475488"/>
          </a:xfrm>
          <a:prstGeom prst="rect">
            <a:avLst/>
          </a:prstGeom>
          <a:solidFill>
            <a:srgbClr val="FFFFFF"/>
          </a:solidFill>
          <a:ln w="6350">
            <a:solidFill>
              <a:srgbClr val="DCE6EF"/>
            </a:solidFill>
            <a:prstDash val="solid"/>
          </a:ln>
        </p:spPr>
      </p:sp>
      <p:sp>
        <p:nvSpPr>
          <p:cNvPr id="27" name="Text 25"/>
          <p:cNvSpPr txBox="1"/>
          <p:nvPr/>
        </p:nvSpPr>
        <p:spPr>
          <a:xfrm>
            <a:off x="8001000" y="3730752"/>
            <a:ext cx="3566160" cy="475488"/>
          </a:xfrm>
          <a:prstGeom prst="rect">
            <a:avLst/>
          </a:prstGeom>
          <a:noFill/>
          <a:ln/>
        </p:spPr>
        <p:txBody>
          <a:bodyPr wrap="square" lIns="0" tIns="0" rIns="0" bIns="0" rtlCol="0" anchor="ctr"/>
          <a:lstStyle/>
          <a:p>
            <a:pPr marL="0" indent="0">
              <a:buNone/>
            </a:pPr>
            <a:r>
              <a:rPr lang="en-US" sz="950" b="1" dirty="0">
                <a:solidFill>
                  <a:srgbClr val="1C7293"/>
                </a:solidFill>
                <a:latin typeface="Calibri" pitchFamily="34" charset="0"/>
                <a:ea typeface="Calibri" pitchFamily="34" charset="-122"/>
                <a:cs typeface="Calibri" pitchFamily="34" charset="-120"/>
              </a:rPr>
              <a:t>Bivariate</a:t>
            </a:r>
            <a:endParaRPr lang="en-US" sz="950" dirty="0"/>
          </a:p>
        </p:txBody>
      </p:sp>
      <p:sp>
        <p:nvSpPr>
          <p:cNvPr id="28" name="Shape 26"/>
          <p:cNvSpPr/>
          <p:nvPr/>
        </p:nvSpPr>
        <p:spPr>
          <a:xfrm>
            <a:off x="548640" y="4206240"/>
            <a:ext cx="7315200" cy="475488"/>
          </a:xfrm>
          <a:prstGeom prst="rect">
            <a:avLst/>
          </a:prstGeom>
          <a:solidFill>
            <a:srgbClr val="F4F8FB"/>
          </a:solidFill>
          <a:ln w="6350">
            <a:solidFill>
              <a:srgbClr val="DCE6EF"/>
            </a:solidFill>
            <a:prstDash val="solid"/>
          </a:ln>
        </p:spPr>
      </p:sp>
      <p:sp>
        <p:nvSpPr>
          <p:cNvPr id="29" name="Text 27"/>
          <p:cNvSpPr txBox="1"/>
          <p:nvPr/>
        </p:nvSpPr>
        <p:spPr>
          <a:xfrm>
            <a:off x="685800" y="4206240"/>
            <a:ext cx="7040880" cy="475488"/>
          </a:xfrm>
          <a:prstGeom prst="rect">
            <a:avLst/>
          </a:prstGeom>
          <a:noFill/>
          <a:ln/>
        </p:spPr>
        <p:txBody>
          <a:bodyPr wrap="square" lIns="0" tIns="0" rIns="0" bIns="0" rtlCol="0" anchor="ctr"/>
          <a:lstStyle/>
          <a:p>
            <a:pPr marL="0" indent="0">
              <a:buNone/>
            </a:pPr>
            <a:r>
              <a:rPr lang="en-US" sz="1030" dirty="0">
                <a:solidFill>
                  <a:srgbClr val="1B2430"/>
                </a:solidFill>
                <a:latin typeface="Calibri" pitchFamily="34" charset="0"/>
                <a:ea typeface="Calibri" pitchFamily="34" charset="-122"/>
                <a:cs typeface="Calibri" pitchFamily="34" charset="-120"/>
              </a:rPr>
              <a:t>Apakah pola ini signifikan &amp; bisa divalidasi model?</a:t>
            </a:r>
            <a:endParaRPr lang="en-US" sz="1030" dirty="0"/>
          </a:p>
        </p:txBody>
      </p:sp>
      <p:sp>
        <p:nvSpPr>
          <p:cNvPr id="30" name="Shape 28"/>
          <p:cNvSpPr/>
          <p:nvPr/>
        </p:nvSpPr>
        <p:spPr>
          <a:xfrm>
            <a:off x="7863840" y="4206240"/>
            <a:ext cx="3776472" cy="475488"/>
          </a:xfrm>
          <a:prstGeom prst="rect">
            <a:avLst/>
          </a:prstGeom>
          <a:solidFill>
            <a:srgbClr val="F4F8FB"/>
          </a:solidFill>
          <a:ln w="6350">
            <a:solidFill>
              <a:srgbClr val="DCE6EF"/>
            </a:solidFill>
            <a:prstDash val="solid"/>
          </a:ln>
        </p:spPr>
      </p:sp>
      <p:sp>
        <p:nvSpPr>
          <p:cNvPr id="31" name="Text 29"/>
          <p:cNvSpPr txBox="1"/>
          <p:nvPr/>
        </p:nvSpPr>
        <p:spPr>
          <a:xfrm>
            <a:off x="8001000" y="4206240"/>
            <a:ext cx="3566160" cy="475488"/>
          </a:xfrm>
          <a:prstGeom prst="rect">
            <a:avLst/>
          </a:prstGeom>
          <a:noFill/>
          <a:ln/>
        </p:spPr>
        <p:txBody>
          <a:bodyPr wrap="square" lIns="0" tIns="0" rIns="0" bIns="0" rtlCol="0" anchor="ctr"/>
          <a:lstStyle/>
          <a:p>
            <a:pPr marL="0" indent="0">
              <a:buNone/>
            </a:pPr>
            <a:r>
              <a:rPr lang="en-US" sz="950" b="1" dirty="0">
                <a:solidFill>
                  <a:srgbClr val="1C7293"/>
                </a:solidFill>
                <a:latin typeface="Calibri" pitchFamily="34" charset="0"/>
                <a:ea typeface="Calibri" pitchFamily="34" charset="-122"/>
                <a:cs typeface="Calibri" pitchFamily="34" charset="-120"/>
              </a:rPr>
              <a:t>Uji Statistik, XGBoost</a:t>
            </a:r>
            <a:endParaRPr lang="en-US" sz="950" dirty="0"/>
          </a:p>
        </p:txBody>
      </p:sp>
      <p:sp>
        <p:nvSpPr>
          <p:cNvPr id="32" name="Shape 30"/>
          <p:cNvSpPr/>
          <p:nvPr/>
        </p:nvSpPr>
        <p:spPr>
          <a:xfrm>
            <a:off x="548640" y="4681728"/>
            <a:ext cx="7315200" cy="475488"/>
          </a:xfrm>
          <a:prstGeom prst="rect">
            <a:avLst/>
          </a:prstGeom>
          <a:solidFill>
            <a:srgbClr val="FFFFFF"/>
          </a:solidFill>
          <a:ln w="6350">
            <a:solidFill>
              <a:srgbClr val="DCE6EF"/>
            </a:solidFill>
            <a:prstDash val="solid"/>
          </a:ln>
        </p:spPr>
      </p:sp>
      <p:sp>
        <p:nvSpPr>
          <p:cNvPr id="33" name="Text 31"/>
          <p:cNvSpPr txBox="1"/>
          <p:nvPr/>
        </p:nvSpPr>
        <p:spPr>
          <a:xfrm>
            <a:off x="685800" y="4681728"/>
            <a:ext cx="7040880" cy="475488"/>
          </a:xfrm>
          <a:prstGeom prst="rect">
            <a:avLst/>
          </a:prstGeom>
          <a:noFill/>
          <a:ln/>
        </p:spPr>
        <p:txBody>
          <a:bodyPr wrap="square" lIns="0" tIns="0" rIns="0" bIns="0" rtlCol="0" anchor="ctr"/>
          <a:lstStyle/>
          <a:p>
            <a:pPr marL="0" indent="0">
              <a:buNone/>
            </a:pPr>
            <a:r>
              <a:rPr lang="en-US" sz="1030" dirty="0">
                <a:solidFill>
                  <a:srgbClr val="1B2430"/>
                </a:solidFill>
                <a:latin typeface="Calibri" pitchFamily="34" charset="0"/>
                <a:ea typeface="Calibri" pitchFamily="34" charset="-122"/>
                <a:cs typeface="Calibri" pitchFamily="34" charset="-120"/>
              </a:rPr>
              <a:t>Rekomendasi mana paling efektif &amp; berapa dampaknya?</a:t>
            </a:r>
            <a:endParaRPr lang="en-US" sz="1030" dirty="0"/>
          </a:p>
        </p:txBody>
      </p:sp>
      <p:sp>
        <p:nvSpPr>
          <p:cNvPr id="34" name="Shape 32"/>
          <p:cNvSpPr/>
          <p:nvPr/>
        </p:nvSpPr>
        <p:spPr>
          <a:xfrm>
            <a:off x="7863840" y="4681728"/>
            <a:ext cx="3776472" cy="475488"/>
          </a:xfrm>
          <a:prstGeom prst="rect">
            <a:avLst/>
          </a:prstGeom>
          <a:solidFill>
            <a:srgbClr val="FFFFFF"/>
          </a:solidFill>
          <a:ln w="6350">
            <a:solidFill>
              <a:srgbClr val="DCE6EF"/>
            </a:solidFill>
            <a:prstDash val="solid"/>
          </a:ln>
        </p:spPr>
      </p:sp>
      <p:sp>
        <p:nvSpPr>
          <p:cNvPr id="35" name="Text 33"/>
          <p:cNvSpPr txBox="1"/>
          <p:nvPr/>
        </p:nvSpPr>
        <p:spPr>
          <a:xfrm>
            <a:off x="8001000" y="4681728"/>
            <a:ext cx="3566160" cy="475488"/>
          </a:xfrm>
          <a:prstGeom prst="rect">
            <a:avLst/>
          </a:prstGeom>
          <a:noFill/>
          <a:ln/>
        </p:spPr>
        <p:txBody>
          <a:bodyPr wrap="square" lIns="0" tIns="0" rIns="0" bIns="0" rtlCol="0" anchor="ctr"/>
          <a:lstStyle/>
          <a:p>
            <a:pPr marL="0" indent="0">
              <a:buNone/>
            </a:pPr>
            <a:r>
              <a:rPr lang="en-US" sz="950" b="1" dirty="0">
                <a:solidFill>
                  <a:srgbClr val="1C7293"/>
                </a:solidFill>
                <a:latin typeface="Calibri" pitchFamily="34" charset="0"/>
                <a:ea typeface="Calibri" pitchFamily="34" charset="-122"/>
                <a:cs typeface="Calibri" pitchFamily="34" charset="-120"/>
              </a:rPr>
              <a:t>Insight &amp; Impact</a:t>
            </a:r>
            <a:endParaRPr lang="en-US" sz="950" dirty="0"/>
          </a:p>
        </p:txBody>
      </p:sp>
      <p:sp>
        <p:nvSpPr>
          <p:cNvPr id="36" name="Shape 34"/>
          <p:cNvSpPr/>
          <p:nvPr/>
        </p:nvSpPr>
        <p:spPr>
          <a:xfrm>
            <a:off x="548640" y="5340096"/>
            <a:ext cx="11091672" cy="914400"/>
          </a:xfrm>
          <a:prstGeom prst="roundRect">
            <a:avLst>
              <a:gd name="adj" fmla="val 6000"/>
            </a:avLst>
          </a:prstGeom>
          <a:solidFill>
            <a:srgbClr val="EAF6EE"/>
          </a:solidFill>
          <a:ln/>
        </p:spPr>
      </p:sp>
      <p:sp>
        <p:nvSpPr>
          <p:cNvPr id="37" name="Shape 35"/>
          <p:cNvSpPr/>
          <p:nvPr/>
        </p:nvSpPr>
        <p:spPr>
          <a:xfrm>
            <a:off x="548640" y="5340096"/>
            <a:ext cx="54864" cy="914400"/>
          </a:xfrm>
          <a:prstGeom prst="rect">
            <a:avLst/>
          </a:prstGeom>
          <a:solidFill>
            <a:srgbClr val="2E8B57"/>
          </a:solidFill>
          <a:ln/>
        </p:spPr>
      </p:sp>
      <p:sp>
        <p:nvSpPr>
          <p:cNvPr id="38" name="Text 36"/>
          <p:cNvSpPr txBox="1"/>
          <p:nvPr/>
        </p:nvSpPr>
        <p:spPr>
          <a:xfrm>
            <a:off x="731520" y="5413248"/>
            <a:ext cx="10725912" cy="228600"/>
          </a:xfrm>
          <a:prstGeom prst="rect">
            <a:avLst/>
          </a:prstGeom>
          <a:noFill/>
          <a:ln/>
        </p:spPr>
        <p:txBody>
          <a:bodyPr wrap="square" lIns="0" tIns="0" rIns="0" bIns="0" rtlCol="0" anchor="ctr"/>
          <a:lstStyle/>
          <a:p>
            <a:pPr marL="0" indent="0">
              <a:buNone/>
            </a:pPr>
            <a:r>
              <a:rPr lang="en-US" sz="850" b="1" kern="0" spc="50" dirty="0">
                <a:solidFill>
                  <a:srgbClr val="2E8B57"/>
                </a:solidFill>
                <a:latin typeface="Calibri" pitchFamily="34" charset="0"/>
                <a:ea typeface="Calibri" pitchFamily="34" charset="-122"/>
                <a:cs typeface="Calibri" pitchFamily="34" charset="-120"/>
              </a:rPr>
              <a:t>METRIK SUKSES</a:t>
            </a:r>
            <a:endParaRPr lang="en-US" sz="850" dirty="0"/>
          </a:p>
        </p:txBody>
      </p:sp>
      <p:sp>
        <p:nvSpPr>
          <p:cNvPr id="39" name="Text 37"/>
          <p:cNvSpPr txBox="1"/>
          <p:nvPr/>
        </p:nvSpPr>
        <p:spPr>
          <a:xfrm>
            <a:off x="731520" y="5632704"/>
            <a:ext cx="10725912" cy="530352"/>
          </a:xfrm>
          <a:prstGeom prst="rect">
            <a:avLst/>
          </a:prstGeom>
          <a:noFill/>
          <a:ln/>
        </p:spPr>
        <p:txBody>
          <a:bodyPr wrap="square" lIns="0" tIns="0" rIns="0" bIns="0" rtlCol="0" anchor="t"/>
          <a:lstStyle/>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Churn Rate  ·  Revenue at Risk (Historical &amp; Monthly Recurring)  ·  Retention Rate per Segmen &amp; Cohort Tenure</a:t>
            </a:r>
            <a:endParaRPr lang="en-US" sz="1050" dirty="0"/>
          </a:p>
        </p:txBody>
      </p:sp>
      <p:sp>
        <p:nvSpPr>
          <p:cNvPr id="40" name="Text 38"/>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02 · Business Questions &amp; Objectives</a:t>
            </a:r>
            <a:endParaRPr lang="en-US" sz="850" dirty="0"/>
          </a:p>
        </p:txBody>
      </p:sp>
      <p:sp>
        <p:nvSpPr>
          <p:cNvPr id="41" name="Text 39"/>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4 / 16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03</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Dataset Overview</a:t>
            </a:r>
            <a:endParaRPr lang="en-US" sz="2700" dirty="0"/>
          </a:p>
        </p:txBody>
      </p:sp>
      <p:sp>
        <p:nvSpPr>
          <p:cNvPr id="4" name="Text 2"/>
          <p:cNvSpPr txBox="1"/>
          <p:nvPr/>
        </p:nvSpPr>
        <p:spPr>
          <a:xfrm>
            <a:off x="548640" y="1417320"/>
            <a:ext cx="11064240" cy="457200"/>
          </a:xfrm>
          <a:prstGeom prst="rect">
            <a:avLst/>
          </a:prstGeom>
          <a:noFill/>
          <a:ln/>
        </p:spPr>
        <p:txBody>
          <a:bodyPr wrap="square" lIns="0" tIns="0" rIns="0" bIns="0" rtlCol="0" anchor="ctr"/>
          <a:lstStyle/>
          <a:p>
            <a:pPr marL="0" indent="0">
              <a:lnSpc>
                <a:spcPct val="125000"/>
              </a:lnSpc>
              <a:buNone/>
            </a:pPr>
            <a:r>
              <a:rPr lang="en-US" sz="1250" b="1" dirty="0">
                <a:solidFill>
                  <a:srgbClr val="1B2430"/>
                </a:solidFill>
                <a:latin typeface="Calibri" pitchFamily="34" charset="0"/>
                <a:ea typeface="Calibri" pitchFamily="34" charset="-122"/>
                <a:cs typeface="Calibri" pitchFamily="34" charset="-120"/>
              </a:rPr>
              <a:t>Sumber: </a:t>
            </a:r>
            <a:r>
              <a:rPr lang="en-US" sz="1250" dirty="0">
                <a:solidFill>
                  <a:srgbClr val="1B2430"/>
                </a:solidFill>
                <a:latin typeface="Calibri" pitchFamily="34" charset="0"/>
                <a:ea typeface="Calibri" pitchFamily="34" charset="-122"/>
                <a:cs typeface="Calibri" pitchFamily="34" charset="-120"/>
              </a:rPr>
              <a:t>Kaggle — “Telco Customer Churn” oleh blastchar. Granularity: 1 baris = 1 pelanggan.</a:t>
            </a:r>
            <a:endParaRPr lang="en-US" sz="1250" dirty="0"/>
          </a:p>
        </p:txBody>
      </p:sp>
      <p:sp>
        <p:nvSpPr>
          <p:cNvPr id="5" name="Shape 3"/>
          <p:cNvSpPr/>
          <p:nvPr/>
        </p:nvSpPr>
        <p:spPr>
          <a:xfrm>
            <a:off x="548640" y="1965960"/>
            <a:ext cx="2651760" cy="960120"/>
          </a:xfrm>
          <a:prstGeom prst="roundRect">
            <a:avLst>
              <a:gd name="adj" fmla="val 5714"/>
            </a:avLst>
          </a:prstGeom>
          <a:solidFill>
            <a:srgbClr val="F4F8FB"/>
          </a:solidFill>
          <a:ln w="9525">
            <a:solidFill>
              <a:srgbClr val="DCE6EF"/>
            </a:solidFill>
            <a:prstDash val="solid"/>
          </a:ln>
        </p:spPr>
      </p:sp>
      <p:sp>
        <p:nvSpPr>
          <p:cNvPr id="6" name="Shape 4"/>
          <p:cNvSpPr/>
          <p:nvPr/>
        </p:nvSpPr>
        <p:spPr>
          <a:xfrm>
            <a:off x="548640" y="1965960"/>
            <a:ext cx="54864" cy="960120"/>
          </a:xfrm>
          <a:prstGeom prst="rect">
            <a:avLst/>
          </a:prstGeom>
          <a:solidFill>
            <a:srgbClr val="1C7293"/>
          </a:solidFill>
          <a:ln/>
        </p:spPr>
      </p:sp>
      <p:sp>
        <p:nvSpPr>
          <p:cNvPr id="7" name="Text 5"/>
          <p:cNvSpPr txBox="1"/>
          <p:nvPr/>
        </p:nvSpPr>
        <p:spPr>
          <a:xfrm>
            <a:off x="713232" y="2057400"/>
            <a:ext cx="237744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7.043</a:t>
            </a:r>
            <a:endParaRPr lang="en-US" sz="2400" dirty="0"/>
          </a:p>
        </p:txBody>
      </p:sp>
      <p:sp>
        <p:nvSpPr>
          <p:cNvPr id="8" name="Text 6"/>
          <p:cNvSpPr txBox="1"/>
          <p:nvPr/>
        </p:nvSpPr>
        <p:spPr>
          <a:xfrm>
            <a:off x="713232" y="2560320"/>
            <a:ext cx="2377440" cy="320040"/>
          </a:xfrm>
          <a:prstGeom prst="rect">
            <a:avLst/>
          </a:prstGeom>
          <a:noFill/>
          <a:ln/>
        </p:spPr>
        <p:txBody>
          <a:bodyPr wrap="square" lIns="0" tIns="0" rIns="0" bIns="0" rtlCol="0" anchor="ctr"/>
          <a:lstStyle/>
          <a:p>
            <a:pPr marL="0" indent="0">
              <a:buNone/>
            </a:pPr>
            <a:r>
              <a:rPr lang="en-US" sz="850" kern="0" spc="50" dirty="0">
                <a:solidFill>
                  <a:srgbClr val="5C6B80"/>
                </a:solidFill>
                <a:latin typeface="Calibri" pitchFamily="34" charset="0"/>
                <a:ea typeface="Calibri" pitchFamily="34" charset="-122"/>
                <a:cs typeface="Calibri" pitchFamily="34" charset="-120"/>
              </a:rPr>
              <a:t>BARIS (PELANGGAN)</a:t>
            </a:r>
            <a:endParaRPr lang="en-US" sz="850" dirty="0"/>
          </a:p>
        </p:txBody>
      </p:sp>
      <p:sp>
        <p:nvSpPr>
          <p:cNvPr id="9" name="Shape 7"/>
          <p:cNvSpPr/>
          <p:nvPr/>
        </p:nvSpPr>
        <p:spPr>
          <a:xfrm>
            <a:off x="3337560" y="1965960"/>
            <a:ext cx="2651760" cy="960120"/>
          </a:xfrm>
          <a:prstGeom prst="roundRect">
            <a:avLst>
              <a:gd name="adj" fmla="val 5714"/>
            </a:avLst>
          </a:prstGeom>
          <a:solidFill>
            <a:srgbClr val="F4F8FB"/>
          </a:solidFill>
          <a:ln w="9525">
            <a:solidFill>
              <a:srgbClr val="DCE6EF"/>
            </a:solidFill>
            <a:prstDash val="solid"/>
          </a:ln>
        </p:spPr>
      </p:sp>
      <p:sp>
        <p:nvSpPr>
          <p:cNvPr id="10" name="Shape 8"/>
          <p:cNvSpPr/>
          <p:nvPr/>
        </p:nvSpPr>
        <p:spPr>
          <a:xfrm>
            <a:off x="3337560" y="1965960"/>
            <a:ext cx="54864" cy="960120"/>
          </a:xfrm>
          <a:prstGeom prst="rect">
            <a:avLst/>
          </a:prstGeom>
          <a:solidFill>
            <a:srgbClr val="1C7293"/>
          </a:solidFill>
          <a:ln/>
        </p:spPr>
      </p:sp>
      <p:sp>
        <p:nvSpPr>
          <p:cNvPr id="11" name="Text 9"/>
          <p:cNvSpPr txBox="1"/>
          <p:nvPr/>
        </p:nvSpPr>
        <p:spPr>
          <a:xfrm>
            <a:off x="3502152" y="2057400"/>
            <a:ext cx="237744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21</a:t>
            </a:r>
            <a:endParaRPr lang="en-US" sz="2400" dirty="0"/>
          </a:p>
        </p:txBody>
      </p:sp>
      <p:sp>
        <p:nvSpPr>
          <p:cNvPr id="12" name="Text 10"/>
          <p:cNvSpPr txBox="1"/>
          <p:nvPr/>
        </p:nvSpPr>
        <p:spPr>
          <a:xfrm>
            <a:off x="3502152" y="2560320"/>
            <a:ext cx="2377440" cy="320040"/>
          </a:xfrm>
          <a:prstGeom prst="rect">
            <a:avLst/>
          </a:prstGeom>
          <a:noFill/>
          <a:ln/>
        </p:spPr>
        <p:txBody>
          <a:bodyPr wrap="square" lIns="0" tIns="0" rIns="0" bIns="0" rtlCol="0" anchor="ctr"/>
          <a:lstStyle/>
          <a:p>
            <a:pPr marL="0" indent="0">
              <a:buNone/>
            </a:pPr>
            <a:r>
              <a:rPr lang="en-US" sz="850" kern="0" spc="50" dirty="0">
                <a:solidFill>
                  <a:srgbClr val="5C6B80"/>
                </a:solidFill>
                <a:latin typeface="Calibri" pitchFamily="34" charset="0"/>
                <a:ea typeface="Calibri" pitchFamily="34" charset="-122"/>
                <a:cs typeface="Calibri" pitchFamily="34" charset="-120"/>
              </a:rPr>
              <a:t>KOLOM ASLI</a:t>
            </a:r>
            <a:endParaRPr lang="en-US" sz="850" dirty="0"/>
          </a:p>
        </p:txBody>
      </p:sp>
      <p:sp>
        <p:nvSpPr>
          <p:cNvPr id="13" name="Shape 11"/>
          <p:cNvSpPr/>
          <p:nvPr/>
        </p:nvSpPr>
        <p:spPr>
          <a:xfrm>
            <a:off x="6126480" y="1965960"/>
            <a:ext cx="2651760" cy="960120"/>
          </a:xfrm>
          <a:prstGeom prst="roundRect">
            <a:avLst>
              <a:gd name="adj" fmla="val 5714"/>
            </a:avLst>
          </a:prstGeom>
          <a:solidFill>
            <a:srgbClr val="F4F8FB"/>
          </a:solidFill>
          <a:ln w="9525">
            <a:solidFill>
              <a:srgbClr val="DCE6EF"/>
            </a:solidFill>
            <a:prstDash val="solid"/>
          </a:ln>
        </p:spPr>
      </p:sp>
      <p:sp>
        <p:nvSpPr>
          <p:cNvPr id="14" name="Shape 12"/>
          <p:cNvSpPr/>
          <p:nvPr/>
        </p:nvSpPr>
        <p:spPr>
          <a:xfrm>
            <a:off x="6126480" y="1965960"/>
            <a:ext cx="54864" cy="960120"/>
          </a:xfrm>
          <a:prstGeom prst="rect">
            <a:avLst/>
          </a:prstGeom>
          <a:solidFill>
            <a:srgbClr val="065A82"/>
          </a:solidFill>
          <a:ln/>
        </p:spPr>
      </p:sp>
      <p:sp>
        <p:nvSpPr>
          <p:cNvPr id="15" name="Text 13"/>
          <p:cNvSpPr txBox="1"/>
          <p:nvPr/>
        </p:nvSpPr>
        <p:spPr>
          <a:xfrm>
            <a:off x="6291072" y="2057400"/>
            <a:ext cx="2377440"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28</a:t>
            </a:r>
            <a:endParaRPr lang="en-US" sz="2400" dirty="0"/>
          </a:p>
        </p:txBody>
      </p:sp>
      <p:sp>
        <p:nvSpPr>
          <p:cNvPr id="16" name="Text 14"/>
          <p:cNvSpPr txBox="1"/>
          <p:nvPr/>
        </p:nvSpPr>
        <p:spPr>
          <a:xfrm>
            <a:off x="6291072" y="2560320"/>
            <a:ext cx="2377440" cy="320040"/>
          </a:xfrm>
          <a:prstGeom prst="rect">
            <a:avLst/>
          </a:prstGeom>
          <a:noFill/>
          <a:ln/>
        </p:spPr>
        <p:txBody>
          <a:bodyPr wrap="square" lIns="0" tIns="0" rIns="0" bIns="0" rtlCol="0" anchor="ctr"/>
          <a:lstStyle/>
          <a:p>
            <a:pPr marL="0" indent="0">
              <a:buNone/>
            </a:pPr>
            <a:r>
              <a:rPr lang="en-US" sz="850" kern="0" spc="50" dirty="0">
                <a:solidFill>
                  <a:srgbClr val="5C6B80"/>
                </a:solidFill>
                <a:latin typeface="Calibri" pitchFamily="34" charset="0"/>
                <a:ea typeface="Calibri" pitchFamily="34" charset="-122"/>
                <a:cs typeface="Calibri" pitchFamily="34" charset="-120"/>
              </a:rPr>
              <a:t>KOLOM SETELAH FEATURE ENG.</a:t>
            </a:r>
            <a:endParaRPr lang="en-US" sz="850" dirty="0"/>
          </a:p>
        </p:txBody>
      </p:sp>
      <p:sp>
        <p:nvSpPr>
          <p:cNvPr id="17" name="Shape 15"/>
          <p:cNvSpPr/>
          <p:nvPr/>
        </p:nvSpPr>
        <p:spPr>
          <a:xfrm>
            <a:off x="8915400" y="1965960"/>
            <a:ext cx="2724912" cy="960120"/>
          </a:xfrm>
          <a:prstGeom prst="roundRect">
            <a:avLst>
              <a:gd name="adj" fmla="val 5714"/>
            </a:avLst>
          </a:prstGeom>
          <a:solidFill>
            <a:srgbClr val="F4F8FB"/>
          </a:solidFill>
          <a:ln w="9525">
            <a:solidFill>
              <a:srgbClr val="DCE6EF"/>
            </a:solidFill>
            <a:prstDash val="solid"/>
          </a:ln>
        </p:spPr>
      </p:sp>
      <p:sp>
        <p:nvSpPr>
          <p:cNvPr id="18" name="Shape 16"/>
          <p:cNvSpPr/>
          <p:nvPr/>
        </p:nvSpPr>
        <p:spPr>
          <a:xfrm>
            <a:off x="8915400" y="1965960"/>
            <a:ext cx="54864" cy="960120"/>
          </a:xfrm>
          <a:prstGeom prst="rect">
            <a:avLst/>
          </a:prstGeom>
          <a:solidFill>
            <a:srgbClr val="2E8B57"/>
          </a:solidFill>
          <a:ln/>
        </p:spPr>
      </p:sp>
      <p:sp>
        <p:nvSpPr>
          <p:cNvPr id="19" name="Text 17"/>
          <p:cNvSpPr txBox="1"/>
          <p:nvPr/>
        </p:nvSpPr>
        <p:spPr>
          <a:xfrm>
            <a:off x="9079992" y="2057400"/>
            <a:ext cx="2450592" cy="502920"/>
          </a:xfrm>
          <a:prstGeom prst="rect">
            <a:avLst/>
          </a:prstGeom>
          <a:noFill/>
          <a:ln/>
        </p:spPr>
        <p:txBody>
          <a:bodyPr wrap="square" lIns="0" tIns="0" rIns="0" bIns="0" rtlCol="0" anchor="ctr"/>
          <a:lstStyle/>
          <a:p>
            <a:pPr marL="0" indent="0">
              <a:buNone/>
            </a:pPr>
            <a:r>
              <a:rPr lang="en-US" sz="2400" b="1" dirty="0">
                <a:solidFill>
                  <a:srgbClr val="21295C"/>
                </a:solidFill>
                <a:latin typeface="Cambria" pitchFamily="34" charset="0"/>
                <a:ea typeface="Cambria" pitchFamily="34" charset="-122"/>
                <a:cs typeface="Cambria" pitchFamily="34" charset="-120"/>
              </a:rPr>
              <a:t>0</a:t>
            </a:r>
            <a:endParaRPr lang="en-US" sz="2400" dirty="0"/>
          </a:p>
        </p:txBody>
      </p:sp>
      <p:sp>
        <p:nvSpPr>
          <p:cNvPr id="20" name="Text 18"/>
          <p:cNvSpPr txBox="1"/>
          <p:nvPr/>
        </p:nvSpPr>
        <p:spPr>
          <a:xfrm>
            <a:off x="9079992" y="2560320"/>
            <a:ext cx="2450592" cy="320040"/>
          </a:xfrm>
          <a:prstGeom prst="rect">
            <a:avLst/>
          </a:prstGeom>
          <a:noFill/>
          <a:ln/>
        </p:spPr>
        <p:txBody>
          <a:bodyPr wrap="square" lIns="0" tIns="0" rIns="0" bIns="0" rtlCol="0" anchor="ctr"/>
          <a:lstStyle/>
          <a:p>
            <a:pPr marL="0" indent="0">
              <a:buNone/>
            </a:pPr>
            <a:r>
              <a:rPr lang="en-US" sz="850" kern="0" spc="50" dirty="0">
                <a:solidFill>
                  <a:srgbClr val="5C6B80"/>
                </a:solidFill>
                <a:latin typeface="Calibri" pitchFamily="34" charset="0"/>
                <a:ea typeface="Calibri" pitchFamily="34" charset="-122"/>
                <a:cs typeface="Calibri" pitchFamily="34" charset="-120"/>
              </a:rPr>
              <a:t>MISSING VALUE TERSISA</a:t>
            </a:r>
            <a:endParaRPr lang="en-US" sz="850" dirty="0"/>
          </a:p>
        </p:txBody>
      </p:sp>
      <p:sp>
        <p:nvSpPr>
          <p:cNvPr id="21" name="Shape 19"/>
          <p:cNvSpPr/>
          <p:nvPr/>
        </p:nvSpPr>
        <p:spPr>
          <a:xfrm>
            <a:off x="548640" y="3154680"/>
            <a:ext cx="5440680" cy="777240"/>
          </a:xfrm>
          <a:prstGeom prst="roundRect">
            <a:avLst>
              <a:gd name="adj" fmla="val 7059"/>
            </a:avLst>
          </a:prstGeom>
          <a:solidFill>
            <a:srgbClr val="F4F8FB"/>
          </a:solidFill>
          <a:ln w="9525">
            <a:solidFill>
              <a:srgbClr val="DCE6EF"/>
            </a:solidFill>
            <a:prstDash val="solid"/>
          </a:ln>
        </p:spPr>
      </p:sp>
      <p:sp>
        <p:nvSpPr>
          <p:cNvPr id="22" name="Text 20"/>
          <p:cNvSpPr txBox="1"/>
          <p:nvPr/>
        </p:nvSpPr>
        <p:spPr>
          <a:xfrm>
            <a:off x="731520" y="3227832"/>
            <a:ext cx="5074920" cy="274320"/>
          </a:xfrm>
          <a:prstGeom prst="rect">
            <a:avLst/>
          </a:prstGeom>
          <a:noFill/>
          <a:ln/>
        </p:spPr>
        <p:txBody>
          <a:bodyPr wrap="square" lIns="0" tIns="0" rIns="0" bIns="0" rtlCol="0" anchor="ctr"/>
          <a:lstStyle/>
          <a:p>
            <a:pPr marL="0" indent="0">
              <a:buNone/>
            </a:pPr>
            <a:r>
              <a:rPr lang="en-US" sz="1150" b="1" dirty="0">
                <a:solidFill>
                  <a:srgbClr val="21295C"/>
                </a:solidFill>
                <a:latin typeface="Calibri" pitchFamily="34" charset="0"/>
                <a:ea typeface="Calibri" pitchFamily="34" charset="-122"/>
                <a:cs typeface="Calibri" pitchFamily="34" charset="-120"/>
              </a:rPr>
              <a:t>Demografi</a:t>
            </a:r>
            <a:endParaRPr lang="en-US" sz="1150" dirty="0"/>
          </a:p>
        </p:txBody>
      </p:sp>
      <p:sp>
        <p:nvSpPr>
          <p:cNvPr id="23" name="Text 21"/>
          <p:cNvSpPr txBox="1"/>
          <p:nvPr/>
        </p:nvSpPr>
        <p:spPr>
          <a:xfrm>
            <a:off x="731520" y="3502152"/>
            <a:ext cx="5074920" cy="384048"/>
          </a:xfrm>
          <a:prstGeom prst="rect">
            <a:avLst/>
          </a:prstGeom>
          <a:noFill/>
          <a:ln/>
        </p:spPr>
        <p:txBody>
          <a:bodyPr wrap="square" lIns="0" tIns="0" rIns="0" bIns="0" rtlCol="0" anchor="ctr"/>
          <a:lstStyle/>
          <a:p>
            <a:pPr marL="0" indent="0">
              <a:lnSpc>
                <a:spcPct val="110000"/>
              </a:lnSpc>
              <a:buNone/>
            </a:pPr>
            <a:r>
              <a:rPr lang="en-US" sz="930" dirty="0">
                <a:solidFill>
                  <a:srgbClr val="5C6B80"/>
                </a:solidFill>
                <a:latin typeface="Calibri" pitchFamily="34" charset="0"/>
                <a:ea typeface="Calibri" pitchFamily="34" charset="-122"/>
                <a:cs typeface="Calibri" pitchFamily="34" charset="-120"/>
              </a:rPr>
              <a:t>gender, SeniorCitizen, Partner, Dependents</a:t>
            </a:r>
            <a:endParaRPr lang="en-US" sz="930" dirty="0"/>
          </a:p>
        </p:txBody>
      </p:sp>
      <p:sp>
        <p:nvSpPr>
          <p:cNvPr id="24" name="Shape 22"/>
          <p:cNvSpPr/>
          <p:nvPr/>
        </p:nvSpPr>
        <p:spPr>
          <a:xfrm>
            <a:off x="6199632" y="3154680"/>
            <a:ext cx="5440680" cy="777240"/>
          </a:xfrm>
          <a:prstGeom prst="roundRect">
            <a:avLst>
              <a:gd name="adj" fmla="val 7059"/>
            </a:avLst>
          </a:prstGeom>
          <a:solidFill>
            <a:srgbClr val="F4F8FB"/>
          </a:solidFill>
          <a:ln w="9525">
            <a:solidFill>
              <a:srgbClr val="DCE6EF"/>
            </a:solidFill>
            <a:prstDash val="solid"/>
          </a:ln>
        </p:spPr>
      </p:sp>
      <p:sp>
        <p:nvSpPr>
          <p:cNvPr id="25" name="Text 23"/>
          <p:cNvSpPr txBox="1"/>
          <p:nvPr/>
        </p:nvSpPr>
        <p:spPr>
          <a:xfrm>
            <a:off x="6382512" y="3227832"/>
            <a:ext cx="5074920" cy="274320"/>
          </a:xfrm>
          <a:prstGeom prst="rect">
            <a:avLst/>
          </a:prstGeom>
          <a:noFill/>
          <a:ln/>
        </p:spPr>
        <p:txBody>
          <a:bodyPr wrap="square" lIns="0" tIns="0" rIns="0" bIns="0" rtlCol="0" anchor="ctr"/>
          <a:lstStyle/>
          <a:p>
            <a:pPr marL="0" indent="0">
              <a:buNone/>
            </a:pPr>
            <a:r>
              <a:rPr lang="en-US" sz="1150" b="1" dirty="0">
                <a:solidFill>
                  <a:srgbClr val="21295C"/>
                </a:solidFill>
                <a:latin typeface="Calibri" pitchFamily="34" charset="0"/>
                <a:ea typeface="Calibri" pitchFamily="34" charset="-122"/>
                <a:cs typeface="Calibri" pitchFamily="34" charset="-120"/>
              </a:rPr>
              <a:t>Loyalitas</a:t>
            </a:r>
            <a:endParaRPr lang="en-US" sz="1150" dirty="0"/>
          </a:p>
        </p:txBody>
      </p:sp>
      <p:sp>
        <p:nvSpPr>
          <p:cNvPr id="26" name="Text 24"/>
          <p:cNvSpPr txBox="1"/>
          <p:nvPr/>
        </p:nvSpPr>
        <p:spPr>
          <a:xfrm>
            <a:off x="6382512" y="3502152"/>
            <a:ext cx="5074920" cy="384048"/>
          </a:xfrm>
          <a:prstGeom prst="rect">
            <a:avLst/>
          </a:prstGeom>
          <a:noFill/>
          <a:ln/>
        </p:spPr>
        <p:txBody>
          <a:bodyPr wrap="square" lIns="0" tIns="0" rIns="0" bIns="0" rtlCol="0" anchor="ctr"/>
          <a:lstStyle/>
          <a:p>
            <a:pPr marL="0" indent="0">
              <a:lnSpc>
                <a:spcPct val="110000"/>
              </a:lnSpc>
              <a:buNone/>
            </a:pPr>
            <a:r>
              <a:rPr lang="en-US" sz="930" dirty="0">
                <a:solidFill>
                  <a:srgbClr val="5C6B80"/>
                </a:solidFill>
                <a:latin typeface="Calibri" pitchFamily="34" charset="0"/>
                <a:ea typeface="Calibri" pitchFamily="34" charset="-122"/>
                <a:cs typeface="Calibri" pitchFamily="34" charset="-120"/>
              </a:rPr>
              <a:t>tenure, TenureGroup*</a:t>
            </a:r>
            <a:endParaRPr lang="en-US" sz="930" dirty="0"/>
          </a:p>
        </p:txBody>
      </p:sp>
      <p:sp>
        <p:nvSpPr>
          <p:cNvPr id="27" name="Shape 25"/>
          <p:cNvSpPr/>
          <p:nvPr/>
        </p:nvSpPr>
        <p:spPr>
          <a:xfrm>
            <a:off x="548640" y="4050792"/>
            <a:ext cx="5440680" cy="777240"/>
          </a:xfrm>
          <a:prstGeom prst="roundRect">
            <a:avLst>
              <a:gd name="adj" fmla="val 7059"/>
            </a:avLst>
          </a:prstGeom>
          <a:solidFill>
            <a:srgbClr val="F4F8FB"/>
          </a:solidFill>
          <a:ln w="9525">
            <a:solidFill>
              <a:srgbClr val="DCE6EF"/>
            </a:solidFill>
            <a:prstDash val="solid"/>
          </a:ln>
        </p:spPr>
      </p:sp>
      <p:sp>
        <p:nvSpPr>
          <p:cNvPr id="28" name="Text 26"/>
          <p:cNvSpPr txBox="1"/>
          <p:nvPr/>
        </p:nvSpPr>
        <p:spPr>
          <a:xfrm>
            <a:off x="731520" y="4123944"/>
            <a:ext cx="5074920" cy="274320"/>
          </a:xfrm>
          <a:prstGeom prst="rect">
            <a:avLst/>
          </a:prstGeom>
          <a:noFill/>
          <a:ln/>
        </p:spPr>
        <p:txBody>
          <a:bodyPr wrap="square" lIns="0" tIns="0" rIns="0" bIns="0" rtlCol="0" anchor="ctr"/>
          <a:lstStyle/>
          <a:p>
            <a:pPr marL="0" indent="0">
              <a:buNone/>
            </a:pPr>
            <a:r>
              <a:rPr lang="en-US" sz="1150" b="1" dirty="0">
                <a:solidFill>
                  <a:srgbClr val="21295C"/>
                </a:solidFill>
                <a:latin typeface="Calibri" pitchFamily="34" charset="0"/>
                <a:ea typeface="Calibri" pitchFamily="34" charset="-122"/>
                <a:cs typeface="Calibri" pitchFamily="34" charset="-120"/>
              </a:rPr>
              <a:t>Layanan Telepon</a:t>
            </a:r>
            <a:endParaRPr lang="en-US" sz="1150" dirty="0"/>
          </a:p>
        </p:txBody>
      </p:sp>
      <p:sp>
        <p:nvSpPr>
          <p:cNvPr id="29" name="Text 27"/>
          <p:cNvSpPr txBox="1"/>
          <p:nvPr/>
        </p:nvSpPr>
        <p:spPr>
          <a:xfrm>
            <a:off x="731520" y="4398264"/>
            <a:ext cx="5074920" cy="384048"/>
          </a:xfrm>
          <a:prstGeom prst="rect">
            <a:avLst/>
          </a:prstGeom>
          <a:noFill/>
          <a:ln/>
        </p:spPr>
        <p:txBody>
          <a:bodyPr wrap="square" lIns="0" tIns="0" rIns="0" bIns="0" rtlCol="0" anchor="ctr"/>
          <a:lstStyle/>
          <a:p>
            <a:pPr marL="0" indent="0">
              <a:lnSpc>
                <a:spcPct val="110000"/>
              </a:lnSpc>
              <a:buNone/>
            </a:pPr>
            <a:r>
              <a:rPr lang="en-US" sz="930" dirty="0">
                <a:solidFill>
                  <a:srgbClr val="5C6B80"/>
                </a:solidFill>
                <a:latin typeface="Calibri" pitchFamily="34" charset="0"/>
                <a:ea typeface="Calibri" pitchFamily="34" charset="-122"/>
                <a:cs typeface="Calibri" pitchFamily="34" charset="-120"/>
              </a:rPr>
              <a:t>PhoneService, MultipleLines</a:t>
            </a:r>
            <a:endParaRPr lang="en-US" sz="930" dirty="0"/>
          </a:p>
        </p:txBody>
      </p:sp>
      <p:sp>
        <p:nvSpPr>
          <p:cNvPr id="30" name="Shape 28"/>
          <p:cNvSpPr/>
          <p:nvPr/>
        </p:nvSpPr>
        <p:spPr>
          <a:xfrm>
            <a:off x="6199632" y="4050792"/>
            <a:ext cx="5440680" cy="777240"/>
          </a:xfrm>
          <a:prstGeom prst="roundRect">
            <a:avLst>
              <a:gd name="adj" fmla="val 7059"/>
            </a:avLst>
          </a:prstGeom>
          <a:solidFill>
            <a:srgbClr val="F4F8FB"/>
          </a:solidFill>
          <a:ln w="9525">
            <a:solidFill>
              <a:srgbClr val="DCE6EF"/>
            </a:solidFill>
            <a:prstDash val="solid"/>
          </a:ln>
        </p:spPr>
      </p:sp>
      <p:sp>
        <p:nvSpPr>
          <p:cNvPr id="31" name="Text 29"/>
          <p:cNvSpPr txBox="1"/>
          <p:nvPr/>
        </p:nvSpPr>
        <p:spPr>
          <a:xfrm>
            <a:off x="6382512" y="4123944"/>
            <a:ext cx="5074920" cy="274320"/>
          </a:xfrm>
          <a:prstGeom prst="rect">
            <a:avLst/>
          </a:prstGeom>
          <a:noFill/>
          <a:ln/>
        </p:spPr>
        <p:txBody>
          <a:bodyPr wrap="square" lIns="0" tIns="0" rIns="0" bIns="0" rtlCol="0" anchor="ctr"/>
          <a:lstStyle/>
          <a:p>
            <a:pPr marL="0" indent="0">
              <a:buNone/>
            </a:pPr>
            <a:r>
              <a:rPr lang="en-US" sz="1150" b="1" dirty="0">
                <a:solidFill>
                  <a:srgbClr val="21295C"/>
                </a:solidFill>
                <a:latin typeface="Calibri" pitchFamily="34" charset="0"/>
                <a:ea typeface="Calibri" pitchFamily="34" charset="-122"/>
                <a:cs typeface="Calibri" pitchFamily="34" charset="-120"/>
              </a:rPr>
              <a:t>Layanan Internet</a:t>
            </a:r>
            <a:endParaRPr lang="en-US" sz="1150" dirty="0"/>
          </a:p>
        </p:txBody>
      </p:sp>
      <p:sp>
        <p:nvSpPr>
          <p:cNvPr id="32" name="Text 30"/>
          <p:cNvSpPr txBox="1"/>
          <p:nvPr/>
        </p:nvSpPr>
        <p:spPr>
          <a:xfrm>
            <a:off x="6382512" y="4398264"/>
            <a:ext cx="5074920" cy="384048"/>
          </a:xfrm>
          <a:prstGeom prst="rect">
            <a:avLst/>
          </a:prstGeom>
          <a:noFill/>
          <a:ln/>
        </p:spPr>
        <p:txBody>
          <a:bodyPr wrap="square" lIns="0" tIns="0" rIns="0" bIns="0" rtlCol="0" anchor="ctr"/>
          <a:lstStyle/>
          <a:p>
            <a:pPr marL="0" indent="0">
              <a:lnSpc>
                <a:spcPct val="110000"/>
              </a:lnSpc>
              <a:buNone/>
            </a:pPr>
            <a:r>
              <a:rPr lang="en-US" sz="930" dirty="0">
                <a:solidFill>
                  <a:srgbClr val="5C6B80"/>
                </a:solidFill>
                <a:latin typeface="Calibri" pitchFamily="34" charset="0"/>
                <a:ea typeface="Calibri" pitchFamily="34" charset="-122"/>
                <a:cs typeface="Calibri" pitchFamily="34" charset="-120"/>
              </a:rPr>
              <a:t>InternetService + 6 add-on (Security, Backup, Protection, Support, Streaming TV/Movies)</a:t>
            </a:r>
            <a:endParaRPr lang="en-US" sz="930" dirty="0"/>
          </a:p>
        </p:txBody>
      </p:sp>
      <p:sp>
        <p:nvSpPr>
          <p:cNvPr id="33" name="Shape 31"/>
          <p:cNvSpPr/>
          <p:nvPr/>
        </p:nvSpPr>
        <p:spPr>
          <a:xfrm>
            <a:off x="548640" y="4946904"/>
            <a:ext cx="5440680" cy="777240"/>
          </a:xfrm>
          <a:prstGeom prst="roundRect">
            <a:avLst>
              <a:gd name="adj" fmla="val 7059"/>
            </a:avLst>
          </a:prstGeom>
          <a:solidFill>
            <a:srgbClr val="F4F8FB"/>
          </a:solidFill>
          <a:ln w="9525">
            <a:solidFill>
              <a:srgbClr val="DCE6EF"/>
            </a:solidFill>
            <a:prstDash val="solid"/>
          </a:ln>
        </p:spPr>
      </p:sp>
      <p:sp>
        <p:nvSpPr>
          <p:cNvPr id="34" name="Text 32"/>
          <p:cNvSpPr txBox="1"/>
          <p:nvPr/>
        </p:nvSpPr>
        <p:spPr>
          <a:xfrm>
            <a:off x="731520" y="5020056"/>
            <a:ext cx="5074920" cy="274320"/>
          </a:xfrm>
          <a:prstGeom prst="rect">
            <a:avLst/>
          </a:prstGeom>
          <a:noFill/>
          <a:ln/>
        </p:spPr>
        <p:txBody>
          <a:bodyPr wrap="square" lIns="0" tIns="0" rIns="0" bIns="0" rtlCol="0" anchor="ctr"/>
          <a:lstStyle/>
          <a:p>
            <a:pPr marL="0" indent="0">
              <a:buNone/>
            </a:pPr>
            <a:r>
              <a:rPr lang="en-US" sz="1150" b="1" dirty="0">
                <a:solidFill>
                  <a:srgbClr val="21295C"/>
                </a:solidFill>
                <a:latin typeface="Calibri" pitchFamily="34" charset="0"/>
                <a:ea typeface="Calibri" pitchFamily="34" charset="-122"/>
                <a:cs typeface="Calibri" pitchFamily="34" charset="-120"/>
              </a:rPr>
              <a:t>Kontrak &amp; Billing</a:t>
            </a:r>
            <a:endParaRPr lang="en-US" sz="1150" dirty="0"/>
          </a:p>
        </p:txBody>
      </p:sp>
      <p:sp>
        <p:nvSpPr>
          <p:cNvPr id="35" name="Text 33"/>
          <p:cNvSpPr txBox="1"/>
          <p:nvPr/>
        </p:nvSpPr>
        <p:spPr>
          <a:xfrm>
            <a:off x="731520" y="5294376"/>
            <a:ext cx="5074920" cy="384048"/>
          </a:xfrm>
          <a:prstGeom prst="rect">
            <a:avLst/>
          </a:prstGeom>
          <a:noFill/>
          <a:ln/>
        </p:spPr>
        <p:txBody>
          <a:bodyPr wrap="square" lIns="0" tIns="0" rIns="0" bIns="0" rtlCol="0" anchor="ctr"/>
          <a:lstStyle/>
          <a:p>
            <a:pPr marL="0" indent="0">
              <a:lnSpc>
                <a:spcPct val="110000"/>
              </a:lnSpc>
              <a:buNone/>
            </a:pPr>
            <a:r>
              <a:rPr lang="en-US" sz="930" dirty="0">
                <a:solidFill>
                  <a:srgbClr val="5C6B80"/>
                </a:solidFill>
                <a:latin typeface="Calibri" pitchFamily="34" charset="0"/>
                <a:ea typeface="Calibri" pitchFamily="34" charset="-122"/>
                <a:cs typeface="Calibri" pitchFamily="34" charset="-120"/>
              </a:rPr>
              <a:t>Contract, PaperlessBilling, PaymentMethod</a:t>
            </a:r>
            <a:endParaRPr lang="en-US" sz="930" dirty="0"/>
          </a:p>
        </p:txBody>
      </p:sp>
      <p:sp>
        <p:nvSpPr>
          <p:cNvPr id="36" name="Shape 34"/>
          <p:cNvSpPr/>
          <p:nvPr/>
        </p:nvSpPr>
        <p:spPr>
          <a:xfrm>
            <a:off x="6199632" y="4946904"/>
            <a:ext cx="5440680" cy="777240"/>
          </a:xfrm>
          <a:prstGeom prst="roundRect">
            <a:avLst>
              <a:gd name="adj" fmla="val 7059"/>
            </a:avLst>
          </a:prstGeom>
          <a:solidFill>
            <a:srgbClr val="F4F8FB"/>
          </a:solidFill>
          <a:ln w="9525">
            <a:solidFill>
              <a:srgbClr val="DCE6EF"/>
            </a:solidFill>
            <a:prstDash val="solid"/>
          </a:ln>
        </p:spPr>
      </p:sp>
      <p:sp>
        <p:nvSpPr>
          <p:cNvPr id="37" name="Text 35"/>
          <p:cNvSpPr txBox="1"/>
          <p:nvPr/>
        </p:nvSpPr>
        <p:spPr>
          <a:xfrm>
            <a:off x="6382512" y="5020056"/>
            <a:ext cx="5074920" cy="274320"/>
          </a:xfrm>
          <a:prstGeom prst="rect">
            <a:avLst/>
          </a:prstGeom>
          <a:noFill/>
          <a:ln/>
        </p:spPr>
        <p:txBody>
          <a:bodyPr wrap="square" lIns="0" tIns="0" rIns="0" bIns="0" rtlCol="0" anchor="ctr"/>
          <a:lstStyle/>
          <a:p>
            <a:pPr marL="0" indent="0">
              <a:buNone/>
            </a:pPr>
            <a:r>
              <a:rPr lang="en-US" sz="1150" b="1" dirty="0">
                <a:solidFill>
                  <a:srgbClr val="21295C"/>
                </a:solidFill>
                <a:latin typeface="Calibri" pitchFamily="34" charset="0"/>
                <a:ea typeface="Calibri" pitchFamily="34" charset="-122"/>
                <a:cs typeface="Calibri" pitchFamily="34" charset="-120"/>
              </a:rPr>
              <a:t>Biaya &amp; Target</a:t>
            </a:r>
            <a:endParaRPr lang="en-US" sz="1150" dirty="0"/>
          </a:p>
        </p:txBody>
      </p:sp>
      <p:sp>
        <p:nvSpPr>
          <p:cNvPr id="38" name="Text 36"/>
          <p:cNvSpPr txBox="1"/>
          <p:nvPr/>
        </p:nvSpPr>
        <p:spPr>
          <a:xfrm>
            <a:off x="6382512" y="5294376"/>
            <a:ext cx="5074920" cy="384048"/>
          </a:xfrm>
          <a:prstGeom prst="rect">
            <a:avLst/>
          </a:prstGeom>
          <a:noFill/>
          <a:ln/>
        </p:spPr>
        <p:txBody>
          <a:bodyPr wrap="square" lIns="0" tIns="0" rIns="0" bIns="0" rtlCol="0" anchor="ctr"/>
          <a:lstStyle/>
          <a:p>
            <a:pPr marL="0" indent="0">
              <a:lnSpc>
                <a:spcPct val="110000"/>
              </a:lnSpc>
              <a:buNone/>
            </a:pPr>
            <a:r>
              <a:rPr lang="en-US" sz="930" dirty="0">
                <a:solidFill>
                  <a:srgbClr val="5C6B80"/>
                </a:solidFill>
                <a:latin typeface="Calibri" pitchFamily="34" charset="0"/>
                <a:ea typeface="Calibri" pitchFamily="34" charset="-122"/>
                <a:cs typeface="Calibri" pitchFamily="34" charset="-120"/>
              </a:rPr>
              <a:t>MonthlyCharges, TotalCharges, Churn</a:t>
            </a:r>
            <a:endParaRPr lang="en-US" sz="930" dirty="0"/>
          </a:p>
        </p:txBody>
      </p:sp>
      <p:sp>
        <p:nvSpPr>
          <p:cNvPr id="39" name="Text 37"/>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03 · Dataset Overview</a:t>
            </a:r>
            <a:endParaRPr lang="en-US" sz="850" dirty="0"/>
          </a:p>
        </p:txBody>
      </p:sp>
      <p:sp>
        <p:nvSpPr>
          <p:cNvPr id="40" name="Text 38"/>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5 / 16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04 · BIGQUERY / SQL</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Data Cleaning</a:t>
            </a:r>
            <a:endParaRPr lang="en-US" sz="2700" dirty="0"/>
          </a:p>
        </p:txBody>
      </p:sp>
      <p:sp>
        <p:nvSpPr>
          <p:cNvPr id="4" name="Shape 2"/>
          <p:cNvSpPr/>
          <p:nvPr/>
        </p:nvSpPr>
        <p:spPr>
          <a:xfrm>
            <a:off x="548640" y="1463040"/>
            <a:ext cx="3749040" cy="365760"/>
          </a:xfrm>
          <a:prstGeom prst="rect">
            <a:avLst/>
          </a:prstGeom>
          <a:solidFill>
            <a:srgbClr val="21295C"/>
          </a:solidFill>
          <a:ln/>
        </p:spPr>
      </p:sp>
      <p:sp>
        <p:nvSpPr>
          <p:cNvPr id="5" name="Text 3"/>
          <p:cNvSpPr txBox="1"/>
          <p:nvPr/>
        </p:nvSpPr>
        <p:spPr>
          <a:xfrm>
            <a:off x="658368" y="1463040"/>
            <a:ext cx="3566160"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Masalah</a:t>
            </a:r>
            <a:endParaRPr lang="en-US" sz="1050" dirty="0"/>
          </a:p>
        </p:txBody>
      </p:sp>
      <p:sp>
        <p:nvSpPr>
          <p:cNvPr id="6" name="Shape 4"/>
          <p:cNvSpPr/>
          <p:nvPr/>
        </p:nvSpPr>
        <p:spPr>
          <a:xfrm>
            <a:off x="4297680" y="1463040"/>
            <a:ext cx="2377440" cy="365760"/>
          </a:xfrm>
          <a:prstGeom prst="rect">
            <a:avLst/>
          </a:prstGeom>
          <a:solidFill>
            <a:srgbClr val="21295C"/>
          </a:solidFill>
          <a:ln/>
        </p:spPr>
      </p:sp>
      <p:sp>
        <p:nvSpPr>
          <p:cNvPr id="7" name="Text 5"/>
          <p:cNvSpPr txBox="1"/>
          <p:nvPr/>
        </p:nvSpPr>
        <p:spPr>
          <a:xfrm>
            <a:off x="4407408" y="1463040"/>
            <a:ext cx="2194560"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Baris Terdampak</a:t>
            </a:r>
            <a:endParaRPr lang="en-US" sz="1050" dirty="0"/>
          </a:p>
        </p:txBody>
      </p:sp>
      <p:sp>
        <p:nvSpPr>
          <p:cNvPr id="8" name="Shape 6"/>
          <p:cNvSpPr/>
          <p:nvPr/>
        </p:nvSpPr>
        <p:spPr>
          <a:xfrm>
            <a:off x="6675120" y="1463040"/>
            <a:ext cx="4965192" cy="365760"/>
          </a:xfrm>
          <a:prstGeom prst="rect">
            <a:avLst/>
          </a:prstGeom>
          <a:solidFill>
            <a:srgbClr val="21295C"/>
          </a:solidFill>
          <a:ln/>
        </p:spPr>
      </p:sp>
      <p:sp>
        <p:nvSpPr>
          <p:cNvPr id="9" name="Text 7"/>
          <p:cNvSpPr txBox="1"/>
          <p:nvPr/>
        </p:nvSpPr>
        <p:spPr>
          <a:xfrm>
            <a:off x="6784848" y="1463040"/>
            <a:ext cx="4782312" cy="365760"/>
          </a:xfrm>
          <a:prstGeom prst="rect">
            <a:avLst/>
          </a:prstGeom>
          <a:noFill/>
          <a:ln/>
        </p:spPr>
        <p:txBody>
          <a:bodyPr wrap="square" lIns="0" tIns="0" rIns="0" bIns="0" rtlCol="0" anchor="ctr"/>
          <a:lstStyle/>
          <a:p>
            <a:pPr marL="0" indent="0">
              <a:buNone/>
            </a:pPr>
            <a:r>
              <a:rPr lang="en-US" sz="1050" b="1" dirty="0">
                <a:solidFill>
                  <a:srgbClr val="FFFFFF"/>
                </a:solidFill>
                <a:latin typeface="Calibri" pitchFamily="34" charset="0"/>
                <a:ea typeface="Calibri" pitchFamily="34" charset="-122"/>
                <a:cs typeface="Calibri" pitchFamily="34" charset="-120"/>
              </a:rPr>
              <a:t>Tindakan</a:t>
            </a:r>
            <a:endParaRPr lang="en-US" sz="1050" dirty="0"/>
          </a:p>
        </p:txBody>
      </p:sp>
      <p:sp>
        <p:nvSpPr>
          <p:cNvPr id="10" name="Shape 8"/>
          <p:cNvSpPr/>
          <p:nvPr/>
        </p:nvSpPr>
        <p:spPr>
          <a:xfrm>
            <a:off x="548640" y="1828800"/>
            <a:ext cx="3749040" cy="457200"/>
          </a:xfrm>
          <a:prstGeom prst="rect">
            <a:avLst/>
          </a:prstGeom>
          <a:solidFill>
            <a:srgbClr val="FFFFFF"/>
          </a:solidFill>
          <a:ln w="6350">
            <a:solidFill>
              <a:srgbClr val="DCE6EF"/>
            </a:solidFill>
            <a:prstDash val="solid"/>
          </a:ln>
        </p:spPr>
      </p:sp>
      <p:sp>
        <p:nvSpPr>
          <p:cNvPr id="11" name="Text 9"/>
          <p:cNvSpPr txBox="1"/>
          <p:nvPr/>
        </p:nvSpPr>
        <p:spPr>
          <a:xfrm>
            <a:off x="658368" y="1828800"/>
            <a:ext cx="3566160" cy="457200"/>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TotalCharges string/kosong</a:t>
            </a:r>
            <a:endParaRPr lang="en-US" sz="970" dirty="0"/>
          </a:p>
        </p:txBody>
      </p:sp>
      <p:sp>
        <p:nvSpPr>
          <p:cNvPr id="12" name="Shape 10"/>
          <p:cNvSpPr/>
          <p:nvPr/>
        </p:nvSpPr>
        <p:spPr>
          <a:xfrm>
            <a:off x="4297680" y="1828800"/>
            <a:ext cx="2377440" cy="457200"/>
          </a:xfrm>
          <a:prstGeom prst="rect">
            <a:avLst/>
          </a:prstGeom>
          <a:solidFill>
            <a:srgbClr val="FFFFFF"/>
          </a:solidFill>
          <a:ln w="6350">
            <a:solidFill>
              <a:srgbClr val="DCE6EF"/>
            </a:solidFill>
            <a:prstDash val="solid"/>
          </a:ln>
        </p:spPr>
      </p:sp>
      <p:sp>
        <p:nvSpPr>
          <p:cNvPr id="13" name="Text 11"/>
          <p:cNvSpPr txBox="1"/>
          <p:nvPr/>
        </p:nvSpPr>
        <p:spPr>
          <a:xfrm>
            <a:off x="4407408" y="1828800"/>
            <a:ext cx="2194560" cy="457200"/>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11 baris (tenure=0)</a:t>
            </a:r>
            <a:endParaRPr lang="en-US" sz="970" dirty="0"/>
          </a:p>
        </p:txBody>
      </p:sp>
      <p:sp>
        <p:nvSpPr>
          <p:cNvPr id="14" name="Shape 12"/>
          <p:cNvSpPr/>
          <p:nvPr/>
        </p:nvSpPr>
        <p:spPr>
          <a:xfrm>
            <a:off x="6675120" y="1828800"/>
            <a:ext cx="4965192" cy="457200"/>
          </a:xfrm>
          <a:prstGeom prst="rect">
            <a:avLst/>
          </a:prstGeom>
          <a:solidFill>
            <a:srgbClr val="FFFFFF"/>
          </a:solidFill>
          <a:ln w="6350">
            <a:solidFill>
              <a:srgbClr val="DCE6EF"/>
            </a:solidFill>
            <a:prstDash val="solid"/>
          </a:ln>
        </p:spPr>
      </p:sp>
      <p:sp>
        <p:nvSpPr>
          <p:cNvPr id="15" name="Text 13"/>
          <p:cNvSpPr txBox="1"/>
          <p:nvPr/>
        </p:nvSpPr>
        <p:spPr>
          <a:xfrm>
            <a:off x="6784848" y="1828800"/>
            <a:ext cx="4782312" cy="457200"/>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Cast ke FLOAT64, kosong → 0.0</a:t>
            </a:r>
            <a:endParaRPr lang="en-US" sz="970" dirty="0"/>
          </a:p>
        </p:txBody>
      </p:sp>
      <p:sp>
        <p:nvSpPr>
          <p:cNvPr id="16" name="Shape 14"/>
          <p:cNvSpPr/>
          <p:nvPr/>
        </p:nvSpPr>
        <p:spPr>
          <a:xfrm>
            <a:off x="548640" y="2286000"/>
            <a:ext cx="3749040" cy="457200"/>
          </a:xfrm>
          <a:prstGeom prst="rect">
            <a:avLst/>
          </a:prstGeom>
          <a:solidFill>
            <a:srgbClr val="F4F8FB"/>
          </a:solidFill>
          <a:ln w="6350">
            <a:solidFill>
              <a:srgbClr val="DCE6EF"/>
            </a:solidFill>
            <a:prstDash val="solid"/>
          </a:ln>
        </p:spPr>
      </p:sp>
      <p:sp>
        <p:nvSpPr>
          <p:cNvPr id="17" name="Text 15"/>
          <p:cNvSpPr txBox="1"/>
          <p:nvPr/>
        </p:nvSpPr>
        <p:spPr>
          <a:xfrm>
            <a:off x="658368" y="2286000"/>
            <a:ext cx="3566160" cy="457200"/>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“No phone/internet service”</a:t>
            </a:r>
            <a:endParaRPr lang="en-US" sz="970" dirty="0"/>
          </a:p>
        </p:txBody>
      </p:sp>
      <p:sp>
        <p:nvSpPr>
          <p:cNvPr id="18" name="Shape 16"/>
          <p:cNvSpPr/>
          <p:nvPr/>
        </p:nvSpPr>
        <p:spPr>
          <a:xfrm>
            <a:off x="4297680" y="2286000"/>
            <a:ext cx="2377440" cy="457200"/>
          </a:xfrm>
          <a:prstGeom prst="rect">
            <a:avLst/>
          </a:prstGeom>
          <a:solidFill>
            <a:srgbClr val="F4F8FB"/>
          </a:solidFill>
          <a:ln w="6350">
            <a:solidFill>
              <a:srgbClr val="DCE6EF"/>
            </a:solidFill>
            <a:prstDash val="solid"/>
          </a:ln>
        </p:spPr>
      </p:sp>
      <p:sp>
        <p:nvSpPr>
          <p:cNvPr id="19" name="Text 17"/>
          <p:cNvSpPr txBox="1"/>
          <p:nvPr/>
        </p:nvSpPr>
        <p:spPr>
          <a:xfrm>
            <a:off x="4407408" y="2286000"/>
            <a:ext cx="2194560" cy="457200"/>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7 kolom terdampak</a:t>
            </a:r>
            <a:endParaRPr lang="en-US" sz="970" dirty="0"/>
          </a:p>
        </p:txBody>
      </p:sp>
      <p:sp>
        <p:nvSpPr>
          <p:cNvPr id="20" name="Shape 18"/>
          <p:cNvSpPr/>
          <p:nvPr/>
        </p:nvSpPr>
        <p:spPr>
          <a:xfrm>
            <a:off x="6675120" y="2286000"/>
            <a:ext cx="4965192" cy="457200"/>
          </a:xfrm>
          <a:prstGeom prst="rect">
            <a:avLst/>
          </a:prstGeom>
          <a:solidFill>
            <a:srgbClr val="F4F8FB"/>
          </a:solidFill>
          <a:ln w="6350">
            <a:solidFill>
              <a:srgbClr val="DCE6EF"/>
            </a:solidFill>
            <a:prstDash val="solid"/>
          </a:ln>
        </p:spPr>
      </p:sp>
      <p:sp>
        <p:nvSpPr>
          <p:cNvPr id="21" name="Text 19"/>
          <p:cNvSpPr txBox="1"/>
          <p:nvPr/>
        </p:nvSpPr>
        <p:spPr>
          <a:xfrm>
            <a:off x="6784848" y="2286000"/>
            <a:ext cx="4782312" cy="457200"/>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Diseragamkan menjadi “No”</a:t>
            </a:r>
            <a:endParaRPr lang="en-US" sz="970" dirty="0"/>
          </a:p>
        </p:txBody>
      </p:sp>
      <p:sp>
        <p:nvSpPr>
          <p:cNvPr id="22" name="Shape 20"/>
          <p:cNvSpPr/>
          <p:nvPr/>
        </p:nvSpPr>
        <p:spPr>
          <a:xfrm>
            <a:off x="548640" y="2743200"/>
            <a:ext cx="3749040" cy="457200"/>
          </a:xfrm>
          <a:prstGeom prst="rect">
            <a:avLst/>
          </a:prstGeom>
          <a:solidFill>
            <a:srgbClr val="FFFFFF"/>
          </a:solidFill>
          <a:ln w="6350">
            <a:solidFill>
              <a:srgbClr val="DCE6EF"/>
            </a:solidFill>
            <a:prstDash val="solid"/>
          </a:ln>
        </p:spPr>
      </p:sp>
      <p:sp>
        <p:nvSpPr>
          <p:cNvPr id="23" name="Text 21"/>
          <p:cNvSpPr txBox="1"/>
          <p:nvPr/>
        </p:nvSpPr>
        <p:spPr>
          <a:xfrm>
            <a:off x="658368" y="2743200"/>
            <a:ext cx="3566160" cy="457200"/>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SeniorCitizen format 0/1</a:t>
            </a:r>
            <a:endParaRPr lang="en-US" sz="970" dirty="0"/>
          </a:p>
        </p:txBody>
      </p:sp>
      <p:sp>
        <p:nvSpPr>
          <p:cNvPr id="24" name="Shape 22"/>
          <p:cNvSpPr/>
          <p:nvPr/>
        </p:nvSpPr>
        <p:spPr>
          <a:xfrm>
            <a:off x="4297680" y="2743200"/>
            <a:ext cx="2377440" cy="457200"/>
          </a:xfrm>
          <a:prstGeom prst="rect">
            <a:avLst/>
          </a:prstGeom>
          <a:solidFill>
            <a:srgbClr val="FFFFFF"/>
          </a:solidFill>
          <a:ln w="6350">
            <a:solidFill>
              <a:srgbClr val="DCE6EF"/>
            </a:solidFill>
            <a:prstDash val="solid"/>
          </a:ln>
        </p:spPr>
      </p:sp>
      <p:sp>
        <p:nvSpPr>
          <p:cNvPr id="25" name="Text 23"/>
          <p:cNvSpPr txBox="1"/>
          <p:nvPr/>
        </p:nvSpPr>
        <p:spPr>
          <a:xfrm>
            <a:off x="4407408" y="2743200"/>
            <a:ext cx="2194560" cy="457200"/>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Seluruh baris</a:t>
            </a:r>
            <a:endParaRPr lang="en-US" sz="970" dirty="0"/>
          </a:p>
        </p:txBody>
      </p:sp>
      <p:sp>
        <p:nvSpPr>
          <p:cNvPr id="26" name="Shape 24"/>
          <p:cNvSpPr/>
          <p:nvPr/>
        </p:nvSpPr>
        <p:spPr>
          <a:xfrm>
            <a:off x="6675120" y="2743200"/>
            <a:ext cx="4965192" cy="457200"/>
          </a:xfrm>
          <a:prstGeom prst="rect">
            <a:avLst/>
          </a:prstGeom>
          <a:solidFill>
            <a:srgbClr val="FFFFFF"/>
          </a:solidFill>
          <a:ln w="6350">
            <a:solidFill>
              <a:srgbClr val="DCE6EF"/>
            </a:solidFill>
            <a:prstDash val="solid"/>
          </a:ln>
        </p:spPr>
      </p:sp>
      <p:sp>
        <p:nvSpPr>
          <p:cNvPr id="27" name="Text 25"/>
          <p:cNvSpPr txBox="1"/>
          <p:nvPr/>
        </p:nvSpPr>
        <p:spPr>
          <a:xfrm>
            <a:off x="6784848" y="2743200"/>
            <a:ext cx="4782312" cy="457200"/>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Dikonversi ke Yes/No</a:t>
            </a:r>
            <a:endParaRPr lang="en-US" sz="970" dirty="0"/>
          </a:p>
        </p:txBody>
      </p:sp>
      <p:sp>
        <p:nvSpPr>
          <p:cNvPr id="28" name="Shape 26"/>
          <p:cNvSpPr/>
          <p:nvPr/>
        </p:nvSpPr>
        <p:spPr>
          <a:xfrm>
            <a:off x="548640" y="3200400"/>
            <a:ext cx="3749040" cy="457200"/>
          </a:xfrm>
          <a:prstGeom prst="rect">
            <a:avLst/>
          </a:prstGeom>
          <a:solidFill>
            <a:srgbClr val="F4F8FB"/>
          </a:solidFill>
          <a:ln w="6350">
            <a:solidFill>
              <a:srgbClr val="DCE6EF"/>
            </a:solidFill>
            <a:prstDash val="solid"/>
          </a:ln>
        </p:spPr>
      </p:sp>
      <p:sp>
        <p:nvSpPr>
          <p:cNvPr id="29" name="Text 27"/>
          <p:cNvSpPr txBox="1"/>
          <p:nvPr/>
        </p:nvSpPr>
        <p:spPr>
          <a:xfrm>
            <a:off x="658368" y="3200400"/>
            <a:ext cx="3566160" cy="457200"/>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Auto-convert ke BOOL (BigQuery)</a:t>
            </a:r>
            <a:endParaRPr lang="en-US" sz="970" dirty="0"/>
          </a:p>
        </p:txBody>
      </p:sp>
      <p:sp>
        <p:nvSpPr>
          <p:cNvPr id="30" name="Shape 28"/>
          <p:cNvSpPr/>
          <p:nvPr/>
        </p:nvSpPr>
        <p:spPr>
          <a:xfrm>
            <a:off x="4297680" y="3200400"/>
            <a:ext cx="2377440" cy="457200"/>
          </a:xfrm>
          <a:prstGeom prst="rect">
            <a:avLst/>
          </a:prstGeom>
          <a:solidFill>
            <a:srgbClr val="F4F8FB"/>
          </a:solidFill>
          <a:ln w="6350">
            <a:solidFill>
              <a:srgbClr val="DCE6EF"/>
            </a:solidFill>
            <a:prstDash val="solid"/>
          </a:ln>
        </p:spPr>
      </p:sp>
      <p:sp>
        <p:nvSpPr>
          <p:cNvPr id="31" name="Text 29"/>
          <p:cNvSpPr txBox="1"/>
          <p:nvPr/>
        </p:nvSpPr>
        <p:spPr>
          <a:xfrm>
            <a:off x="4407408" y="3200400"/>
            <a:ext cx="2194560" cy="457200"/>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5 kolom</a:t>
            </a:r>
            <a:endParaRPr lang="en-US" sz="970" dirty="0"/>
          </a:p>
        </p:txBody>
      </p:sp>
      <p:sp>
        <p:nvSpPr>
          <p:cNvPr id="32" name="Shape 30"/>
          <p:cNvSpPr/>
          <p:nvPr/>
        </p:nvSpPr>
        <p:spPr>
          <a:xfrm>
            <a:off x="6675120" y="3200400"/>
            <a:ext cx="4965192" cy="457200"/>
          </a:xfrm>
          <a:prstGeom prst="rect">
            <a:avLst/>
          </a:prstGeom>
          <a:solidFill>
            <a:srgbClr val="F4F8FB"/>
          </a:solidFill>
          <a:ln w="6350">
            <a:solidFill>
              <a:srgbClr val="DCE6EF"/>
            </a:solidFill>
            <a:prstDash val="solid"/>
          </a:ln>
        </p:spPr>
      </p:sp>
      <p:sp>
        <p:nvSpPr>
          <p:cNvPr id="33" name="Text 31"/>
          <p:cNvSpPr txBox="1"/>
          <p:nvPr/>
        </p:nvSpPr>
        <p:spPr>
          <a:xfrm>
            <a:off x="6784848" y="3200400"/>
            <a:ext cx="4782312" cy="457200"/>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Dikembalikan ke string Yes/No</a:t>
            </a:r>
            <a:endParaRPr lang="en-US" sz="970" dirty="0"/>
          </a:p>
        </p:txBody>
      </p:sp>
      <p:sp>
        <p:nvSpPr>
          <p:cNvPr id="34" name="Shape 32"/>
          <p:cNvSpPr/>
          <p:nvPr/>
        </p:nvSpPr>
        <p:spPr>
          <a:xfrm>
            <a:off x="548640" y="3822192"/>
            <a:ext cx="11091672" cy="1143000"/>
          </a:xfrm>
          <a:prstGeom prst="roundRect">
            <a:avLst>
              <a:gd name="adj" fmla="val 4000"/>
            </a:avLst>
          </a:prstGeom>
          <a:solidFill>
            <a:srgbClr val="1A2332"/>
          </a:solidFill>
          <a:ln/>
        </p:spPr>
      </p:sp>
      <p:sp>
        <p:nvSpPr>
          <p:cNvPr id="35" name="Text 33"/>
          <p:cNvSpPr txBox="1"/>
          <p:nvPr/>
        </p:nvSpPr>
        <p:spPr>
          <a:xfrm>
            <a:off x="777240" y="3950208"/>
            <a:ext cx="10607040" cy="868680"/>
          </a:xfrm>
          <a:prstGeom prst="rect">
            <a:avLst/>
          </a:prstGeom>
          <a:noFill/>
          <a:ln/>
        </p:spPr>
        <p:txBody>
          <a:bodyPr wrap="square" lIns="0" tIns="0" rIns="0" bIns="0" rtlCol="0" anchor="ctr"/>
          <a:lstStyle/>
          <a:p>
            <a:pPr marL="0" indent="0">
              <a:lnSpc>
                <a:spcPct val="130000"/>
              </a:lnSpc>
              <a:buNone/>
            </a:pPr>
            <a:r>
              <a:rPr lang="en-US" sz="950" dirty="0">
                <a:solidFill>
                  <a:srgbClr val="E3ECF5"/>
                </a:solidFill>
                <a:latin typeface="Courier New" pitchFamily="34" charset="0"/>
                <a:ea typeface="Courier New" pitchFamily="34" charset="-122"/>
                <a:cs typeface="Courier New" pitchFamily="34" charset="-120"/>
              </a:rPr>
              <a:t>CASE WHEN CAST(SeniorCitizen AS STRING) = '1' THEN 'Yes' ELSE 'No' END AS SeniorCitizen</a:t>
            </a:r>
            <a:endParaRPr lang="en-US" sz="950" dirty="0"/>
          </a:p>
          <a:p>
            <a:pPr marL="0" indent="0">
              <a:lnSpc>
                <a:spcPct val="130000"/>
              </a:lnSpc>
              <a:buNone/>
            </a:pPr>
            <a:r>
              <a:rPr lang="en-US" sz="950" dirty="0">
                <a:solidFill>
                  <a:srgbClr val="E3ECF5"/>
                </a:solidFill>
                <a:latin typeface="Courier New" pitchFamily="34" charset="0"/>
                <a:ea typeface="Courier New" pitchFamily="34" charset="-122"/>
                <a:cs typeface="Courier New" pitchFamily="34" charset="-120"/>
              </a:rPr>
              <a:t>CASE WHEN MultipleLines = 'No phone service' THEN 'No' ELSE MultipleLines END AS MultipleLines</a:t>
            </a:r>
            <a:endParaRPr lang="en-US" sz="950" dirty="0"/>
          </a:p>
        </p:txBody>
      </p:sp>
      <p:sp>
        <p:nvSpPr>
          <p:cNvPr id="36" name="Shape 34"/>
          <p:cNvSpPr/>
          <p:nvPr/>
        </p:nvSpPr>
        <p:spPr>
          <a:xfrm>
            <a:off x="548640" y="5120640"/>
            <a:ext cx="11091672" cy="1005840"/>
          </a:xfrm>
          <a:prstGeom prst="roundRect">
            <a:avLst>
              <a:gd name="adj" fmla="val 5455"/>
            </a:avLst>
          </a:prstGeom>
          <a:solidFill>
            <a:srgbClr val="FDECEA"/>
          </a:solidFill>
          <a:ln/>
        </p:spPr>
      </p:sp>
      <p:sp>
        <p:nvSpPr>
          <p:cNvPr id="37" name="Shape 35"/>
          <p:cNvSpPr/>
          <p:nvPr/>
        </p:nvSpPr>
        <p:spPr>
          <a:xfrm>
            <a:off x="548640" y="5120640"/>
            <a:ext cx="54864" cy="1005840"/>
          </a:xfrm>
          <a:prstGeom prst="rect">
            <a:avLst/>
          </a:prstGeom>
          <a:solidFill>
            <a:srgbClr val="C0392B"/>
          </a:solidFill>
          <a:ln/>
        </p:spPr>
      </p:sp>
      <p:sp>
        <p:nvSpPr>
          <p:cNvPr id="38" name="Text 36"/>
          <p:cNvSpPr txBox="1"/>
          <p:nvPr/>
        </p:nvSpPr>
        <p:spPr>
          <a:xfrm>
            <a:off x="731520" y="5193792"/>
            <a:ext cx="10725912" cy="228600"/>
          </a:xfrm>
          <a:prstGeom prst="rect">
            <a:avLst/>
          </a:prstGeom>
          <a:noFill/>
          <a:ln/>
        </p:spPr>
        <p:txBody>
          <a:bodyPr wrap="square" lIns="0" tIns="0" rIns="0" bIns="0" rtlCol="0" anchor="ctr"/>
          <a:lstStyle/>
          <a:p>
            <a:pPr marL="0" indent="0">
              <a:buNone/>
            </a:pPr>
            <a:r>
              <a:rPr lang="en-US" sz="850" b="1" kern="0" spc="50" dirty="0">
                <a:solidFill>
                  <a:srgbClr val="C0392B"/>
                </a:solidFill>
                <a:latin typeface="Calibri" pitchFamily="34" charset="0"/>
                <a:ea typeface="Calibri" pitchFamily="34" charset="-122"/>
                <a:cs typeface="Calibri" pitchFamily="34" charset="-120"/>
              </a:rPr>
              <a:t>CATATAN ENGINEERING — IDEMPOTENCY</a:t>
            </a:r>
            <a:endParaRPr lang="en-US" sz="850" dirty="0"/>
          </a:p>
        </p:txBody>
      </p:sp>
      <p:sp>
        <p:nvSpPr>
          <p:cNvPr id="39" name="Text 37"/>
          <p:cNvSpPr txBox="1"/>
          <p:nvPr/>
        </p:nvSpPr>
        <p:spPr>
          <a:xfrm>
            <a:off x="731520" y="5413248"/>
            <a:ext cx="10725912" cy="621792"/>
          </a:xfrm>
          <a:prstGeom prst="rect">
            <a:avLst/>
          </a:prstGeom>
          <a:noFill/>
          <a:ln/>
        </p:spPr>
        <p:txBody>
          <a:bodyPr wrap="square" lIns="0" tIns="0" rIns="0" bIns="0" rtlCol="0" anchor="t"/>
          <a:lstStyle/>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Kondisi = '1' hanya valid saat dijalankan pertama kali. Jika di-run ulang pada data yang sudah bersih (‘Yes’/‘No’), seluruh nilai ‘Yes’ berisiko berubah jadi ‘No’ secara diam-diam. Perbaikan: gunakan IN ('1','Yes') agar query aman dijalankan berulang.</a:t>
            </a:r>
            <a:endParaRPr lang="en-US" sz="1050" dirty="0"/>
          </a:p>
        </p:txBody>
      </p:sp>
      <p:sp>
        <p:nvSpPr>
          <p:cNvPr id="40" name="Text 38"/>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04 · Data Cleaning</a:t>
            </a:r>
            <a:endParaRPr lang="en-US" sz="850" dirty="0"/>
          </a:p>
        </p:txBody>
      </p:sp>
      <p:sp>
        <p:nvSpPr>
          <p:cNvPr id="41" name="Text 39"/>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6 / 16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05 · BIGQUERY / SQL</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Feature Engineering</a:t>
            </a:r>
            <a:endParaRPr lang="en-US" sz="2700" dirty="0"/>
          </a:p>
        </p:txBody>
      </p:sp>
      <p:sp>
        <p:nvSpPr>
          <p:cNvPr id="4" name="Shape 2"/>
          <p:cNvSpPr/>
          <p:nvPr/>
        </p:nvSpPr>
        <p:spPr>
          <a:xfrm>
            <a:off x="548640" y="1463040"/>
            <a:ext cx="2651760" cy="475488"/>
          </a:xfrm>
          <a:prstGeom prst="rect">
            <a:avLst/>
          </a:prstGeom>
          <a:solidFill>
            <a:srgbClr val="FFFFFF"/>
          </a:solidFill>
          <a:ln w="6350">
            <a:solidFill>
              <a:srgbClr val="DCE6EF"/>
            </a:solidFill>
            <a:prstDash val="solid"/>
          </a:ln>
        </p:spPr>
      </p:sp>
      <p:sp>
        <p:nvSpPr>
          <p:cNvPr id="5" name="Text 3"/>
          <p:cNvSpPr txBox="1"/>
          <p:nvPr/>
        </p:nvSpPr>
        <p:spPr>
          <a:xfrm>
            <a:off x="658368" y="1463040"/>
            <a:ext cx="2468880" cy="475488"/>
          </a:xfrm>
          <a:prstGeom prst="rect">
            <a:avLst/>
          </a:prstGeom>
          <a:noFill/>
          <a:ln/>
        </p:spPr>
        <p:txBody>
          <a:bodyPr wrap="square" lIns="0" tIns="0" rIns="0" bIns="0" rtlCol="0" anchor="ctr"/>
          <a:lstStyle/>
          <a:p>
            <a:pPr marL="0" indent="0">
              <a:buNone/>
            </a:pPr>
            <a:r>
              <a:rPr lang="en-US" sz="1050" b="1" dirty="0">
                <a:solidFill>
                  <a:srgbClr val="21295C"/>
                </a:solidFill>
                <a:latin typeface="Calibri" pitchFamily="34" charset="0"/>
                <a:ea typeface="Calibri" pitchFamily="34" charset="-122"/>
                <a:cs typeface="Calibri" pitchFamily="34" charset="-120"/>
              </a:rPr>
              <a:t>TenureGroup</a:t>
            </a:r>
            <a:endParaRPr lang="en-US" sz="1050" dirty="0"/>
          </a:p>
        </p:txBody>
      </p:sp>
      <p:sp>
        <p:nvSpPr>
          <p:cNvPr id="6" name="Shape 4"/>
          <p:cNvSpPr/>
          <p:nvPr/>
        </p:nvSpPr>
        <p:spPr>
          <a:xfrm>
            <a:off x="3200400" y="1463040"/>
            <a:ext cx="4114800" cy="475488"/>
          </a:xfrm>
          <a:prstGeom prst="rect">
            <a:avLst/>
          </a:prstGeom>
          <a:solidFill>
            <a:srgbClr val="FFFFFF"/>
          </a:solidFill>
          <a:ln w="6350">
            <a:solidFill>
              <a:srgbClr val="DCE6EF"/>
            </a:solidFill>
            <a:prstDash val="solid"/>
          </a:ln>
        </p:spPr>
      </p:sp>
      <p:sp>
        <p:nvSpPr>
          <p:cNvPr id="7" name="Text 5"/>
          <p:cNvSpPr txBox="1"/>
          <p:nvPr/>
        </p:nvSpPr>
        <p:spPr>
          <a:xfrm>
            <a:off x="3310128" y="1463040"/>
            <a:ext cx="3931920" cy="475488"/>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5 bucket lama berlangganan</a:t>
            </a:r>
            <a:endParaRPr lang="en-US" sz="970" dirty="0"/>
          </a:p>
        </p:txBody>
      </p:sp>
      <p:sp>
        <p:nvSpPr>
          <p:cNvPr id="8" name="Shape 6"/>
          <p:cNvSpPr/>
          <p:nvPr/>
        </p:nvSpPr>
        <p:spPr>
          <a:xfrm>
            <a:off x="7315200" y="1463040"/>
            <a:ext cx="4325112" cy="475488"/>
          </a:xfrm>
          <a:prstGeom prst="rect">
            <a:avLst/>
          </a:prstGeom>
          <a:solidFill>
            <a:srgbClr val="FFFFFF"/>
          </a:solidFill>
          <a:ln w="6350">
            <a:solidFill>
              <a:srgbClr val="DCE6EF"/>
            </a:solidFill>
            <a:prstDash val="solid"/>
          </a:ln>
        </p:spPr>
      </p:sp>
      <p:sp>
        <p:nvSpPr>
          <p:cNvPr id="9" name="Text 7"/>
          <p:cNvSpPr txBox="1"/>
          <p:nvPr/>
        </p:nvSpPr>
        <p:spPr>
          <a:xfrm>
            <a:off x="7424928" y="1463040"/>
            <a:ext cx="4142232" cy="475488"/>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Analisis cohort loyalitas</a:t>
            </a:r>
            <a:endParaRPr lang="en-US" sz="970" dirty="0"/>
          </a:p>
        </p:txBody>
      </p:sp>
      <p:sp>
        <p:nvSpPr>
          <p:cNvPr id="10" name="Shape 8"/>
          <p:cNvSpPr/>
          <p:nvPr/>
        </p:nvSpPr>
        <p:spPr>
          <a:xfrm>
            <a:off x="548640" y="1938528"/>
            <a:ext cx="2651760" cy="475488"/>
          </a:xfrm>
          <a:prstGeom prst="rect">
            <a:avLst/>
          </a:prstGeom>
          <a:solidFill>
            <a:srgbClr val="F4F8FB"/>
          </a:solidFill>
          <a:ln w="6350">
            <a:solidFill>
              <a:srgbClr val="DCE6EF"/>
            </a:solidFill>
            <a:prstDash val="solid"/>
          </a:ln>
        </p:spPr>
      </p:sp>
      <p:sp>
        <p:nvSpPr>
          <p:cNvPr id="11" name="Text 9"/>
          <p:cNvSpPr txBox="1"/>
          <p:nvPr/>
        </p:nvSpPr>
        <p:spPr>
          <a:xfrm>
            <a:off x="658368" y="1938528"/>
            <a:ext cx="2468880" cy="475488"/>
          </a:xfrm>
          <a:prstGeom prst="rect">
            <a:avLst/>
          </a:prstGeom>
          <a:noFill/>
          <a:ln/>
        </p:spPr>
        <p:txBody>
          <a:bodyPr wrap="square" lIns="0" tIns="0" rIns="0" bIns="0" rtlCol="0" anchor="ctr"/>
          <a:lstStyle/>
          <a:p>
            <a:pPr marL="0" indent="0">
              <a:buNone/>
            </a:pPr>
            <a:r>
              <a:rPr lang="en-US" sz="1050" b="1" dirty="0">
                <a:solidFill>
                  <a:srgbClr val="21295C"/>
                </a:solidFill>
                <a:latin typeface="Calibri" pitchFamily="34" charset="0"/>
                <a:ea typeface="Calibri" pitchFamily="34" charset="-122"/>
                <a:cs typeface="Calibri" pitchFamily="34" charset="-120"/>
              </a:rPr>
              <a:t>ChargeSegment</a:t>
            </a:r>
            <a:endParaRPr lang="en-US" sz="1050" dirty="0"/>
          </a:p>
        </p:txBody>
      </p:sp>
      <p:sp>
        <p:nvSpPr>
          <p:cNvPr id="12" name="Shape 10"/>
          <p:cNvSpPr/>
          <p:nvPr/>
        </p:nvSpPr>
        <p:spPr>
          <a:xfrm>
            <a:off x="3200400" y="1938528"/>
            <a:ext cx="4114800" cy="475488"/>
          </a:xfrm>
          <a:prstGeom prst="rect">
            <a:avLst/>
          </a:prstGeom>
          <a:solidFill>
            <a:srgbClr val="F4F8FB"/>
          </a:solidFill>
          <a:ln w="6350">
            <a:solidFill>
              <a:srgbClr val="DCE6EF"/>
            </a:solidFill>
            <a:prstDash val="solid"/>
          </a:ln>
        </p:spPr>
      </p:sp>
      <p:sp>
        <p:nvSpPr>
          <p:cNvPr id="13" name="Text 11"/>
          <p:cNvSpPr txBox="1"/>
          <p:nvPr/>
        </p:nvSpPr>
        <p:spPr>
          <a:xfrm>
            <a:off x="3310128" y="1938528"/>
            <a:ext cx="3931920" cy="475488"/>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Low / Medium / High Value</a:t>
            </a:r>
            <a:endParaRPr lang="en-US" sz="970" dirty="0"/>
          </a:p>
        </p:txBody>
      </p:sp>
      <p:sp>
        <p:nvSpPr>
          <p:cNvPr id="14" name="Shape 12"/>
          <p:cNvSpPr/>
          <p:nvPr/>
        </p:nvSpPr>
        <p:spPr>
          <a:xfrm>
            <a:off x="7315200" y="1938528"/>
            <a:ext cx="4325112" cy="475488"/>
          </a:xfrm>
          <a:prstGeom prst="rect">
            <a:avLst/>
          </a:prstGeom>
          <a:solidFill>
            <a:srgbClr val="F4F8FB"/>
          </a:solidFill>
          <a:ln w="6350">
            <a:solidFill>
              <a:srgbClr val="DCE6EF"/>
            </a:solidFill>
            <a:prstDash val="solid"/>
          </a:ln>
        </p:spPr>
      </p:sp>
      <p:sp>
        <p:nvSpPr>
          <p:cNvPr id="15" name="Text 13"/>
          <p:cNvSpPr txBox="1"/>
          <p:nvPr/>
        </p:nvSpPr>
        <p:spPr>
          <a:xfrm>
            <a:off x="7424928" y="1938528"/>
            <a:ext cx="4142232" cy="475488"/>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Segmentasi daya beli pelanggan</a:t>
            </a:r>
            <a:endParaRPr lang="en-US" sz="970" dirty="0"/>
          </a:p>
        </p:txBody>
      </p:sp>
      <p:sp>
        <p:nvSpPr>
          <p:cNvPr id="16" name="Shape 14"/>
          <p:cNvSpPr/>
          <p:nvPr/>
        </p:nvSpPr>
        <p:spPr>
          <a:xfrm>
            <a:off x="548640" y="2414016"/>
            <a:ext cx="2651760" cy="475488"/>
          </a:xfrm>
          <a:prstGeom prst="rect">
            <a:avLst/>
          </a:prstGeom>
          <a:solidFill>
            <a:srgbClr val="FFFFFF"/>
          </a:solidFill>
          <a:ln w="6350">
            <a:solidFill>
              <a:srgbClr val="DCE6EF"/>
            </a:solidFill>
            <a:prstDash val="solid"/>
          </a:ln>
        </p:spPr>
      </p:sp>
      <p:sp>
        <p:nvSpPr>
          <p:cNvPr id="17" name="Text 15"/>
          <p:cNvSpPr txBox="1"/>
          <p:nvPr/>
        </p:nvSpPr>
        <p:spPr>
          <a:xfrm>
            <a:off x="658368" y="2414016"/>
            <a:ext cx="2468880" cy="475488"/>
          </a:xfrm>
          <a:prstGeom prst="rect">
            <a:avLst/>
          </a:prstGeom>
          <a:noFill/>
          <a:ln/>
        </p:spPr>
        <p:txBody>
          <a:bodyPr wrap="square" lIns="0" tIns="0" rIns="0" bIns="0" rtlCol="0" anchor="ctr"/>
          <a:lstStyle/>
          <a:p>
            <a:pPr marL="0" indent="0">
              <a:buNone/>
            </a:pPr>
            <a:r>
              <a:rPr lang="en-US" sz="1050" b="1" dirty="0">
                <a:solidFill>
                  <a:srgbClr val="21295C"/>
                </a:solidFill>
                <a:latin typeface="Calibri" pitchFamily="34" charset="0"/>
                <a:ea typeface="Calibri" pitchFamily="34" charset="-122"/>
                <a:cs typeface="Calibri" pitchFamily="34" charset="-120"/>
              </a:rPr>
              <a:t>AutoPayFlag</a:t>
            </a:r>
            <a:endParaRPr lang="en-US" sz="1050" dirty="0"/>
          </a:p>
        </p:txBody>
      </p:sp>
      <p:sp>
        <p:nvSpPr>
          <p:cNvPr id="18" name="Shape 16"/>
          <p:cNvSpPr/>
          <p:nvPr/>
        </p:nvSpPr>
        <p:spPr>
          <a:xfrm>
            <a:off x="3200400" y="2414016"/>
            <a:ext cx="4114800" cy="475488"/>
          </a:xfrm>
          <a:prstGeom prst="rect">
            <a:avLst/>
          </a:prstGeom>
          <a:solidFill>
            <a:srgbClr val="FFFFFF"/>
          </a:solidFill>
          <a:ln w="6350">
            <a:solidFill>
              <a:srgbClr val="DCE6EF"/>
            </a:solidFill>
            <a:prstDash val="solid"/>
          </a:ln>
        </p:spPr>
      </p:sp>
      <p:sp>
        <p:nvSpPr>
          <p:cNvPr id="19" name="Text 17"/>
          <p:cNvSpPr txBox="1"/>
          <p:nvPr/>
        </p:nvSpPr>
        <p:spPr>
          <a:xfrm>
            <a:off x="3310128" y="2414016"/>
            <a:ext cx="3931920" cy="475488"/>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Auto Pay vs Manual Pay</a:t>
            </a:r>
            <a:endParaRPr lang="en-US" sz="970" dirty="0"/>
          </a:p>
        </p:txBody>
      </p:sp>
      <p:sp>
        <p:nvSpPr>
          <p:cNvPr id="20" name="Shape 18"/>
          <p:cNvSpPr/>
          <p:nvPr/>
        </p:nvSpPr>
        <p:spPr>
          <a:xfrm>
            <a:off x="7315200" y="2414016"/>
            <a:ext cx="4325112" cy="475488"/>
          </a:xfrm>
          <a:prstGeom prst="rect">
            <a:avLst/>
          </a:prstGeom>
          <a:solidFill>
            <a:srgbClr val="FFFFFF"/>
          </a:solidFill>
          <a:ln w="6350">
            <a:solidFill>
              <a:srgbClr val="DCE6EF"/>
            </a:solidFill>
            <a:prstDash val="solid"/>
          </a:ln>
        </p:spPr>
      </p:sp>
      <p:sp>
        <p:nvSpPr>
          <p:cNvPr id="21" name="Text 19"/>
          <p:cNvSpPr txBox="1"/>
          <p:nvPr/>
        </p:nvSpPr>
        <p:spPr>
          <a:xfrm>
            <a:off x="7424928" y="2414016"/>
            <a:ext cx="4142232" cy="475488"/>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Uji hipotesis retensi via autodebet</a:t>
            </a:r>
            <a:endParaRPr lang="en-US" sz="970" dirty="0"/>
          </a:p>
        </p:txBody>
      </p:sp>
      <p:sp>
        <p:nvSpPr>
          <p:cNvPr id="22" name="Shape 20"/>
          <p:cNvSpPr/>
          <p:nvPr/>
        </p:nvSpPr>
        <p:spPr>
          <a:xfrm>
            <a:off x="548640" y="2889504"/>
            <a:ext cx="2651760" cy="475488"/>
          </a:xfrm>
          <a:prstGeom prst="rect">
            <a:avLst/>
          </a:prstGeom>
          <a:solidFill>
            <a:srgbClr val="F4F8FB"/>
          </a:solidFill>
          <a:ln w="6350">
            <a:solidFill>
              <a:srgbClr val="DCE6EF"/>
            </a:solidFill>
            <a:prstDash val="solid"/>
          </a:ln>
        </p:spPr>
      </p:sp>
      <p:sp>
        <p:nvSpPr>
          <p:cNvPr id="23" name="Text 21"/>
          <p:cNvSpPr txBox="1"/>
          <p:nvPr/>
        </p:nvSpPr>
        <p:spPr>
          <a:xfrm>
            <a:off x="658368" y="2889504"/>
            <a:ext cx="2468880" cy="475488"/>
          </a:xfrm>
          <a:prstGeom prst="rect">
            <a:avLst/>
          </a:prstGeom>
          <a:noFill/>
          <a:ln/>
        </p:spPr>
        <p:txBody>
          <a:bodyPr wrap="square" lIns="0" tIns="0" rIns="0" bIns="0" rtlCol="0" anchor="ctr"/>
          <a:lstStyle/>
          <a:p>
            <a:pPr marL="0" indent="0">
              <a:buNone/>
            </a:pPr>
            <a:r>
              <a:rPr lang="en-US" sz="1050" b="1" dirty="0">
                <a:solidFill>
                  <a:srgbClr val="21295C"/>
                </a:solidFill>
                <a:latin typeface="Calibri" pitchFamily="34" charset="0"/>
                <a:ea typeface="Calibri" pitchFamily="34" charset="-122"/>
                <a:cs typeface="Calibri" pitchFamily="34" charset="-120"/>
              </a:rPr>
              <a:t>TotalAddOns</a:t>
            </a:r>
            <a:endParaRPr lang="en-US" sz="1050" dirty="0"/>
          </a:p>
        </p:txBody>
      </p:sp>
      <p:sp>
        <p:nvSpPr>
          <p:cNvPr id="24" name="Shape 22"/>
          <p:cNvSpPr/>
          <p:nvPr/>
        </p:nvSpPr>
        <p:spPr>
          <a:xfrm>
            <a:off x="3200400" y="2889504"/>
            <a:ext cx="4114800" cy="475488"/>
          </a:xfrm>
          <a:prstGeom prst="rect">
            <a:avLst/>
          </a:prstGeom>
          <a:solidFill>
            <a:srgbClr val="F4F8FB"/>
          </a:solidFill>
          <a:ln w="6350">
            <a:solidFill>
              <a:srgbClr val="DCE6EF"/>
            </a:solidFill>
            <a:prstDash val="solid"/>
          </a:ln>
        </p:spPr>
      </p:sp>
      <p:sp>
        <p:nvSpPr>
          <p:cNvPr id="25" name="Text 23"/>
          <p:cNvSpPr txBox="1"/>
          <p:nvPr/>
        </p:nvSpPr>
        <p:spPr>
          <a:xfrm>
            <a:off x="3310128" y="2889504"/>
            <a:ext cx="3931920" cy="475488"/>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Jumlah layanan tambahan (maks. 6)</a:t>
            </a:r>
            <a:endParaRPr lang="en-US" sz="970" dirty="0"/>
          </a:p>
        </p:txBody>
      </p:sp>
      <p:sp>
        <p:nvSpPr>
          <p:cNvPr id="26" name="Shape 24"/>
          <p:cNvSpPr/>
          <p:nvPr/>
        </p:nvSpPr>
        <p:spPr>
          <a:xfrm>
            <a:off x="7315200" y="2889504"/>
            <a:ext cx="4325112" cy="475488"/>
          </a:xfrm>
          <a:prstGeom prst="rect">
            <a:avLst/>
          </a:prstGeom>
          <a:solidFill>
            <a:srgbClr val="F4F8FB"/>
          </a:solidFill>
          <a:ln w="6350">
            <a:solidFill>
              <a:srgbClr val="DCE6EF"/>
            </a:solidFill>
            <a:prstDash val="solid"/>
          </a:ln>
        </p:spPr>
      </p:sp>
      <p:sp>
        <p:nvSpPr>
          <p:cNvPr id="27" name="Text 25"/>
          <p:cNvSpPr txBox="1"/>
          <p:nvPr/>
        </p:nvSpPr>
        <p:spPr>
          <a:xfrm>
            <a:off x="7424928" y="2889504"/>
            <a:ext cx="4142232" cy="475488"/>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Proxy switching cost pelanggan</a:t>
            </a:r>
            <a:endParaRPr lang="en-US" sz="970" dirty="0"/>
          </a:p>
        </p:txBody>
      </p:sp>
      <p:sp>
        <p:nvSpPr>
          <p:cNvPr id="28" name="Shape 26"/>
          <p:cNvSpPr/>
          <p:nvPr/>
        </p:nvSpPr>
        <p:spPr>
          <a:xfrm>
            <a:off x="548640" y="3364992"/>
            <a:ext cx="2651760" cy="475488"/>
          </a:xfrm>
          <a:prstGeom prst="rect">
            <a:avLst/>
          </a:prstGeom>
          <a:solidFill>
            <a:srgbClr val="FFFFFF"/>
          </a:solidFill>
          <a:ln w="6350">
            <a:solidFill>
              <a:srgbClr val="DCE6EF"/>
            </a:solidFill>
            <a:prstDash val="solid"/>
          </a:ln>
        </p:spPr>
      </p:sp>
      <p:sp>
        <p:nvSpPr>
          <p:cNvPr id="29" name="Text 27"/>
          <p:cNvSpPr txBox="1"/>
          <p:nvPr/>
        </p:nvSpPr>
        <p:spPr>
          <a:xfrm>
            <a:off x="658368" y="3364992"/>
            <a:ext cx="2468880" cy="475488"/>
          </a:xfrm>
          <a:prstGeom prst="rect">
            <a:avLst/>
          </a:prstGeom>
          <a:noFill/>
          <a:ln/>
        </p:spPr>
        <p:txBody>
          <a:bodyPr wrap="square" lIns="0" tIns="0" rIns="0" bIns="0" rtlCol="0" anchor="ctr"/>
          <a:lstStyle/>
          <a:p>
            <a:pPr marL="0" indent="0">
              <a:buNone/>
            </a:pPr>
            <a:r>
              <a:rPr lang="en-US" sz="1050" b="1" dirty="0">
                <a:solidFill>
                  <a:srgbClr val="21295C"/>
                </a:solidFill>
                <a:latin typeface="Calibri" pitchFamily="34" charset="0"/>
                <a:ea typeface="Calibri" pitchFamily="34" charset="-122"/>
                <a:cs typeface="Calibri" pitchFamily="34" charset="-120"/>
              </a:rPr>
              <a:t>HasProtectionBundle</a:t>
            </a:r>
            <a:endParaRPr lang="en-US" sz="1050" dirty="0"/>
          </a:p>
        </p:txBody>
      </p:sp>
      <p:sp>
        <p:nvSpPr>
          <p:cNvPr id="30" name="Shape 28"/>
          <p:cNvSpPr/>
          <p:nvPr/>
        </p:nvSpPr>
        <p:spPr>
          <a:xfrm>
            <a:off x="3200400" y="3364992"/>
            <a:ext cx="4114800" cy="475488"/>
          </a:xfrm>
          <a:prstGeom prst="rect">
            <a:avLst/>
          </a:prstGeom>
          <a:solidFill>
            <a:srgbClr val="FFFFFF"/>
          </a:solidFill>
          <a:ln w="6350">
            <a:solidFill>
              <a:srgbClr val="DCE6EF"/>
            </a:solidFill>
            <a:prstDash val="solid"/>
          </a:ln>
        </p:spPr>
      </p:sp>
      <p:sp>
        <p:nvSpPr>
          <p:cNvPr id="31" name="Text 29"/>
          <p:cNvSpPr txBox="1"/>
          <p:nvPr/>
        </p:nvSpPr>
        <p:spPr>
          <a:xfrm>
            <a:off x="3310128" y="3364992"/>
            <a:ext cx="3931920" cy="475488"/>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Punya Security/Tech Support</a:t>
            </a:r>
            <a:endParaRPr lang="en-US" sz="970" dirty="0"/>
          </a:p>
        </p:txBody>
      </p:sp>
      <p:sp>
        <p:nvSpPr>
          <p:cNvPr id="32" name="Shape 30"/>
          <p:cNvSpPr/>
          <p:nvPr/>
        </p:nvSpPr>
        <p:spPr>
          <a:xfrm>
            <a:off x="7315200" y="3364992"/>
            <a:ext cx="4325112" cy="475488"/>
          </a:xfrm>
          <a:prstGeom prst="rect">
            <a:avLst/>
          </a:prstGeom>
          <a:solidFill>
            <a:srgbClr val="FFFFFF"/>
          </a:solidFill>
          <a:ln w="6350">
            <a:solidFill>
              <a:srgbClr val="DCE6EF"/>
            </a:solidFill>
            <a:prstDash val="solid"/>
          </a:ln>
        </p:spPr>
      </p:sp>
      <p:sp>
        <p:nvSpPr>
          <p:cNvPr id="33" name="Text 31"/>
          <p:cNvSpPr txBox="1"/>
          <p:nvPr/>
        </p:nvSpPr>
        <p:spPr>
          <a:xfrm>
            <a:off x="7424928" y="3364992"/>
            <a:ext cx="4142232" cy="475488"/>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Uji hipotesis layanan pelindung</a:t>
            </a:r>
            <a:endParaRPr lang="en-US" sz="970" dirty="0"/>
          </a:p>
        </p:txBody>
      </p:sp>
      <p:sp>
        <p:nvSpPr>
          <p:cNvPr id="34" name="Shape 32"/>
          <p:cNvSpPr/>
          <p:nvPr/>
        </p:nvSpPr>
        <p:spPr>
          <a:xfrm>
            <a:off x="548640" y="3840480"/>
            <a:ext cx="2651760" cy="475488"/>
          </a:xfrm>
          <a:prstGeom prst="rect">
            <a:avLst/>
          </a:prstGeom>
          <a:solidFill>
            <a:srgbClr val="F4F8FB"/>
          </a:solidFill>
          <a:ln w="6350">
            <a:solidFill>
              <a:srgbClr val="DCE6EF"/>
            </a:solidFill>
            <a:prstDash val="solid"/>
          </a:ln>
        </p:spPr>
      </p:sp>
      <p:sp>
        <p:nvSpPr>
          <p:cNvPr id="35" name="Text 33"/>
          <p:cNvSpPr txBox="1"/>
          <p:nvPr/>
        </p:nvSpPr>
        <p:spPr>
          <a:xfrm>
            <a:off x="658368" y="3840480"/>
            <a:ext cx="2468880" cy="475488"/>
          </a:xfrm>
          <a:prstGeom prst="rect">
            <a:avLst/>
          </a:prstGeom>
          <a:noFill/>
          <a:ln/>
        </p:spPr>
        <p:txBody>
          <a:bodyPr wrap="square" lIns="0" tIns="0" rIns="0" bIns="0" rtlCol="0" anchor="ctr"/>
          <a:lstStyle/>
          <a:p>
            <a:pPr marL="0" indent="0">
              <a:buNone/>
            </a:pPr>
            <a:r>
              <a:rPr lang="en-US" sz="1050" b="1" dirty="0">
                <a:solidFill>
                  <a:srgbClr val="21295C"/>
                </a:solidFill>
                <a:latin typeface="Calibri" pitchFamily="34" charset="0"/>
                <a:ea typeface="Calibri" pitchFamily="34" charset="-122"/>
                <a:cs typeface="Calibri" pitchFamily="34" charset="-120"/>
              </a:rPr>
              <a:t>ChurnFlag</a:t>
            </a:r>
            <a:endParaRPr lang="en-US" sz="1050" dirty="0"/>
          </a:p>
        </p:txBody>
      </p:sp>
      <p:sp>
        <p:nvSpPr>
          <p:cNvPr id="36" name="Shape 34"/>
          <p:cNvSpPr/>
          <p:nvPr/>
        </p:nvSpPr>
        <p:spPr>
          <a:xfrm>
            <a:off x="3200400" y="3840480"/>
            <a:ext cx="4114800" cy="475488"/>
          </a:xfrm>
          <a:prstGeom prst="rect">
            <a:avLst/>
          </a:prstGeom>
          <a:solidFill>
            <a:srgbClr val="F4F8FB"/>
          </a:solidFill>
          <a:ln w="6350">
            <a:solidFill>
              <a:srgbClr val="DCE6EF"/>
            </a:solidFill>
            <a:prstDash val="solid"/>
          </a:ln>
        </p:spPr>
      </p:sp>
      <p:sp>
        <p:nvSpPr>
          <p:cNvPr id="37" name="Text 35"/>
          <p:cNvSpPr txBox="1"/>
          <p:nvPr/>
        </p:nvSpPr>
        <p:spPr>
          <a:xfrm>
            <a:off x="3310128" y="3840480"/>
            <a:ext cx="3931920" cy="475488"/>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1/0 dari Churn Yes/No</a:t>
            </a:r>
            <a:endParaRPr lang="en-US" sz="970" dirty="0"/>
          </a:p>
        </p:txBody>
      </p:sp>
      <p:sp>
        <p:nvSpPr>
          <p:cNvPr id="38" name="Shape 36"/>
          <p:cNvSpPr/>
          <p:nvPr/>
        </p:nvSpPr>
        <p:spPr>
          <a:xfrm>
            <a:off x="7315200" y="3840480"/>
            <a:ext cx="4325112" cy="475488"/>
          </a:xfrm>
          <a:prstGeom prst="rect">
            <a:avLst/>
          </a:prstGeom>
          <a:solidFill>
            <a:srgbClr val="F4F8FB"/>
          </a:solidFill>
          <a:ln w="6350">
            <a:solidFill>
              <a:srgbClr val="DCE6EF"/>
            </a:solidFill>
            <a:prstDash val="solid"/>
          </a:ln>
        </p:spPr>
      </p:sp>
      <p:sp>
        <p:nvSpPr>
          <p:cNvPr id="39" name="Text 37"/>
          <p:cNvSpPr txBox="1"/>
          <p:nvPr/>
        </p:nvSpPr>
        <p:spPr>
          <a:xfrm>
            <a:off x="7424928" y="3840480"/>
            <a:ext cx="4142232" cy="475488"/>
          </a:xfrm>
          <a:prstGeom prst="rect">
            <a:avLst/>
          </a:prstGeom>
          <a:noFill/>
          <a:ln/>
        </p:spPr>
        <p:txBody>
          <a:bodyPr wrap="square" lIns="0" tIns="0" rIns="0" bIns="0" rtlCol="0" anchor="ctr"/>
          <a:lstStyle/>
          <a:p>
            <a:pPr marL="0" indent="0">
              <a:buNone/>
            </a:pPr>
            <a:r>
              <a:rPr lang="en-US" sz="970" dirty="0">
                <a:solidFill>
                  <a:srgbClr val="1B2430"/>
                </a:solidFill>
                <a:latin typeface="Calibri" pitchFamily="34" charset="0"/>
                <a:ea typeface="Calibri" pitchFamily="34" charset="-122"/>
                <a:cs typeface="Calibri" pitchFamily="34" charset="-120"/>
              </a:rPr>
              <a:t>Mempermudah agregasi churn rate</a:t>
            </a:r>
            <a:endParaRPr lang="en-US" sz="970" dirty="0"/>
          </a:p>
        </p:txBody>
      </p:sp>
      <p:sp>
        <p:nvSpPr>
          <p:cNvPr id="40" name="Shape 38"/>
          <p:cNvSpPr/>
          <p:nvPr/>
        </p:nvSpPr>
        <p:spPr>
          <a:xfrm>
            <a:off x="548640" y="4498848"/>
            <a:ext cx="11091672" cy="1417320"/>
          </a:xfrm>
          <a:prstGeom prst="roundRect">
            <a:avLst>
              <a:gd name="adj" fmla="val 3871"/>
            </a:avLst>
          </a:prstGeom>
          <a:solidFill>
            <a:srgbClr val="EAF6EE"/>
          </a:solidFill>
          <a:ln/>
        </p:spPr>
      </p:sp>
      <p:sp>
        <p:nvSpPr>
          <p:cNvPr id="41" name="Shape 39"/>
          <p:cNvSpPr/>
          <p:nvPr/>
        </p:nvSpPr>
        <p:spPr>
          <a:xfrm>
            <a:off x="548640" y="4498848"/>
            <a:ext cx="54864" cy="1417320"/>
          </a:xfrm>
          <a:prstGeom prst="rect">
            <a:avLst/>
          </a:prstGeom>
          <a:solidFill>
            <a:srgbClr val="2E8B57"/>
          </a:solidFill>
          <a:ln/>
        </p:spPr>
      </p:sp>
      <p:sp>
        <p:nvSpPr>
          <p:cNvPr id="42" name="Text 40"/>
          <p:cNvSpPr txBox="1"/>
          <p:nvPr/>
        </p:nvSpPr>
        <p:spPr>
          <a:xfrm>
            <a:off x="731520" y="4572000"/>
            <a:ext cx="10725912" cy="228600"/>
          </a:xfrm>
          <a:prstGeom prst="rect">
            <a:avLst/>
          </a:prstGeom>
          <a:noFill/>
          <a:ln/>
        </p:spPr>
        <p:txBody>
          <a:bodyPr wrap="square" lIns="0" tIns="0" rIns="0" bIns="0" rtlCol="0" anchor="ctr"/>
          <a:lstStyle/>
          <a:p>
            <a:pPr marL="0" indent="0">
              <a:buNone/>
            </a:pPr>
            <a:r>
              <a:rPr lang="en-US" sz="850" b="1" kern="0" spc="50" dirty="0">
                <a:solidFill>
                  <a:srgbClr val="2E8B57"/>
                </a:solidFill>
                <a:latin typeface="Calibri" pitchFamily="34" charset="0"/>
                <a:ea typeface="Calibri" pitchFamily="34" charset="-122"/>
                <a:cs typeface="Calibri" pitchFamily="34" charset="-120"/>
              </a:rPr>
              <a:t>CHARGELOGICVALIDATION — DITAMBAHKAN</a:t>
            </a:r>
            <a:endParaRPr lang="en-US" sz="850" dirty="0"/>
          </a:p>
        </p:txBody>
      </p:sp>
      <p:sp>
        <p:nvSpPr>
          <p:cNvPr id="43" name="Text 41"/>
          <p:cNvSpPr txBox="1"/>
          <p:nvPr/>
        </p:nvSpPr>
        <p:spPr>
          <a:xfrm>
            <a:off x="731520" y="4791456"/>
            <a:ext cx="10725912" cy="1033272"/>
          </a:xfrm>
          <a:prstGeom prst="rect">
            <a:avLst/>
          </a:prstGeom>
          <a:noFill/>
          <a:ln/>
        </p:spPr>
        <p:txBody>
          <a:bodyPr wrap="square" lIns="0" tIns="0" rIns="0" bIns="0" rtlCol="0" anchor="t"/>
          <a:lstStyle/>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Flag anomali |TotalCharges − (tenure × MonthlyCharges)| &gt; 50, dilaporkan lewat query GROUP BY ChargeLogicValidation. Proporsi “Normal” vs “Anomali” dicantumkan sebagai catatan data quality — bukan dihitung lalu dibiarkan tak terpakai.</a:t>
            </a:r>
            <a:endParaRPr lang="en-US" sz="1050" dirty="0"/>
          </a:p>
        </p:txBody>
      </p:sp>
      <p:sp>
        <p:nvSpPr>
          <p:cNvPr id="44" name="Text 42"/>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05 · Feature Engineering</a:t>
            </a:r>
            <a:endParaRPr lang="en-US" sz="850" dirty="0"/>
          </a:p>
        </p:txBody>
      </p:sp>
      <p:sp>
        <p:nvSpPr>
          <p:cNvPr id="45" name="Text 43"/>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7 / 16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06 · PYTHON</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Data Profiling &amp; Class Balance</a:t>
            </a:r>
            <a:endParaRPr lang="en-US" sz="2700" dirty="0"/>
          </a:p>
        </p:txBody>
      </p:sp>
      <p:pic>
        <p:nvPicPr>
          <p:cNvPr id="4" name="Image 0" descr="/home/claude/imgs/cell_04_1.png"/>
          <p:cNvPicPr>
            <a:picLocks noChangeAspect="1"/>
          </p:cNvPicPr>
          <p:nvPr/>
        </p:nvPicPr>
        <p:blipFill>
          <a:blip r:embed="rId3"/>
          <a:stretch>
            <a:fillRect/>
          </a:stretch>
        </p:blipFill>
        <p:spPr>
          <a:xfrm>
            <a:off x="548640" y="1463040"/>
            <a:ext cx="4572000" cy="3918857"/>
          </a:xfrm>
          <a:prstGeom prst="rect">
            <a:avLst/>
          </a:prstGeom>
        </p:spPr>
      </p:pic>
      <p:sp>
        <p:nvSpPr>
          <p:cNvPr id="5" name="Text 2"/>
          <p:cNvSpPr txBox="1"/>
          <p:nvPr/>
        </p:nvSpPr>
        <p:spPr>
          <a:xfrm>
            <a:off x="548640" y="5427617"/>
            <a:ext cx="4572000" cy="274320"/>
          </a:xfrm>
          <a:prstGeom prst="rect">
            <a:avLst/>
          </a:prstGeom>
          <a:noFill/>
          <a:ln/>
        </p:spPr>
        <p:txBody>
          <a:bodyPr wrap="square" lIns="0" tIns="0" rIns="0" bIns="0" rtlCol="0" anchor="ctr"/>
          <a:lstStyle/>
          <a:p>
            <a:pPr marL="0" indent="0" algn="ctr">
              <a:buNone/>
            </a:pPr>
            <a:r>
              <a:rPr lang="en-US" sz="900" i="1" dirty="0">
                <a:solidFill>
                  <a:srgbClr val="5C6B80"/>
                </a:solidFill>
                <a:latin typeface="Calibri" pitchFamily="34" charset="0"/>
                <a:ea typeface="Calibri" pitchFamily="34" charset="-122"/>
                <a:cs typeface="Calibri" pitchFamily="34" charset="-120"/>
              </a:rPr>
              <a:t>Distribusi Churn vs Retained pada 7.043 pelanggan</a:t>
            </a:r>
            <a:endParaRPr lang="en-US" sz="900" dirty="0"/>
          </a:p>
        </p:txBody>
      </p:sp>
      <p:sp>
        <p:nvSpPr>
          <p:cNvPr id="6" name="Shape 3"/>
          <p:cNvSpPr/>
          <p:nvPr/>
        </p:nvSpPr>
        <p:spPr>
          <a:xfrm>
            <a:off x="5577840" y="1463040"/>
            <a:ext cx="6062472" cy="1554480"/>
          </a:xfrm>
          <a:prstGeom prst="roundRect">
            <a:avLst>
              <a:gd name="adj" fmla="val 3529"/>
            </a:avLst>
          </a:prstGeom>
          <a:solidFill>
            <a:srgbClr val="EAF6EE"/>
          </a:solidFill>
          <a:ln/>
        </p:spPr>
      </p:sp>
      <p:sp>
        <p:nvSpPr>
          <p:cNvPr id="7" name="Shape 4"/>
          <p:cNvSpPr/>
          <p:nvPr/>
        </p:nvSpPr>
        <p:spPr>
          <a:xfrm>
            <a:off x="5577840" y="1463040"/>
            <a:ext cx="54864" cy="1554480"/>
          </a:xfrm>
          <a:prstGeom prst="rect">
            <a:avLst/>
          </a:prstGeom>
          <a:solidFill>
            <a:srgbClr val="2E8B57"/>
          </a:solidFill>
          <a:ln/>
        </p:spPr>
      </p:sp>
      <p:sp>
        <p:nvSpPr>
          <p:cNvPr id="8" name="Text 5"/>
          <p:cNvSpPr txBox="1"/>
          <p:nvPr/>
        </p:nvSpPr>
        <p:spPr>
          <a:xfrm>
            <a:off x="5760720" y="1536192"/>
            <a:ext cx="5696712" cy="228600"/>
          </a:xfrm>
          <a:prstGeom prst="rect">
            <a:avLst/>
          </a:prstGeom>
          <a:noFill/>
          <a:ln/>
        </p:spPr>
        <p:txBody>
          <a:bodyPr wrap="square" lIns="0" tIns="0" rIns="0" bIns="0" rtlCol="0" anchor="ctr"/>
          <a:lstStyle/>
          <a:p>
            <a:pPr marL="0" indent="0">
              <a:buNone/>
            </a:pPr>
            <a:r>
              <a:rPr lang="en-US" sz="850" b="1" kern="0" spc="50" dirty="0">
                <a:solidFill>
                  <a:srgbClr val="2E8B57"/>
                </a:solidFill>
                <a:latin typeface="Calibri" pitchFamily="34" charset="0"/>
                <a:ea typeface="Calibri" pitchFamily="34" charset="-122"/>
                <a:cs typeface="Calibri" pitchFamily="34" charset="-120"/>
              </a:rPr>
              <a:t>HASIL PENGECEKAN STRUKTUR</a:t>
            </a:r>
            <a:endParaRPr lang="en-US" sz="850" dirty="0"/>
          </a:p>
        </p:txBody>
      </p:sp>
      <p:sp>
        <p:nvSpPr>
          <p:cNvPr id="9" name="Text 6"/>
          <p:cNvSpPr txBox="1"/>
          <p:nvPr/>
        </p:nvSpPr>
        <p:spPr>
          <a:xfrm>
            <a:off x="5760720" y="1755648"/>
            <a:ext cx="5696712" cy="1170432"/>
          </a:xfrm>
          <a:prstGeom prst="rect">
            <a:avLst/>
          </a:prstGeom>
          <a:noFill/>
          <a:ln/>
        </p:spPr>
        <p:txBody>
          <a:bodyPr wrap="square" lIns="0" tIns="0" rIns="0" bIns="0" rtlCol="0" anchor="t"/>
          <a:lstStyle/>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7.043 baris, 28 kolom (21 asli + 7 hasil feature engineering) — konsisten dengan output SQL. Missing value: 0 di seluruh kolom — membuktikan cleaning TotalCharges berhasil menutup seluruh celah.</a:t>
            </a:r>
            <a:endParaRPr lang="en-US" sz="1050" dirty="0"/>
          </a:p>
        </p:txBody>
      </p:sp>
      <p:sp>
        <p:nvSpPr>
          <p:cNvPr id="10" name="Shape 7"/>
          <p:cNvSpPr/>
          <p:nvPr/>
        </p:nvSpPr>
        <p:spPr>
          <a:xfrm>
            <a:off x="5577840" y="3154680"/>
            <a:ext cx="6062472" cy="1737360"/>
          </a:xfrm>
          <a:prstGeom prst="roundRect">
            <a:avLst>
              <a:gd name="adj" fmla="val 3158"/>
            </a:avLst>
          </a:prstGeom>
          <a:solidFill>
            <a:srgbClr val="FDF3E7"/>
          </a:solidFill>
          <a:ln/>
        </p:spPr>
      </p:sp>
      <p:sp>
        <p:nvSpPr>
          <p:cNvPr id="11" name="Shape 8"/>
          <p:cNvSpPr/>
          <p:nvPr/>
        </p:nvSpPr>
        <p:spPr>
          <a:xfrm>
            <a:off x="5577840" y="3154680"/>
            <a:ext cx="54864" cy="1737360"/>
          </a:xfrm>
          <a:prstGeom prst="rect">
            <a:avLst/>
          </a:prstGeom>
          <a:solidFill>
            <a:srgbClr val="D9822B"/>
          </a:solidFill>
          <a:ln/>
        </p:spPr>
      </p:sp>
      <p:sp>
        <p:nvSpPr>
          <p:cNvPr id="12" name="Text 9"/>
          <p:cNvSpPr txBox="1"/>
          <p:nvPr/>
        </p:nvSpPr>
        <p:spPr>
          <a:xfrm>
            <a:off x="5760720" y="3227832"/>
            <a:ext cx="5696712" cy="228600"/>
          </a:xfrm>
          <a:prstGeom prst="rect">
            <a:avLst/>
          </a:prstGeom>
          <a:noFill/>
          <a:ln/>
        </p:spPr>
        <p:txBody>
          <a:bodyPr wrap="square" lIns="0" tIns="0" rIns="0" bIns="0" rtlCol="0" anchor="ctr"/>
          <a:lstStyle/>
          <a:p>
            <a:pPr marL="0" indent="0">
              <a:buNone/>
            </a:pPr>
            <a:r>
              <a:rPr lang="en-US" sz="850" b="1" kern="0" spc="50" dirty="0">
                <a:solidFill>
                  <a:srgbClr val="D9822B"/>
                </a:solidFill>
                <a:latin typeface="Calibri" pitchFamily="34" charset="0"/>
                <a:ea typeface="Calibri" pitchFamily="34" charset="-122"/>
                <a:cs typeface="Calibri" pitchFamily="34" charset="-120"/>
              </a:rPr>
              <a:t>CATATAN — DATA IMBALANCED</a:t>
            </a:r>
            <a:endParaRPr lang="en-US" sz="850" dirty="0"/>
          </a:p>
        </p:txBody>
      </p:sp>
      <p:sp>
        <p:nvSpPr>
          <p:cNvPr id="13" name="Text 10"/>
          <p:cNvSpPr txBox="1"/>
          <p:nvPr/>
        </p:nvSpPr>
        <p:spPr>
          <a:xfrm>
            <a:off x="5760720" y="3447288"/>
            <a:ext cx="5696712" cy="1353312"/>
          </a:xfrm>
          <a:prstGeom prst="rect">
            <a:avLst/>
          </a:prstGeom>
          <a:noFill/>
          <a:ln/>
        </p:spPr>
        <p:txBody>
          <a:bodyPr wrap="square" lIns="0" tIns="0" rIns="0" bIns="0" rtlCol="0" anchor="t"/>
          <a:lstStyle/>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Proporsi Churn 26,54% berbanding Retained 73,46% menunjukkan data imbalanced. Penting untuk tahap predictive modeling (Bagian 08) — perlu penanganan khusus (scale_pos_weight) agar model tidak bias ke kelas mayoritas.</a:t>
            </a:r>
            <a:endParaRPr lang="en-US" sz="1050" dirty="0"/>
          </a:p>
        </p:txBody>
      </p:sp>
      <p:sp>
        <p:nvSpPr>
          <p:cNvPr id="14" name="Shape 11"/>
          <p:cNvSpPr/>
          <p:nvPr/>
        </p:nvSpPr>
        <p:spPr>
          <a:xfrm>
            <a:off x="5577840" y="5029200"/>
            <a:ext cx="6062472" cy="1143000"/>
          </a:xfrm>
          <a:prstGeom prst="roundRect">
            <a:avLst>
              <a:gd name="adj" fmla="val 4800"/>
            </a:avLst>
          </a:prstGeom>
          <a:solidFill>
            <a:srgbClr val="EAF6EE"/>
          </a:solidFill>
          <a:ln/>
        </p:spPr>
      </p:sp>
      <p:sp>
        <p:nvSpPr>
          <p:cNvPr id="15" name="Shape 12"/>
          <p:cNvSpPr/>
          <p:nvPr/>
        </p:nvSpPr>
        <p:spPr>
          <a:xfrm>
            <a:off x="5577840" y="5029200"/>
            <a:ext cx="54864" cy="1143000"/>
          </a:xfrm>
          <a:prstGeom prst="rect">
            <a:avLst/>
          </a:prstGeom>
          <a:solidFill>
            <a:srgbClr val="2E8B57"/>
          </a:solidFill>
          <a:ln/>
        </p:spPr>
      </p:sp>
      <p:sp>
        <p:nvSpPr>
          <p:cNvPr id="16" name="Text 13"/>
          <p:cNvSpPr txBox="1"/>
          <p:nvPr/>
        </p:nvSpPr>
        <p:spPr>
          <a:xfrm>
            <a:off x="5760720" y="5102352"/>
            <a:ext cx="5696712" cy="228600"/>
          </a:xfrm>
          <a:prstGeom prst="rect">
            <a:avLst/>
          </a:prstGeom>
          <a:noFill/>
          <a:ln/>
        </p:spPr>
        <p:txBody>
          <a:bodyPr wrap="square" lIns="0" tIns="0" rIns="0" bIns="0" rtlCol="0" anchor="ctr"/>
          <a:lstStyle/>
          <a:p>
            <a:pPr marL="0" indent="0">
              <a:buNone/>
            </a:pPr>
            <a:r>
              <a:rPr lang="en-US" sz="850" b="1" kern="0" spc="50" dirty="0">
                <a:solidFill>
                  <a:srgbClr val="2E8B57"/>
                </a:solidFill>
                <a:latin typeface="Calibri" pitchFamily="34" charset="0"/>
                <a:ea typeface="Calibri" pitchFamily="34" charset="-122"/>
                <a:cs typeface="Calibri" pitchFamily="34" charset="-120"/>
              </a:rPr>
              <a:t>TIPE DATA</a:t>
            </a:r>
            <a:endParaRPr lang="en-US" sz="850" dirty="0"/>
          </a:p>
        </p:txBody>
      </p:sp>
      <p:sp>
        <p:nvSpPr>
          <p:cNvPr id="17" name="Text 14"/>
          <p:cNvSpPr txBox="1"/>
          <p:nvPr/>
        </p:nvSpPr>
        <p:spPr>
          <a:xfrm>
            <a:off x="5760720" y="5321808"/>
            <a:ext cx="5696712" cy="758952"/>
          </a:xfrm>
          <a:prstGeom prst="rect">
            <a:avLst/>
          </a:prstGeom>
          <a:noFill/>
          <a:ln/>
        </p:spPr>
        <p:txBody>
          <a:bodyPr wrap="square" lIns="0" tIns="0" rIns="0" bIns="0" rtlCol="0" anchor="t"/>
          <a:lstStyle/>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tenure, MonthlyCharges, TotalCharges sudah benar sebagai int64/float64, bukan lagi object/string — hasil cleaning di BigQuery terbawa sempurna ke Python.</a:t>
            </a:r>
            <a:endParaRPr lang="en-US" sz="1050" dirty="0"/>
          </a:p>
        </p:txBody>
      </p:sp>
      <p:sp>
        <p:nvSpPr>
          <p:cNvPr id="18" name="Text 15"/>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06 · Data Profiling</a:t>
            </a:r>
            <a:endParaRPr lang="en-US" sz="850" dirty="0"/>
          </a:p>
        </p:txBody>
      </p:sp>
      <p:sp>
        <p:nvSpPr>
          <p:cNvPr id="19" name="Text 16"/>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8 / 16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07.2 · PYTHON</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EDA — Bivariate: Driver Utama Churn</a:t>
            </a:r>
            <a:endParaRPr lang="en-US" sz="2700" dirty="0"/>
          </a:p>
        </p:txBody>
      </p:sp>
      <p:pic>
        <p:nvPicPr>
          <p:cNvPr id="4" name="Image 0" descr="/home/claude/imgs/cell_10_0.png"/>
          <p:cNvPicPr>
            <a:picLocks noChangeAspect="1"/>
          </p:cNvPicPr>
          <p:nvPr/>
        </p:nvPicPr>
        <p:blipFill>
          <a:blip r:embed="rId3"/>
          <a:stretch>
            <a:fillRect/>
          </a:stretch>
        </p:blipFill>
        <p:spPr>
          <a:xfrm>
            <a:off x="548640" y="1417320"/>
            <a:ext cx="6219240" cy="4663440"/>
          </a:xfrm>
          <a:prstGeom prst="rect">
            <a:avLst/>
          </a:prstGeom>
        </p:spPr>
      </p:pic>
      <p:sp>
        <p:nvSpPr>
          <p:cNvPr id="5" name="Text 2"/>
          <p:cNvSpPr txBox="1"/>
          <p:nvPr/>
        </p:nvSpPr>
        <p:spPr>
          <a:xfrm>
            <a:off x="7772400" y="1417320"/>
            <a:ext cx="3867912" cy="274320"/>
          </a:xfrm>
          <a:prstGeom prst="rect">
            <a:avLst/>
          </a:prstGeom>
          <a:noFill/>
          <a:ln/>
        </p:spPr>
        <p:txBody>
          <a:bodyPr wrap="square" lIns="0" tIns="0" rIns="0" bIns="0" rtlCol="0" anchor="ctr"/>
          <a:lstStyle/>
          <a:p>
            <a:pPr marL="0" indent="0">
              <a:buNone/>
            </a:pPr>
            <a:r>
              <a:rPr lang="en-US" sz="1050" b="1" kern="0" spc="100" dirty="0">
                <a:solidFill>
                  <a:srgbClr val="1C7293"/>
                </a:solidFill>
                <a:latin typeface="Calibri" pitchFamily="34" charset="0"/>
                <a:ea typeface="Calibri" pitchFamily="34" charset="-122"/>
                <a:cs typeface="Calibri" pitchFamily="34" charset="-120"/>
              </a:rPr>
              <a:t>INSIGHT</a:t>
            </a:r>
            <a:endParaRPr lang="en-US" sz="1050" dirty="0"/>
          </a:p>
        </p:txBody>
      </p:sp>
      <p:sp>
        <p:nvSpPr>
          <p:cNvPr id="6" name="Text 3"/>
          <p:cNvSpPr txBox="1"/>
          <p:nvPr/>
        </p:nvSpPr>
        <p:spPr>
          <a:xfrm>
            <a:off x="7772400" y="1737360"/>
            <a:ext cx="3867912" cy="274320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150" dirty="0">
                <a:solidFill>
                  <a:srgbClr val="1B2430"/>
                </a:solidFill>
                <a:latin typeface="Calibri" pitchFamily="34" charset="0"/>
                <a:ea typeface="Calibri" pitchFamily="34" charset="-122"/>
                <a:cs typeface="Calibri" pitchFamily="34" charset="-120"/>
              </a:rPr>
              <a:t>Contract Month-to-month: churn jauh lebih tinggi dari One/Two year.</a:t>
            </a:r>
            <a:endParaRPr lang="en-US" sz="1150" dirty="0"/>
          </a:p>
          <a:p>
            <a:pPr marL="342900" indent="-342900">
              <a:lnSpc>
                <a:spcPct val="120000"/>
              </a:lnSpc>
              <a:spcAft>
                <a:spcPts val="1000"/>
              </a:spcAft>
              <a:buSzPct val="100000"/>
              <a:buChar char="•"/>
            </a:pPr>
            <a:r>
              <a:rPr lang="en-US" sz="1150" dirty="0">
                <a:solidFill>
                  <a:srgbClr val="1B2430"/>
                </a:solidFill>
                <a:latin typeface="Calibri" pitchFamily="34" charset="0"/>
                <a:ea typeface="Calibri" pitchFamily="34" charset="-122"/>
                <a:cs typeface="Calibri" pitchFamily="34" charset="-120"/>
              </a:rPr>
              <a:t>Tenure 0–12 bulan: fase paling rawan churn.</a:t>
            </a:r>
            <a:endParaRPr lang="en-US" sz="1150" dirty="0"/>
          </a:p>
          <a:p>
            <a:pPr marL="342900" indent="-342900">
              <a:lnSpc>
                <a:spcPct val="120000"/>
              </a:lnSpc>
              <a:spcAft>
                <a:spcPts val="1000"/>
              </a:spcAft>
              <a:buSzPct val="100000"/>
              <a:buChar char="•"/>
            </a:pPr>
            <a:r>
              <a:rPr lang="en-US" sz="1150" dirty="0">
                <a:solidFill>
                  <a:srgbClr val="1B2430"/>
                </a:solidFill>
                <a:latin typeface="Calibri" pitchFamily="34" charset="0"/>
                <a:ea typeface="Calibri" pitchFamily="34" charset="-122"/>
                <a:cs typeface="Calibri" pitchFamily="34" charset="-120"/>
              </a:rPr>
              <a:t>Fiber optic: churn lebih tinggi dari DSL.</a:t>
            </a:r>
            <a:endParaRPr lang="en-US" sz="1150" dirty="0"/>
          </a:p>
          <a:p>
            <a:pPr marL="342900" indent="-342900">
              <a:lnSpc>
                <a:spcPct val="120000"/>
              </a:lnSpc>
              <a:spcAft>
                <a:spcPts val="1000"/>
              </a:spcAft>
              <a:buSzPct val="100000"/>
              <a:buChar char="•"/>
            </a:pPr>
            <a:r>
              <a:rPr lang="en-US" sz="1150" dirty="0">
                <a:solidFill>
                  <a:srgbClr val="1B2430"/>
                </a:solidFill>
                <a:latin typeface="Calibri" pitchFamily="34" charset="0"/>
                <a:ea typeface="Calibri" pitchFamily="34" charset="-122"/>
                <a:cs typeface="Calibri" pitchFamily="34" charset="-120"/>
              </a:rPr>
              <a:t>Electronic check: metode bayar dengan churn tertinggi.</a:t>
            </a:r>
            <a:endParaRPr lang="en-US" sz="1150" dirty="0"/>
          </a:p>
        </p:txBody>
      </p:sp>
      <p:sp>
        <p:nvSpPr>
          <p:cNvPr id="7" name="Shape 4"/>
          <p:cNvSpPr/>
          <p:nvPr/>
        </p:nvSpPr>
        <p:spPr>
          <a:xfrm>
            <a:off x="7772400" y="4572000"/>
            <a:ext cx="3867912" cy="1600200"/>
          </a:xfrm>
          <a:prstGeom prst="roundRect">
            <a:avLst>
              <a:gd name="adj" fmla="val 3429"/>
            </a:avLst>
          </a:prstGeom>
          <a:solidFill>
            <a:srgbClr val="EAF6EE"/>
          </a:solidFill>
          <a:ln/>
        </p:spPr>
      </p:sp>
      <p:sp>
        <p:nvSpPr>
          <p:cNvPr id="8" name="Shape 5"/>
          <p:cNvSpPr/>
          <p:nvPr/>
        </p:nvSpPr>
        <p:spPr>
          <a:xfrm>
            <a:off x="7772400" y="4572000"/>
            <a:ext cx="54864" cy="1600200"/>
          </a:xfrm>
          <a:prstGeom prst="rect">
            <a:avLst/>
          </a:prstGeom>
          <a:solidFill>
            <a:srgbClr val="2E8B57"/>
          </a:solidFill>
          <a:ln/>
        </p:spPr>
      </p:sp>
      <p:sp>
        <p:nvSpPr>
          <p:cNvPr id="9" name="Text 6"/>
          <p:cNvSpPr txBox="1"/>
          <p:nvPr/>
        </p:nvSpPr>
        <p:spPr>
          <a:xfrm>
            <a:off x="7955280" y="4645152"/>
            <a:ext cx="3502152" cy="228600"/>
          </a:xfrm>
          <a:prstGeom prst="rect">
            <a:avLst/>
          </a:prstGeom>
          <a:noFill/>
          <a:ln/>
        </p:spPr>
        <p:txBody>
          <a:bodyPr wrap="square" lIns="0" tIns="0" rIns="0" bIns="0" rtlCol="0" anchor="ctr"/>
          <a:lstStyle/>
          <a:p>
            <a:pPr marL="0" indent="0">
              <a:buNone/>
            </a:pPr>
            <a:r>
              <a:rPr lang="en-US" sz="850" b="1" kern="0" spc="50" dirty="0">
                <a:solidFill>
                  <a:srgbClr val="2E8B57"/>
                </a:solidFill>
                <a:latin typeface="Calibri" pitchFamily="34" charset="0"/>
                <a:ea typeface="Calibri" pitchFamily="34" charset="-122"/>
                <a:cs typeface="Calibri" pitchFamily="34" charset="-120"/>
              </a:rPr>
              <a:t>VALIDASI STATISTIK</a:t>
            </a:r>
            <a:endParaRPr lang="en-US" sz="850" dirty="0"/>
          </a:p>
        </p:txBody>
      </p:sp>
      <p:sp>
        <p:nvSpPr>
          <p:cNvPr id="10" name="Text 7"/>
          <p:cNvSpPr txBox="1"/>
          <p:nvPr/>
        </p:nvSpPr>
        <p:spPr>
          <a:xfrm>
            <a:off x="7955280" y="4864608"/>
            <a:ext cx="3502152" cy="1216152"/>
          </a:xfrm>
          <a:prstGeom prst="rect">
            <a:avLst/>
          </a:prstGeom>
          <a:noFill/>
          <a:ln/>
        </p:spPr>
        <p:txBody>
          <a:bodyPr wrap="square" lIns="0" tIns="0" rIns="0" bIns="0" rtlCol="0" anchor="t"/>
          <a:lstStyle/>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Chi-square: Contract, InternetService, dan PaymentMethod seluruhnya signifikan terhadap churn (p &lt; 0.001) — detail di Slide 11.</a:t>
            </a:r>
            <a:endParaRPr lang="en-US" sz="1050" dirty="0"/>
          </a:p>
        </p:txBody>
      </p:sp>
      <p:sp>
        <p:nvSpPr>
          <p:cNvPr id="11" name="Text 8"/>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07.2 · EDA — Bivariate</a:t>
            </a:r>
            <a:endParaRPr lang="en-US" sz="850" dirty="0"/>
          </a:p>
        </p:txBody>
      </p:sp>
      <p:sp>
        <p:nvSpPr>
          <p:cNvPr id="12" name="Text 9"/>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9 / 16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07.5 · PYTHON</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EDA — Multivariate: Zona Merah Churn</a:t>
            </a:r>
            <a:endParaRPr lang="en-US" sz="2700" dirty="0"/>
          </a:p>
        </p:txBody>
      </p:sp>
      <p:pic>
        <p:nvPicPr>
          <p:cNvPr id="4" name="Image 0" descr="/home/claude/imgs/cell_18_0.png"/>
          <p:cNvPicPr>
            <a:picLocks noChangeAspect="1"/>
          </p:cNvPicPr>
          <p:nvPr/>
        </p:nvPicPr>
        <p:blipFill>
          <a:blip r:embed="rId3"/>
          <a:stretch>
            <a:fillRect/>
          </a:stretch>
        </p:blipFill>
        <p:spPr>
          <a:xfrm>
            <a:off x="1642287" y="1417320"/>
            <a:ext cx="8907121" cy="3429000"/>
          </a:xfrm>
          <a:prstGeom prst="rect">
            <a:avLst/>
          </a:prstGeom>
        </p:spPr>
      </p:pic>
      <p:sp>
        <p:nvSpPr>
          <p:cNvPr id="5" name="Shape 2"/>
          <p:cNvSpPr/>
          <p:nvPr/>
        </p:nvSpPr>
        <p:spPr>
          <a:xfrm>
            <a:off x="548640" y="4983480"/>
            <a:ext cx="11091672" cy="1463040"/>
          </a:xfrm>
          <a:prstGeom prst="roundRect">
            <a:avLst>
              <a:gd name="adj" fmla="val 3750"/>
            </a:avLst>
          </a:prstGeom>
          <a:solidFill>
            <a:srgbClr val="EAF6EE"/>
          </a:solidFill>
          <a:ln/>
        </p:spPr>
      </p:sp>
      <p:sp>
        <p:nvSpPr>
          <p:cNvPr id="6" name="Shape 3"/>
          <p:cNvSpPr/>
          <p:nvPr/>
        </p:nvSpPr>
        <p:spPr>
          <a:xfrm>
            <a:off x="548640" y="4983480"/>
            <a:ext cx="54864" cy="1463040"/>
          </a:xfrm>
          <a:prstGeom prst="rect">
            <a:avLst/>
          </a:prstGeom>
          <a:solidFill>
            <a:srgbClr val="2E8B57"/>
          </a:solidFill>
          <a:ln/>
        </p:spPr>
      </p:sp>
      <p:sp>
        <p:nvSpPr>
          <p:cNvPr id="7" name="Text 4"/>
          <p:cNvSpPr txBox="1"/>
          <p:nvPr/>
        </p:nvSpPr>
        <p:spPr>
          <a:xfrm>
            <a:off x="731520" y="5056632"/>
            <a:ext cx="10725912" cy="228600"/>
          </a:xfrm>
          <a:prstGeom prst="rect">
            <a:avLst/>
          </a:prstGeom>
          <a:noFill/>
          <a:ln/>
        </p:spPr>
        <p:txBody>
          <a:bodyPr wrap="square" lIns="0" tIns="0" rIns="0" bIns="0" rtlCol="0" anchor="ctr"/>
          <a:lstStyle/>
          <a:p>
            <a:pPr marL="0" indent="0">
              <a:buNone/>
            </a:pPr>
            <a:r>
              <a:rPr lang="en-US" sz="850" b="1" kern="0" spc="50" dirty="0">
                <a:solidFill>
                  <a:srgbClr val="2E8B57"/>
                </a:solidFill>
                <a:latin typeface="Calibri" pitchFamily="34" charset="0"/>
                <a:ea typeface="Calibri" pitchFamily="34" charset="-122"/>
                <a:cs typeface="Calibri" pitchFamily="34" charset="-120"/>
              </a:rPr>
              <a:t>INSIGHT — ZONA MERAH PALING PEKAT</a:t>
            </a:r>
            <a:endParaRPr lang="en-US" sz="850" dirty="0"/>
          </a:p>
        </p:txBody>
      </p:sp>
      <p:sp>
        <p:nvSpPr>
          <p:cNvPr id="8" name="Text 5"/>
          <p:cNvSpPr txBox="1"/>
          <p:nvPr/>
        </p:nvSpPr>
        <p:spPr>
          <a:xfrm>
            <a:off x="731520" y="5276088"/>
            <a:ext cx="10725912" cy="1078992"/>
          </a:xfrm>
          <a:prstGeom prst="rect">
            <a:avLst/>
          </a:prstGeom>
          <a:noFill/>
          <a:ln/>
        </p:spPr>
        <p:txBody>
          <a:bodyPr wrap="square" lIns="0" tIns="0" rIns="0" bIns="0" rtlCol="0" anchor="t"/>
          <a:lstStyle/>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Fiber optic memiliki churn rate jauh lebih tinggi dari DSL di hampir semua kombinasi TenureGroup × Contract. Segmen paling mematikan: pelanggan Fiber optic, tenure 0–12 bulan, kontrak Month-to-month — memvalidasi temuan SQL Query 4 (multivariate) secara visual.</a:t>
            </a:r>
            <a:endParaRPr lang="en-US" sz="1050" dirty="0"/>
          </a:p>
        </p:txBody>
      </p:sp>
      <p:sp>
        <p:nvSpPr>
          <p:cNvPr id="9" name="Text 6"/>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07.5 · EDA — Multivariate</a:t>
            </a:r>
            <a:endParaRPr lang="en-US" sz="850" dirty="0"/>
          </a:p>
        </p:txBody>
      </p:sp>
      <p:sp>
        <p:nvSpPr>
          <p:cNvPr id="10" name="Text 7"/>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10 / 16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07.6 · PYTHON</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Validasi Kuantitatif — Uji Statistik</a:t>
            </a:r>
            <a:endParaRPr lang="en-US" sz="2700" dirty="0"/>
          </a:p>
        </p:txBody>
      </p:sp>
      <p:sp>
        <p:nvSpPr>
          <p:cNvPr id="4" name="Text 2"/>
          <p:cNvSpPr txBox="1"/>
          <p:nvPr/>
        </p:nvSpPr>
        <p:spPr>
          <a:xfrm>
            <a:off x="548640" y="1417320"/>
            <a:ext cx="6035040" cy="274320"/>
          </a:xfrm>
          <a:prstGeom prst="rect">
            <a:avLst/>
          </a:prstGeom>
          <a:noFill/>
          <a:ln/>
        </p:spPr>
        <p:txBody>
          <a:bodyPr wrap="square" lIns="0" tIns="0" rIns="0" bIns="0" rtlCol="0" anchor="ctr"/>
          <a:lstStyle/>
          <a:p>
            <a:pPr marL="0" indent="0">
              <a:buNone/>
            </a:pPr>
            <a:r>
              <a:rPr lang="en-US" sz="1050" b="1" kern="0" spc="50" dirty="0">
                <a:solidFill>
                  <a:srgbClr val="1C7293"/>
                </a:solidFill>
                <a:latin typeface="Calibri" pitchFamily="34" charset="0"/>
                <a:ea typeface="Calibri" pitchFamily="34" charset="-122"/>
                <a:cs typeface="Calibri" pitchFamily="34" charset="-120"/>
              </a:rPr>
              <a:t>UJI CHI-SQUARE (KATEGORIK VS CHURN)</a:t>
            </a:r>
            <a:endParaRPr lang="en-US" sz="1050" dirty="0"/>
          </a:p>
        </p:txBody>
      </p:sp>
      <p:sp>
        <p:nvSpPr>
          <p:cNvPr id="5" name="Shape 3"/>
          <p:cNvSpPr/>
          <p:nvPr/>
        </p:nvSpPr>
        <p:spPr>
          <a:xfrm>
            <a:off x="548640" y="1737360"/>
            <a:ext cx="1920240" cy="384048"/>
          </a:xfrm>
          <a:prstGeom prst="rect">
            <a:avLst/>
          </a:prstGeom>
          <a:solidFill>
            <a:srgbClr val="21295C"/>
          </a:solidFill>
          <a:ln w="6350">
            <a:solidFill>
              <a:srgbClr val="DCE6EF"/>
            </a:solidFill>
            <a:prstDash val="solid"/>
          </a:ln>
        </p:spPr>
      </p:sp>
      <p:sp>
        <p:nvSpPr>
          <p:cNvPr id="6" name="Text 4"/>
          <p:cNvSpPr txBox="1"/>
          <p:nvPr/>
        </p:nvSpPr>
        <p:spPr>
          <a:xfrm>
            <a:off x="621792" y="1737360"/>
            <a:ext cx="1773936" cy="38404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Variabel</a:t>
            </a:r>
            <a:endParaRPr lang="en-US" sz="950" dirty="0"/>
          </a:p>
        </p:txBody>
      </p:sp>
      <p:sp>
        <p:nvSpPr>
          <p:cNvPr id="7" name="Shape 5"/>
          <p:cNvSpPr/>
          <p:nvPr/>
        </p:nvSpPr>
        <p:spPr>
          <a:xfrm>
            <a:off x="2468880" y="1737360"/>
            <a:ext cx="1463040" cy="384048"/>
          </a:xfrm>
          <a:prstGeom prst="rect">
            <a:avLst/>
          </a:prstGeom>
          <a:solidFill>
            <a:srgbClr val="21295C"/>
          </a:solidFill>
          <a:ln w="6350">
            <a:solidFill>
              <a:srgbClr val="DCE6EF"/>
            </a:solidFill>
            <a:prstDash val="solid"/>
          </a:ln>
        </p:spPr>
      </p:sp>
      <p:sp>
        <p:nvSpPr>
          <p:cNvPr id="8" name="Text 6"/>
          <p:cNvSpPr txBox="1"/>
          <p:nvPr/>
        </p:nvSpPr>
        <p:spPr>
          <a:xfrm>
            <a:off x="2542032" y="1737360"/>
            <a:ext cx="1316736" cy="38404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Chi-square</a:t>
            </a:r>
            <a:endParaRPr lang="en-US" sz="950" dirty="0"/>
          </a:p>
        </p:txBody>
      </p:sp>
      <p:sp>
        <p:nvSpPr>
          <p:cNvPr id="9" name="Shape 7"/>
          <p:cNvSpPr/>
          <p:nvPr/>
        </p:nvSpPr>
        <p:spPr>
          <a:xfrm>
            <a:off x="3931920" y="1737360"/>
            <a:ext cx="1188720" cy="384048"/>
          </a:xfrm>
          <a:prstGeom prst="rect">
            <a:avLst/>
          </a:prstGeom>
          <a:solidFill>
            <a:srgbClr val="21295C"/>
          </a:solidFill>
          <a:ln w="6350">
            <a:solidFill>
              <a:srgbClr val="DCE6EF"/>
            </a:solidFill>
            <a:prstDash val="solid"/>
          </a:ln>
        </p:spPr>
      </p:sp>
      <p:sp>
        <p:nvSpPr>
          <p:cNvPr id="10" name="Text 8"/>
          <p:cNvSpPr txBox="1"/>
          <p:nvPr/>
        </p:nvSpPr>
        <p:spPr>
          <a:xfrm>
            <a:off x="4005072" y="1737360"/>
            <a:ext cx="1042416" cy="38404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P-value</a:t>
            </a:r>
            <a:endParaRPr lang="en-US" sz="950" dirty="0"/>
          </a:p>
        </p:txBody>
      </p:sp>
      <p:sp>
        <p:nvSpPr>
          <p:cNvPr id="11" name="Shape 9"/>
          <p:cNvSpPr/>
          <p:nvPr/>
        </p:nvSpPr>
        <p:spPr>
          <a:xfrm>
            <a:off x="5120640" y="1737360"/>
            <a:ext cx="1463040" cy="384048"/>
          </a:xfrm>
          <a:prstGeom prst="rect">
            <a:avLst/>
          </a:prstGeom>
          <a:solidFill>
            <a:srgbClr val="21295C"/>
          </a:solidFill>
          <a:ln w="6350">
            <a:solidFill>
              <a:srgbClr val="DCE6EF"/>
            </a:solidFill>
            <a:prstDash val="solid"/>
          </a:ln>
        </p:spPr>
      </p:sp>
      <p:sp>
        <p:nvSpPr>
          <p:cNvPr id="12" name="Text 10"/>
          <p:cNvSpPr txBox="1"/>
          <p:nvPr/>
        </p:nvSpPr>
        <p:spPr>
          <a:xfrm>
            <a:off x="5193792" y="1737360"/>
            <a:ext cx="1316736" cy="384048"/>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Kesimpulan</a:t>
            </a:r>
            <a:endParaRPr lang="en-US" sz="950" dirty="0"/>
          </a:p>
        </p:txBody>
      </p:sp>
      <p:sp>
        <p:nvSpPr>
          <p:cNvPr id="13" name="Shape 11"/>
          <p:cNvSpPr/>
          <p:nvPr/>
        </p:nvSpPr>
        <p:spPr>
          <a:xfrm>
            <a:off x="548640" y="2121408"/>
            <a:ext cx="1920240" cy="384048"/>
          </a:xfrm>
          <a:prstGeom prst="rect">
            <a:avLst/>
          </a:prstGeom>
          <a:solidFill>
            <a:srgbClr val="FFFFFF"/>
          </a:solidFill>
          <a:ln w="6350">
            <a:solidFill>
              <a:srgbClr val="DCE6EF"/>
            </a:solidFill>
            <a:prstDash val="solid"/>
          </a:ln>
        </p:spPr>
      </p:sp>
      <p:sp>
        <p:nvSpPr>
          <p:cNvPr id="14" name="Text 12"/>
          <p:cNvSpPr txBox="1"/>
          <p:nvPr/>
        </p:nvSpPr>
        <p:spPr>
          <a:xfrm>
            <a:off x="621792" y="2121408"/>
            <a:ext cx="1773936" cy="384048"/>
          </a:xfrm>
          <a:prstGeom prst="rect">
            <a:avLst/>
          </a:prstGeom>
          <a:noFill/>
          <a:ln/>
        </p:spPr>
        <p:txBody>
          <a:bodyPr wrap="square" lIns="0" tIns="0" rIns="0" bIns="0" rtlCol="0" anchor="ctr"/>
          <a:lstStyle/>
          <a:p>
            <a:pPr marL="0" indent="0">
              <a:buNone/>
            </a:pPr>
            <a:r>
              <a:rPr lang="en-US" sz="930" dirty="0">
                <a:solidFill>
                  <a:srgbClr val="1B2430"/>
                </a:solidFill>
                <a:latin typeface="Calibri" pitchFamily="34" charset="0"/>
                <a:ea typeface="Calibri" pitchFamily="34" charset="-122"/>
                <a:cs typeface="Calibri" pitchFamily="34" charset="-120"/>
              </a:rPr>
              <a:t>Contract</a:t>
            </a:r>
            <a:endParaRPr lang="en-US" sz="930" dirty="0"/>
          </a:p>
        </p:txBody>
      </p:sp>
      <p:sp>
        <p:nvSpPr>
          <p:cNvPr id="15" name="Shape 13"/>
          <p:cNvSpPr/>
          <p:nvPr/>
        </p:nvSpPr>
        <p:spPr>
          <a:xfrm>
            <a:off x="2468880" y="2121408"/>
            <a:ext cx="1463040" cy="384048"/>
          </a:xfrm>
          <a:prstGeom prst="rect">
            <a:avLst/>
          </a:prstGeom>
          <a:solidFill>
            <a:srgbClr val="FFFFFF"/>
          </a:solidFill>
          <a:ln w="6350">
            <a:solidFill>
              <a:srgbClr val="DCE6EF"/>
            </a:solidFill>
            <a:prstDash val="solid"/>
          </a:ln>
        </p:spPr>
      </p:sp>
      <p:sp>
        <p:nvSpPr>
          <p:cNvPr id="16" name="Text 14"/>
          <p:cNvSpPr txBox="1"/>
          <p:nvPr/>
        </p:nvSpPr>
        <p:spPr>
          <a:xfrm>
            <a:off x="2542032" y="2121408"/>
            <a:ext cx="1316736" cy="384048"/>
          </a:xfrm>
          <a:prstGeom prst="rect">
            <a:avLst/>
          </a:prstGeom>
          <a:noFill/>
          <a:ln/>
        </p:spPr>
        <p:txBody>
          <a:bodyPr wrap="square" lIns="0" tIns="0" rIns="0" bIns="0" rtlCol="0" anchor="ctr"/>
          <a:lstStyle/>
          <a:p>
            <a:pPr marL="0" indent="0">
              <a:buNone/>
            </a:pPr>
            <a:r>
              <a:rPr lang="en-US" sz="930" dirty="0">
                <a:solidFill>
                  <a:srgbClr val="1B2430"/>
                </a:solidFill>
                <a:latin typeface="Calibri" pitchFamily="34" charset="0"/>
                <a:ea typeface="Calibri" pitchFamily="34" charset="-122"/>
                <a:cs typeface="Calibri" pitchFamily="34" charset="-120"/>
              </a:rPr>
              <a:t>1.184,60</a:t>
            </a:r>
            <a:endParaRPr lang="en-US" sz="930" dirty="0"/>
          </a:p>
        </p:txBody>
      </p:sp>
      <p:sp>
        <p:nvSpPr>
          <p:cNvPr id="17" name="Shape 15"/>
          <p:cNvSpPr/>
          <p:nvPr/>
        </p:nvSpPr>
        <p:spPr>
          <a:xfrm>
            <a:off x="3931920" y="2121408"/>
            <a:ext cx="1188720" cy="384048"/>
          </a:xfrm>
          <a:prstGeom prst="rect">
            <a:avLst/>
          </a:prstGeom>
          <a:solidFill>
            <a:srgbClr val="FFFFFF"/>
          </a:solidFill>
          <a:ln w="6350">
            <a:solidFill>
              <a:srgbClr val="DCE6EF"/>
            </a:solidFill>
            <a:prstDash val="solid"/>
          </a:ln>
        </p:spPr>
      </p:sp>
      <p:sp>
        <p:nvSpPr>
          <p:cNvPr id="18" name="Text 16"/>
          <p:cNvSpPr txBox="1"/>
          <p:nvPr/>
        </p:nvSpPr>
        <p:spPr>
          <a:xfrm>
            <a:off x="4005072" y="2121408"/>
            <a:ext cx="1042416" cy="384048"/>
          </a:xfrm>
          <a:prstGeom prst="rect">
            <a:avLst/>
          </a:prstGeom>
          <a:noFill/>
          <a:ln/>
        </p:spPr>
        <p:txBody>
          <a:bodyPr wrap="square" lIns="0" tIns="0" rIns="0" bIns="0" rtlCol="0" anchor="ctr"/>
          <a:lstStyle/>
          <a:p>
            <a:pPr marL="0" indent="0">
              <a:buNone/>
            </a:pPr>
            <a:r>
              <a:rPr lang="en-US" sz="930" dirty="0">
                <a:solidFill>
                  <a:srgbClr val="1B2430"/>
                </a:solidFill>
                <a:latin typeface="Calibri" pitchFamily="34" charset="0"/>
                <a:ea typeface="Calibri" pitchFamily="34" charset="-122"/>
                <a:cs typeface="Calibri" pitchFamily="34" charset="-120"/>
              </a:rPr>
              <a:t>&lt; 0.001</a:t>
            </a:r>
            <a:endParaRPr lang="en-US" sz="930" dirty="0"/>
          </a:p>
        </p:txBody>
      </p:sp>
      <p:sp>
        <p:nvSpPr>
          <p:cNvPr id="19" name="Shape 17"/>
          <p:cNvSpPr/>
          <p:nvPr/>
        </p:nvSpPr>
        <p:spPr>
          <a:xfrm>
            <a:off x="5120640" y="2121408"/>
            <a:ext cx="1463040" cy="384048"/>
          </a:xfrm>
          <a:prstGeom prst="rect">
            <a:avLst/>
          </a:prstGeom>
          <a:solidFill>
            <a:srgbClr val="FFFFFF"/>
          </a:solidFill>
          <a:ln w="6350">
            <a:solidFill>
              <a:srgbClr val="DCE6EF"/>
            </a:solidFill>
            <a:prstDash val="solid"/>
          </a:ln>
        </p:spPr>
      </p:sp>
      <p:sp>
        <p:nvSpPr>
          <p:cNvPr id="20" name="Text 18"/>
          <p:cNvSpPr txBox="1"/>
          <p:nvPr/>
        </p:nvSpPr>
        <p:spPr>
          <a:xfrm>
            <a:off x="5193792" y="2121408"/>
            <a:ext cx="1316736" cy="384048"/>
          </a:xfrm>
          <a:prstGeom prst="rect">
            <a:avLst/>
          </a:prstGeom>
          <a:noFill/>
          <a:ln/>
        </p:spPr>
        <p:txBody>
          <a:bodyPr wrap="square" lIns="0" tIns="0" rIns="0" bIns="0" rtlCol="0" anchor="ctr"/>
          <a:lstStyle/>
          <a:p>
            <a:pPr marL="0" indent="0">
              <a:buNone/>
            </a:pPr>
            <a:r>
              <a:rPr lang="en-US" sz="930" b="1" dirty="0">
                <a:solidFill>
                  <a:srgbClr val="2E8B57"/>
                </a:solidFill>
                <a:latin typeface="Calibri" pitchFamily="34" charset="0"/>
                <a:ea typeface="Calibri" pitchFamily="34" charset="-122"/>
                <a:cs typeface="Calibri" pitchFamily="34" charset="-120"/>
              </a:rPr>
              <a:t>Signifikan</a:t>
            </a:r>
            <a:endParaRPr lang="en-US" sz="930" dirty="0"/>
          </a:p>
        </p:txBody>
      </p:sp>
      <p:sp>
        <p:nvSpPr>
          <p:cNvPr id="21" name="Shape 19"/>
          <p:cNvSpPr/>
          <p:nvPr/>
        </p:nvSpPr>
        <p:spPr>
          <a:xfrm>
            <a:off x="548640" y="2505456"/>
            <a:ext cx="1920240" cy="384048"/>
          </a:xfrm>
          <a:prstGeom prst="rect">
            <a:avLst/>
          </a:prstGeom>
          <a:solidFill>
            <a:srgbClr val="F4F8FB"/>
          </a:solidFill>
          <a:ln w="6350">
            <a:solidFill>
              <a:srgbClr val="DCE6EF"/>
            </a:solidFill>
            <a:prstDash val="solid"/>
          </a:ln>
        </p:spPr>
      </p:sp>
      <p:sp>
        <p:nvSpPr>
          <p:cNvPr id="22" name="Text 20"/>
          <p:cNvSpPr txBox="1"/>
          <p:nvPr/>
        </p:nvSpPr>
        <p:spPr>
          <a:xfrm>
            <a:off x="621792" y="2505456"/>
            <a:ext cx="1773936" cy="384048"/>
          </a:xfrm>
          <a:prstGeom prst="rect">
            <a:avLst/>
          </a:prstGeom>
          <a:noFill/>
          <a:ln/>
        </p:spPr>
        <p:txBody>
          <a:bodyPr wrap="square" lIns="0" tIns="0" rIns="0" bIns="0" rtlCol="0" anchor="ctr"/>
          <a:lstStyle/>
          <a:p>
            <a:pPr marL="0" indent="0">
              <a:buNone/>
            </a:pPr>
            <a:r>
              <a:rPr lang="en-US" sz="930" dirty="0">
                <a:solidFill>
                  <a:srgbClr val="1B2430"/>
                </a:solidFill>
                <a:latin typeface="Calibri" pitchFamily="34" charset="0"/>
                <a:ea typeface="Calibri" pitchFamily="34" charset="-122"/>
                <a:cs typeface="Calibri" pitchFamily="34" charset="-120"/>
              </a:rPr>
              <a:t>InternetService</a:t>
            </a:r>
            <a:endParaRPr lang="en-US" sz="930" dirty="0"/>
          </a:p>
        </p:txBody>
      </p:sp>
      <p:sp>
        <p:nvSpPr>
          <p:cNvPr id="23" name="Shape 21"/>
          <p:cNvSpPr/>
          <p:nvPr/>
        </p:nvSpPr>
        <p:spPr>
          <a:xfrm>
            <a:off x="2468880" y="2505456"/>
            <a:ext cx="1463040" cy="384048"/>
          </a:xfrm>
          <a:prstGeom prst="rect">
            <a:avLst/>
          </a:prstGeom>
          <a:solidFill>
            <a:srgbClr val="F4F8FB"/>
          </a:solidFill>
          <a:ln w="6350">
            <a:solidFill>
              <a:srgbClr val="DCE6EF"/>
            </a:solidFill>
            <a:prstDash val="solid"/>
          </a:ln>
        </p:spPr>
      </p:sp>
      <p:sp>
        <p:nvSpPr>
          <p:cNvPr id="24" name="Text 22"/>
          <p:cNvSpPr txBox="1"/>
          <p:nvPr/>
        </p:nvSpPr>
        <p:spPr>
          <a:xfrm>
            <a:off x="2542032" y="2505456"/>
            <a:ext cx="1316736" cy="384048"/>
          </a:xfrm>
          <a:prstGeom prst="rect">
            <a:avLst/>
          </a:prstGeom>
          <a:noFill/>
          <a:ln/>
        </p:spPr>
        <p:txBody>
          <a:bodyPr wrap="square" lIns="0" tIns="0" rIns="0" bIns="0" rtlCol="0" anchor="ctr"/>
          <a:lstStyle/>
          <a:p>
            <a:pPr marL="0" indent="0">
              <a:buNone/>
            </a:pPr>
            <a:r>
              <a:rPr lang="en-US" sz="930" dirty="0">
                <a:solidFill>
                  <a:srgbClr val="1B2430"/>
                </a:solidFill>
                <a:latin typeface="Calibri" pitchFamily="34" charset="0"/>
                <a:ea typeface="Calibri" pitchFamily="34" charset="-122"/>
                <a:cs typeface="Calibri" pitchFamily="34" charset="-120"/>
              </a:rPr>
              <a:t>732,31</a:t>
            </a:r>
            <a:endParaRPr lang="en-US" sz="930" dirty="0"/>
          </a:p>
        </p:txBody>
      </p:sp>
      <p:sp>
        <p:nvSpPr>
          <p:cNvPr id="25" name="Shape 23"/>
          <p:cNvSpPr/>
          <p:nvPr/>
        </p:nvSpPr>
        <p:spPr>
          <a:xfrm>
            <a:off x="3931920" y="2505456"/>
            <a:ext cx="1188720" cy="384048"/>
          </a:xfrm>
          <a:prstGeom prst="rect">
            <a:avLst/>
          </a:prstGeom>
          <a:solidFill>
            <a:srgbClr val="F4F8FB"/>
          </a:solidFill>
          <a:ln w="6350">
            <a:solidFill>
              <a:srgbClr val="DCE6EF"/>
            </a:solidFill>
            <a:prstDash val="solid"/>
          </a:ln>
        </p:spPr>
      </p:sp>
      <p:sp>
        <p:nvSpPr>
          <p:cNvPr id="26" name="Text 24"/>
          <p:cNvSpPr txBox="1"/>
          <p:nvPr/>
        </p:nvSpPr>
        <p:spPr>
          <a:xfrm>
            <a:off x="4005072" y="2505456"/>
            <a:ext cx="1042416" cy="384048"/>
          </a:xfrm>
          <a:prstGeom prst="rect">
            <a:avLst/>
          </a:prstGeom>
          <a:noFill/>
          <a:ln/>
        </p:spPr>
        <p:txBody>
          <a:bodyPr wrap="square" lIns="0" tIns="0" rIns="0" bIns="0" rtlCol="0" anchor="ctr"/>
          <a:lstStyle/>
          <a:p>
            <a:pPr marL="0" indent="0">
              <a:buNone/>
            </a:pPr>
            <a:r>
              <a:rPr lang="en-US" sz="930" dirty="0">
                <a:solidFill>
                  <a:srgbClr val="1B2430"/>
                </a:solidFill>
                <a:latin typeface="Calibri" pitchFamily="34" charset="0"/>
                <a:ea typeface="Calibri" pitchFamily="34" charset="-122"/>
                <a:cs typeface="Calibri" pitchFamily="34" charset="-120"/>
              </a:rPr>
              <a:t>&lt; 0.001</a:t>
            </a:r>
            <a:endParaRPr lang="en-US" sz="930" dirty="0"/>
          </a:p>
        </p:txBody>
      </p:sp>
      <p:sp>
        <p:nvSpPr>
          <p:cNvPr id="27" name="Shape 25"/>
          <p:cNvSpPr/>
          <p:nvPr/>
        </p:nvSpPr>
        <p:spPr>
          <a:xfrm>
            <a:off x="5120640" y="2505456"/>
            <a:ext cx="1463040" cy="384048"/>
          </a:xfrm>
          <a:prstGeom prst="rect">
            <a:avLst/>
          </a:prstGeom>
          <a:solidFill>
            <a:srgbClr val="F4F8FB"/>
          </a:solidFill>
          <a:ln w="6350">
            <a:solidFill>
              <a:srgbClr val="DCE6EF"/>
            </a:solidFill>
            <a:prstDash val="solid"/>
          </a:ln>
        </p:spPr>
      </p:sp>
      <p:sp>
        <p:nvSpPr>
          <p:cNvPr id="28" name="Text 26"/>
          <p:cNvSpPr txBox="1"/>
          <p:nvPr/>
        </p:nvSpPr>
        <p:spPr>
          <a:xfrm>
            <a:off x="5193792" y="2505456"/>
            <a:ext cx="1316736" cy="384048"/>
          </a:xfrm>
          <a:prstGeom prst="rect">
            <a:avLst/>
          </a:prstGeom>
          <a:noFill/>
          <a:ln/>
        </p:spPr>
        <p:txBody>
          <a:bodyPr wrap="square" lIns="0" tIns="0" rIns="0" bIns="0" rtlCol="0" anchor="ctr"/>
          <a:lstStyle/>
          <a:p>
            <a:pPr marL="0" indent="0">
              <a:buNone/>
            </a:pPr>
            <a:r>
              <a:rPr lang="en-US" sz="930" b="1" dirty="0">
                <a:solidFill>
                  <a:srgbClr val="2E8B57"/>
                </a:solidFill>
                <a:latin typeface="Calibri" pitchFamily="34" charset="0"/>
                <a:ea typeface="Calibri" pitchFamily="34" charset="-122"/>
                <a:cs typeface="Calibri" pitchFamily="34" charset="-120"/>
              </a:rPr>
              <a:t>Signifikan</a:t>
            </a:r>
            <a:endParaRPr lang="en-US" sz="930" dirty="0"/>
          </a:p>
        </p:txBody>
      </p:sp>
      <p:sp>
        <p:nvSpPr>
          <p:cNvPr id="29" name="Shape 27"/>
          <p:cNvSpPr/>
          <p:nvPr/>
        </p:nvSpPr>
        <p:spPr>
          <a:xfrm>
            <a:off x="548640" y="2889504"/>
            <a:ext cx="1920240" cy="384048"/>
          </a:xfrm>
          <a:prstGeom prst="rect">
            <a:avLst/>
          </a:prstGeom>
          <a:solidFill>
            <a:srgbClr val="FFFFFF"/>
          </a:solidFill>
          <a:ln w="6350">
            <a:solidFill>
              <a:srgbClr val="DCE6EF"/>
            </a:solidFill>
            <a:prstDash val="solid"/>
          </a:ln>
        </p:spPr>
      </p:sp>
      <p:sp>
        <p:nvSpPr>
          <p:cNvPr id="30" name="Text 28"/>
          <p:cNvSpPr txBox="1"/>
          <p:nvPr/>
        </p:nvSpPr>
        <p:spPr>
          <a:xfrm>
            <a:off x="621792" y="2889504"/>
            <a:ext cx="1773936" cy="384048"/>
          </a:xfrm>
          <a:prstGeom prst="rect">
            <a:avLst/>
          </a:prstGeom>
          <a:noFill/>
          <a:ln/>
        </p:spPr>
        <p:txBody>
          <a:bodyPr wrap="square" lIns="0" tIns="0" rIns="0" bIns="0" rtlCol="0" anchor="ctr"/>
          <a:lstStyle/>
          <a:p>
            <a:pPr marL="0" indent="0">
              <a:buNone/>
            </a:pPr>
            <a:r>
              <a:rPr lang="en-US" sz="930" dirty="0">
                <a:solidFill>
                  <a:srgbClr val="1B2430"/>
                </a:solidFill>
                <a:latin typeface="Calibri" pitchFamily="34" charset="0"/>
                <a:ea typeface="Calibri" pitchFamily="34" charset="-122"/>
                <a:cs typeface="Calibri" pitchFamily="34" charset="-120"/>
              </a:rPr>
              <a:t>PaymentMethod</a:t>
            </a:r>
            <a:endParaRPr lang="en-US" sz="930" dirty="0"/>
          </a:p>
        </p:txBody>
      </p:sp>
      <p:sp>
        <p:nvSpPr>
          <p:cNvPr id="31" name="Shape 29"/>
          <p:cNvSpPr/>
          <p:nvPr/>
        </p:nvSpPr>
        <p:spPr>
          <a:xfrm>
            <a:off x="2468880" y="2889504"/>
            <a:ext cx="1463040" cy="384048"/>
          </a:xfrm>
          <a:prstGeom prst="rect">
            <a:avLst/>
          </a:prstGeom>
          <a:solidFill>
            <a:srgbClr val="FFFFFF"/>
          </a:solidFill>
          <a:ln w="6350">
            <a:solidFill>
              <a:srgbClr val="DCE6EF"/>
            </a:solidFill>
            <a:prstDash val="solid"/>
          </a:ln>
        </p:spPr>
      </p:sp>
      <p:sp>
        <p:nvSpPr>
          <p:cNvPr id="32" name="Text 30"/>
          <p:cNvSpPr txBox="1"/>
          <p:nvPr/>
        </p:nvSpPr>
        <p:spPr>
          <a:xfrm>
            <a:off x="2542032" y="2889504"/>
            <a:ext cx="1316736" cy="384048"/>
          </a:xfrm>
          <a:prstGeom prst="rect">
            <a:avLst/>
          </a:prstGeom>
          <a:noFill/>
          <a:ln/>
        </p:spPr>
        <p:txBody>
          <a:bodyPr wrap="square" lIns="0" tIns="0" rIns="0" bIns="0" rtlCol="0" anchor="ctr"/>
          <a:lstStyle/>
          <a:p>
            <a:pPr marL="0" indent="0">
              <a:buNone/>
            </a:pPr>
            <a:r>
              <a:rPr lang="en-US" sz="930" dirty="0">
                <a:solidFill>
                  <a:srgbClr val="1B2430"/>
                </a:solidFill>
                <a:latin typeface="Calibri" pitchFamily="34" charset="0"/>
                <a:ea typeface="Calibri" pitchFamily="34" charset="-122"/>
                <a:cs typeface="Calibri" pitchFamily="34" charset="-120"/>
              </a:rPr>
              <a:t>648,14</a:t>
            </a:r>
            <a:endParaRPr lang="en-US" sz="930" dirty="0"/>
          </a:p>
        </p:txBody>
      </p:sp>
      <p:sp>
        <p:nvSpPr>
          <p:cNvPr id="33" name="Shape 31"/>
          <p:cNvSpPr/>
          <p:nvPr/>
        </p:nvSpPr>
        <p:spPr>
          <a:xfrm>
            <a:off x="3931920" y="2889504"/>
            <a:ext cx="1188720" cy="384048"/>
          </a:xfrm>
          <a:prstGeom prst="rect">
            <a:avLst/>
          </a:prstGeom>
          <a:solidFill>
            <a:srgbClr val="FFFFFF"/>
          </a:solidFill>
          <a:ln w="6350">
            <a:solidFill>
              <a:srgbClr val="DCE6EF"/>
            </a:solidFill>
            <a:prstDash val="solid"/>
          </a:ln>
        </p:spPr>
      </p:sp>
      <p:sp>
        <p:nvSpPr>
          <p:cNvPr id="34" name="Text 32"/>
          <p:cNvSpPr txBox="1"/>
          <p:nvPr/>
        </p:nvSpPr>
        <p:spPr>
          <a:xfrm>
            <a:off x="4005072" y="2889504"/>
            <a:ext cx="1042416" cy="384048"/>
          </a:xfrm>
          <a:prstGeom prst="rect">
            <a:avLst/>
          </a:prstGeom>
          <a:noFill/>
          <a:ln/>
        </p:spPr>
        <p:txBody>
          <a:bodyPr wrap="square" lIns="0" tIns="0" rIns="0" bIns="0" rtlCol="0" anchor="ctr"/>
          <a:lstStyle/>
          <a:p>
            <a:pPr marL="0" indent="0">
              <a:buNone/>
            </a:pPr>
            <a:r>
              <a:rPr lang="en-US" sz="930" dirty="0">
                <a:solidFill>
                  <a:srgbClr val="1B2430"/>
                </a:solidFill>
                <a:latin typeface="Calibri" pitchFamily="34" charset="0"/>
                <a:ea typeface="Calibri" pitchFamily="34" charset="-122"/>
                <a:cs typeface="Calibri" pitchFamily="34" charset="-120"/>
              </a:rPr>
              <a:t>&lt; 0.001</a:t>
            </a:r>
            <a:endParaRPr lang="en-US" sz="930" dirty="0"/>
          </a:p>
        </p:txBody>
      </p:sp>
      <p:sp>
        <p:nvSpPr>
          <p:cNvPr id="35" name="Shape 33"/>
          <p:cNvSpPr/>
          <p:nvPr/>
        </p:nvSpPr>
        <p:spPr>
          <a:xfrm>
            <a:off x="5120640" y="2889504"/>
            <a:ext cx="1463040" cy="384048"/>
          </a:xfrm>
          <a:prstGeom prst="rect">
            <a:avLst/>
          </a:prstGeom>
          <a:solidFill>
            <a:srgbClr val="FFFFFF"/>
          </a:solidFill>
          <a:ln w="6350">
            <a:solidFill>
              <a:srgbClr val="DCE6EF"/>
            </a:solidFill>
            <a:prstDash val="solid"/>
          </a:ln>
        </p:spPr>
      </p:sp>
      <p:sp>
        <p:nvSpPr>
          <p:cNvPr id="36" name="Text 34"/>
          <p:cNvSpPr txBox="1"/>
          <p:nvPr/>
        </p:nvSpPr>
        <p:spPr>
          <a:xfrm>
            <a:off x="5193792" y="2889504"/>
            <a:ext cx="1316736" cy="384048"/>
          </a:xfrm>
          <a:prstGeom prst="rect">
            <a:avLst/>
          </a:prstGeom>
          <a:noFill/>
          <a:ln/>
        </p:spPr>
        <p:txBody>
          <a:bodyPr wrap="square" lIns="0" tIns="0" rIns="0" bIns="0" rtlCol="0" anchor="ctr"/>
          <a:lstStyle/>
          <a:p>
            <a:pPr marL="0" indent="0">
              <a:buNone/>
            </a:pPr>
            <a:r>
              <a:rPr lang="en-US" sz="930" b="1" dirty="0">
                <a:solidFill>
                  <a:srgbClr val="2E8B57"/>
                </a:solidFill>
                <a:latin typeface="Calibri" pitchFamily="34" charset="0"/>
                <a:ea typeface="Calibri" pitchFamily="34" charset="-122"/>
                <a:cs typeface="Calibri" pitchFamily="34" charset="-120"/>
              </a:rPr>
              <a:t>Signifikan</a:t>
            </a:r>
            <a:endParaRPr lang="en-US" sz="930" dirty="0"/>
          </a:p>
        </p:txBody>
      </p:sp>
      <p:sp>
        <p:nvSpPr>
          <p:cNvPr id="37" name="Shape 35"/>
          <p:cNvSpPr/>
          <p:nvPr/>
        </p:nvSpPr>
        <p:spPr>
          <a:xfrm>
            <a:off x="548640" y="3502152"/>
            <a:ext cx="6035040" cy="1417320"/>
          </a:xfrm>
          <a:prstGeom prst="roundRect">
            <a:avLst>
              <a:gd name="adj" fmla="val 3871"/>
            </a:avLst>
          </a:prstGeom>
          <a:solidFill>
            <a:srgbClr val="EAF6EE"/>
          </a:solidFill>
          <a:ln/>
        </p:spPr>
      </p:sp>
      <p:sp>
        <p:nvSpPr>
          <p:cNvPr id="38" name="Shape 36"/>
          <p:cNvSpPr/>
          <p:nvPr/>
        </p:nvSpPr>
        <p:spPr>
          <a:xfrm>
            <a:off x="548640" y="3502152"/>
            <a:ext cx="54864" cy="1417320"/>
          </a:xfrm>
          <a:prstGeom prst="rect">
            <a:avLst/>
          </a:prstGeom>
          <a:solidFill>
            <a:srgbClr val="2E8B57"/>
          </a:solidFill>
          <a:ln/>
        </p:spPr>
      </p:sp>
      <p:sp>
        <p:nvSpPr>
          <p:cNvPr id="39" name="Text 37"/>
          <p:cNvSpPr txBox="1"/>
          <p:nvPr/>
        </p:nvSpPr>
        <p:spPr>
          <a:xfrm>
            <a:off x="731520" y="3575304"/>
            <a:ext cx="5669280" cy="228600"/>
          </a:xfrm>
          <a:prstGeom prst="rect">
            <a:avLst/>
          </a:prstGeom>
          <a:noFill/>
          <a:ln/>
        </p:spPr>
        <p:txBody>
          <a:bodyPr wrap="square" lIns="0" tIns="0" rIns="0" bIns="0" rtlCol="0" anchor="ctr"/>
          <a:lstStyle/>
          <a:p>
            <a:pPr marL="0" indent="0">
              <a:buNone/>
            </a:pPr>
            <a:r>
              <a:rPr lang="en-US" sz="850" b="1" kern="0" spc="50" dirty="0">
                <a:solidFill>
                  <a:srgbClr val="2E8B57"/>
                </a:solidFill>
                <a:latin typeface="Calibri" pitchFamily="34" charset="0"/>
                <a:ea typeface="Calibri" pitchFamily="34" charset="-122"/>
                <a:cs typeface="Calibri" pitchFamily="34" charset="-120"/>
              </a:rPr>
              <a:t>INSIGHT</a:t>
            </a:r>
            <a:endParaRPr lang="en-US" sz="850" dirty="0"/>
          </a:p>
        </p:txBody>
      </p:sp>
      <p:sp>
        <p:nvSpPr>
          <p:cNvPr id="40" name="Text 38"/>
          <p:cNvSpPr txBox="1"/>
          <p:nvPr/>
        </p:nvSpPr>
        <p:spPr>
          <a:xfrm>
            <a:off x="731520" y="3794760"/>
            <a:ext cx="5669280" cy="1033272"/>
          </a:xfrm>
          <a:prstGeom prst="rect">
            <a:avLst/>
          </a:prstGeom>
          <a:noFill/>
          <a:ln/>
        </p:spPr>
        <p:txBody>
          <a:bodyPr wrap="square" lIns="0" tIns="0" rIns="0" bIns="0" rtlCol="0" anchor="t"/>
          <a:lstStyle/>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Ketiga variabel kategorik utama sangat signifikan secara statistik (p &lt; 0.001) — pola pada bivariate bukan kebetulan, melainkan asosiasi nyata dengan keputusan churn.</a:t>
            </a:r>
            <a:endParaRPr lang="en-US" sz="1050" dirty="0"/>
          </a:p>
        </p:txBody>
      </p:sp>
      <p:pic>
        <p:nvPicPr>
          <p:cNvPr id="41" name="Image 0" descr="/home/claude/imgs/cell_23_0.png"/>
          <p:cNvPicPr>
            <a:picLocks noChangeAspect="1"/>
          </p:cNvPicPr>
          <p:nvPr/>
        </p:nvPicPr>
        <p:blipFill>
          <a:blip r:embed="rId3"/>
          <a:stretch>
            <a:fillRect/>
          </a:stretch>
        </p:blipFill>
        <p:spPr>
          <a:xfrm>
            <a:off x="7040880" y="1417320"/>
            <a:ext cx="4206240" cy="3561691"/>
          </a:xfrm>
          <a:prstGeom prst="rect">
            <a:avLst/>
          </a:prstGeom>
        </p:spPr>
      </p:pic>
      <p:sp>
        <p:nvSpPr>
          <p:cNvPr id="42" name="Text 39"/>
          <p:cNvSpPr txBox="1"/>
          <p:nvPr/>
        </p:nvSpPr>
        <p:spPr>
          <a:xfrm>
            <a:off x="7040880" y="5024731"/>
            <a:ext cx="4206240" cy="548640"/>
          </a:xfrm>
          <a:prstGeom prst="rect">
            <a:avLst/>
          </a:prstGeom>
          <a:noFill/>
          <a:ln/>
        </p:spPr>
        <p:txBody>
          <a:bodyPr wrap="square" lIns="0" tIns="0" rIns="0" bIns="0" rtlCol="0" anchor="ctr"/>
          <a:lstStyle/>
          <a:p>
            <a:pPr marL="0" indent="0" algn="ctr">
              <a:lnSpc>
                <a:spcPct val="115000"/>
              </a:lnSpc>
              <a:buNone/>
            </a:pPr>
            <a:r>
              <a:rPr lang="en-US" sz="870" i="1" dirty="0">
                <a:solidFill>
                  <a:srgbClr val="5C6B80"/>
                </a:solidFill>
                <a:latin typeface="Calibri" pitchFamily="34" charset="0"/>
                <a:ea typeface="Calibri" pitchFamily="34" charset="-122"/>
                <a:cs typeface="Calibri" pitchFamily="34" charset="-120"/>
              </a:rPr>
              <a:t>tenure: korelasi −0,35  ·  MonthlyCharges: +0,19  ·  TotalCharges: −0,20  ·  TotalAddOns: −0,17 (semua vs ChurnFlag)</a:t>
            </a:r>
            <a:endParaRPr lang="en-US" sz="870" dirty="0"/>
          </a:p>
        </p:txBody>
      </p:sp>
      <p:sp>
        <p:nvSpPr>
          <p:cNvPr id="43" name="Text 40"/>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07.6 · Validasi Statistik</a:t>
            </a:r>
            <a:endParaRPr lang="en-US" sz="850" dirty="0"/>
          </a:p>
        </p:txBody>
      </p:sp>
      <p:sp>
        <p:nvSpPr>
          <p:cNvPr id="44" name="Text 41"/>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11 / 16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08 · PYTHON / XGBOOST</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Predictive Modeling — Evaluasi Model</a:t>
            </a:r>
            <a:endParaRPr lang="en-US" sz="2700" dirty="0"/>
          </a:p>
        </p:txBody>
      </p:sp>
      <p:pic>
        <p:nvPicPr>
          <p:cNvPr id="4" name="Image 0" descr="/home/claude/imgs/cell_29_1.png"/>
          <p:cNvPicPr>
            <a:picLocks noChangeAspect="1"/>
          </p:cNvPicPr>
          <p:nvPr/>
        </p:nvPicPr>
        <p:blipFill>
          <a:blip r:embed="rId3"/>
          <a:stretch>
            <a:fillRect/>
          </a:stretch>
        </p:blipFill>
        <p:spPr>
          <a:xfrm>
            <a:off x="548640" y="1463040"/>
            <a:ext cx="4206240" cy="3173570"/>
          </a:xfrm>
          <a:prstGeom prst="rect">
            <a:avLst/>
          </a:prstGeom>
        </p:spPr>
      </p:pic>
      <p:sp>
        <p:nvSpPr>
          <p:cNvPr id="5" name="Shape 2"/>
          <p:cNvSpPr/>
          <p:nvPr/>
        </p:nvSpPr>
        <p:spPr>
          <a:xfrm>
            <a:off x="5120640" y="1463040"/>
            <a:ext cx="1536192" cy="914400"/>
          </a:xfrm>
          <a:prstGeom prst="roundRect">
            <a:avLst>
              <a:gd name="adj" fmla="val 6000"/>
            </a:avLst>
          </a:prstGeom>
          <a:solidFill>
            <a:srgbClr val="F4F8FB"/>
          </a:solidFill>
          <a:ln w="9525">
            <a:solidFill>
              <a:srgbClr val="DCE6EF"/>
            </a:solidFill>
            <a:prstDash val="solid"/>
          </a:ln>
        </p:spPr>
      </p:sp>
      <p:sp>
        <p:nvSpPr>
          <p:cNvPr id="6" name="Text 3"/>
          <p:cNvSpPr txBox="1"/>
          <p:nvPr/>
        </p:nvSpPr>
        <p:spPr>
          <a:xfrm>
            <a:off x="5120640" y="1572768"/>
            <a:ext cx="1536192" cy="457200"/>
          </a:xfrm>
          <a:prstGeom prst="rect">
            <a:avLst/>
          </a:prstGeom>
          <a:noFill/>
          <a:ln/>
        </p:spPr>
        <p:txBody>
          <a:bodyPr wrap="square" lIns="0" tIns="0" rIns="0" bIns="0" rtlCol="0" anchor="ctr"/>
          <a:lstStyle/>
          <a:p>
            <a:pPr marL="0" indent="0" algn="ctr">
              <a:buNone/>
            </a:pPr>
            <a:r>
              <a:rPr lang="en-US" sz="2000" b="1" dirty="0">
                <a:solidFill>
                  <a:srgbClr val="21295C"/>
                </a:solidFill>
                <a:latin typeface="Cambria" pitchFamily="34" charset="0"/>
                <a:ea typeface="Cambria" pitchFamily="34" charset="-122"/>
                <a:cs typeface="Cambria" pitchFamily="34" charset="-120"/>
              </a:rPr>
              <a:t>0,55</a:t>
            </a:r>
            <a:endParaRPr lang="en-US" sz="2000" dirty="0"/>
          </a:p>
        </p:txBody>
      </p:sp>
      <p:sp>
        <p:nvSpPr>
          <p:cNvPr id="7" name="Text 4"/>
          <p:cNvSpPr txBox="1"/>
          <p:nvPr/>
        </p:nvSpPr>
        <p:spPr>
          <a:xfrm>
            <a:off x="5120640" y="2057400"/>
            <a:ext cx="1536192" cy="274320"/>
          </a:xfrm>
          <a:prstGeom prst="rect">
            <a:avLst/>
          </a:prstGeom>
          <a:noFill/>
          <a:ln/>
        </p:spPr>
        <p:txBody>
          <a:bodyPr wrap="square" lIns="0" tIns="0" rIns="0" bIns="0" rtlCol="0" anchor="ctr"/>
          <a:lstStyle/>
          <a:p>
            <a:pPr marL="0" indent="0" algn="ctr">
              <a:buNone/>
            </a:pPr>
            <a:r>
              <a:rPr lang="en-US" sz="850" dirty="0">
                <a:solidFill>
                  <a:srgbClr val="5C6B80"/>
                </a:solidFill>
                <a:latin typeface="Calibri" pitchFamily="34" charset="0"/>
                <a:ea typeface="Calibri" pitchFamily="34" charset="-122"/>
                <a:cs typeface="Calibri" pitchFamily="34" charset="-120"/>
              </a:rPr>
              <a:t>Precision</a:t>
            </a:r>
            <a:endParaRPr lang="en-US" sz="850" dirty="0"/>
          </a:p>
        </p:txBody>
      </p:sp>
      <p:sp>
        <p:nvSpPr>
          <p:cNvPr id="8" name="Shape 5"/>
          <p:cNvSpPr/>
          <p:nvPr/>
        </p:nvSpPr>
        <p:spPr>
          <a:xfrm>
            <a:off x="6748272" y="1463040"/>
            <a:ext cx="1536192" cy="914400"/>
          </a:xfrm>
          <a:prstGeom prst="roundRect">
            <a:avLst>
              <a:gd name="adj" fmla="val 6000"/>
            </a:avLst>
          </a:prstGeom>
          <a:solidFill>
            <a:srgbClr val="F4F8FB"/>
          </a:solidFill>
          <a:ln w="9525">
            <a:solidFill>
              <a:srgbClr val="DCE6EF"/>
            </a:solidFill>
            <a:prstDash val="solid"/>
          </a:ln>
        </p:spPr>
      </p:sp>
      <p:sp>
        <p:nvSpPr>
          <p:cNvPr id="9" name="Text 6"/>
          <p:cNvSpPr txBox="1"/>
          <p:nvPr/>
        </p:nvSpPr>
        <p:spPr>
          <a:xfrm>
            <a:off x="6748272" y="1572768"/>
            <a:ext cx="1536192" cy="457200"/>
          </a:xfrm>
          <a:prstGeom prst="rect">
            <a:avLst/>
          </a:prstGeom>
          <a:noFill/>
          <a:ln/>
        </p:spPr>
        <p:txBody>
          <a:bodyPr wrap="square" lIns="0" tIns="0" rIns="0" bIns="0" rtlCol="0" anchor="ctr"/>
          <a:lstStyle/>
          <a:p>
            <a:pPr marL="0" indent="0" algn="ctr">
              <a:buNone/>
            </a:pPr>
            <a:r>
              <a:rPr lang="en-US" sz="2000" b="1" dirty="0">
                <a:solidFill>
                  <a:srgbClr val="21295C"/>
                </a:solidFill>
                <a:latin typeface="Cambria" pitchFamily="34" charset="0"/>
                <a:ea typeface="Cambria" pitchFamily="34" charset="-122"/>
                <a:cs typeface="Cambria" pitchFamily="34" charset="-120"/>
              </a:rPr>
              <a:t>0,79</a:t>
            </a:r>
            <a:endParaRPr lang="en-US" sz="2000" dirty="0"/>
          </a:p>
        </p:txBody>
      </p:sp>
      <p:sp>
        <p:nvSpPr>
          <p:cNvPr id="10" name="Text 7"/>
          <p:cNvSpPr txBox="1"/>
          <p:nvPr/>
        </p:nvSpPr>
        <p:spPr>
          <a:xfrm>
            <a:off x="6748272" y="2057400"/>
            <a:ext cx="1536192" cy="274320"/>
          </a:xfrm>
          <a:prstGeom prst="rect">
            <a:avLst/>
          </a:prstGeom>
          <a:noFill/>
          <a:ln/>
        </p:spPr>
        <p:txBody>
          <a:bodyPr wrap="square" lIns="0" tIns="0" rIns="0" bIns="0" rtlCol="0" anchor="ctr"/>
          <a:lstStyle/>
          <a:p>
            <a:pPr marL="0" indent="0" algn="ctr">
              <a:buNone/>
            </a:pPr>
            <a:r>
              <a:rPr lang="en-US" sz="850" dirty="0">
                <a:solidFill>
                  <a:srgbClr val="5C6B80"/>
                </a:solidFill>
                <a:latin typeface="Calibri" pitchFamily="34" charset="0"/>
                <a:ea typeface="Calibri" pitchFamily="34" charset="-122"/>
                <a:cs typeface="Calibri" pitchFamily="34" charset="-120"/>
              </a:rPr>
              <a:t>Recall</a:t>
            </a:r>
            <a:endParaRPr lang="en-US" sz="850" dirty="0"/>
          </a:p>
        </p:txBody>
      </p:sp>
      <p:sp>
        <p:nvSpPr>
          <p:cNvPr id="11" name="Shape 8"/>
          <p:cNvSpPr/>
          <p:nvPr/>
        </p:nvSpPr>
        <p:spPr>
          <a:xfrm>
            <a:off x="8375904" y="1463040"/>
            <a:ext cx="1536192" cy="914400"/>
          </a:xfrm>
          <a:prstGeom prst="roundRect">
            <a:avLst>
              <a:gd name="adj" fmla="val 6000"/>
            </a:avLst>
          </a:prstGeom>
          <a:solidFill>
            <a:srgbClr val="F4F8FB"/>
          </a:solidFill>
          <a:ln w="9525">
            <a:solidFill>
              <a:srgbClr val="DCE6EF"/>
            </a:solidFill>
            <a:prstDash val="solid"/>
          </a:ln>
        </p:spPr>
      </p:sp>
      <p:sp>
        <p:nvSpPr>
          <p:cNvPr id="12" name="Text 9"/>
          <p:cNvSpPr txBox="1"/>
          <p:nvPr/>
        </p:nvSpPr>
        <p:spPr>
          <a:xfrm>
            <a:off x="8375904" y="1572768"/>
            <a:ext cx="1536192" cy="457200"/>
          </a:xfrm>
          <a:prstGeom prst="rect">
            <a:avLst/>
          </a:prstGeom>
          <a:noFill/>
          <a:ln/>
        </p:spPr>
        <p:txBody>
          <a:bodyPr wrap="square" lIns="0" tIns="0" rIns="0" bIns="0" rtlCol="0" anchor="ctr"/>
          <a:lstStyle/>
          <a:p>
            <a:pPr marL="0" indent="0" algn="ctr">
              <a:buNone/>
            </a:pPr>
            <a:r>
              <a:rPr lang="en-US" sz="2000" b="1" dirty="0">
                <a:solidFill>
                  <a:srgbClr val="21295C"/>
                </a:solidFill>
                <a:latin typeface="Cambria" pitchFamily="34" charset="0"/>
                <a:ea typeface="Cambria" pitchFamily="34" charset="-122"/>
                <a:cs typeface="Cambria" pitchFamily="34" charset="-120"/>
              </a:rPr>
              <a:t>0,65</a:t>
            </a:r>
            <a:endParaRPr lang="en-US" sz="2000" dirty="0"/>
          </a:p>
        </p:txBody>
      </p:sp>
      <p:sp>
        <p:nvSpPr>
          <p:cNvPr id="13" name="Text 10"/>
          <p:cNvSpPr txBox="1"/>
          <p:nvPr/>
        </p:nvSpPr>
        <p:spPr>
          <a:xfrm>
            <a:off x="8375904" y="2057400"/>
            <a:ext cx="1536192" cy="274320"/>
          </a:xfrm>
          <a:prstGeom prst="rect">
            <a:avLst/>
          </a:prstGeom>
          <a:noFill/>
          <a:ln/>
        </p:spPr>
        <p:txBody>
          <a:bodyPr wrap="square" lIns="0" tIns="0" rIns="0" bIns="0" rtlCol="0" anchor="ctr"/>
          <a:lstStyle/>
          <a:p>
            <a:pPr marL="0" indent="0" algn="ctr">
              <a:buNone/>
            </a:pPr>
            <a:r>
              <a:rPr lang="en-US" sz="850" dirty="0">
                <a:solidFill>
                  <a:srgbClr val="5C6B80"/>
                </a:solidFill>
                <a:latin typeface="Calibri" pitchFamily="34" charset="0"/>
                <a:ea typeface="Calibri" pitchFamily="34" charset="-122"/>
                <a:cs typeface="Calibri" pitchFamily="34" charset="-120"/>
              </a:rPr>
              <a:t>F1-score</a:t>
            </a:r>
            <a:endParaRPr lang="en-US" sz="850" dirty="0"/>
          </a:p>
        </p:txBody>
      </p:sp>
      <p:sp>
        <p:nvSpPr>
          <p:cNvPr id="14" name="Shape 11"/>
          <p:cNvSpPr/>
          <p:nvPr/>
        </p:nvSpPr>
        <p:spPr>
          <a:xfrm>
            <a:off x="10003536" y="1463040"/>
            <a:ext cx="1536192" cy="914400"/>
          </a:xfrm>
          <a:prstGeom prst="roundRect">
            <a:avLst>
              <a:gd name="adj" fmla="val 6000"/>
            </a:avLst>
          </a:prstGeom>
          <a:solidFill>
            <a:srgbClr val="F4F8FB"/>
          </a:solidFill>
          <a:ln w="9525">
            <a:solidFill>
              <a:srgbClr val="DCE6EF"/>
            </a:solidFill>
            <a:prstDash val="solid"/>
          </a:ln>
        </p:spPr>
      </p:sp>
      <p:sp>
        <p:nvSpPr>
          <p:cNvPr id="15" name="Text 12"/>
          <p:cNvSpPr txBox="1"/>
          <p:nvPr/>
        </p:nvSpPr>
        <p:spPr>
          <a:xfrm>
            <a:off x="10003536" y="1572768"/>
            <a:ext cx="1536192" cy="457200"/>
          </a:xfrm>
          <a:prstGeom prst="rect">
            <a:avLst/>
          </a:prstGeom>
          <a:noFill/>
          <a:ln/>
        </p:spPr>
        <p:txBody>
          <a:bodyPr wrap="square" lIns="0" tIns="0" rIns="0" bIns="0" rtlCol="0" anchor="ctr"/>
          <a:lstStyle/>
          <a:p>
            <a:pPr marL="0" indent="0" algn="ctr">
              <a:buNone/>
            </a:pPr>
            <a:r>
              <a:rPr lang="en-US" sz="2000" b="1" dirty="0">
                <a:solidFill>
                  <a:srgbClr val="21295C"/>
                </a:solidFill>
                <a:latin typeface="Cambria" pitchFamily="34" charset="0"/>
                <a:ea typeface="Cambria" pitchFamily="34" charset="-122"/>
                <a:cs typeface="Cambria" pitchFamily="34" charset="-120"/>
              </a:rPr>
              <a:t>0,78</a:t>
            </a:r>
            <a:endParaRPr lang="en-US" sz="2000" dirty="0"/>
          </a:p>
        </p:txBody>
      </p:sp>
      <p:sp>
        <p:nvSpPr>
          <p:cNvPr id="16" name="Text 13"/>
          <p:cNvSpPr txBox="1"/>
          <p:nvPr/>
        </p:nvSpPr>
        <p:spPr>
          <a:xfrm>
            <a:off x="10003536" y="2057400"/>
            <a:ext cx="1536192" cy="274320"/>
          </a:xfrm>
          <a:prstGeom prst="rect">
            <a:avLst/>
          </a:prstGeom>
          <a:noFill/>
          <a:ln/>
        </p:spPr>
        <p:txBody>
          <a:bodyPr wrap="square" lIns="0" tIns="0" rIns="0" bIns="0" rtlCol="0" anchor="ctr"/>
          <a:lstStyle/>
          <a:p>
            <a:pPr marL="0" indent="0" algn="ctr">
              <a:buNone/>
            </a:pPr>
            <a:r>
              <a:rPr lang="en-US" sz="850" dirty="0">
                <a:solidFill>
                  <a:srgbClr val="5C6B80"/>
                </a:solidFill>
                <a:latin typeface="Calibri" pitchFamily="34" charset="0"/>
                <a:ea typeface="Calibri" pitchFamily="34" charset="-122"/>
                <a:cs typeface="Calibri" pitchFamily="34" charset="-120"/>
              </a:rPr>
              <a:t>Accuracy</a:t>
            </a:r>
            <a:endParaRPr lang="en-US" sz="850" dirty="0"/>
          </a:p>
        </p:txBody>
      </p:sp>
      <p:sp>
        <p:nvSpPr>
          <p:cNvPr id="17" name="Shape 14"/>
          <p:cNvSpPr/>
          <p:nvPr/>
        </p:nvSpPr>
        <p:spPr>
          <a:xfrm>
            <a:off x="5120640" y="2606040"/>
            <a:ext cx="6336792" cy="3566160"/>
          </a:xfrm>
          <a:prstGeom prst="roundRect">
            <a:avLst>
              <a:gd name="adj" fmla="val 1538"/>
            </a:avLst>
          </a:prstGeom>
          <a:solidFill>
            <a:srgbClr val="EAF6EE"/>
          </a:solidFill>
          <a:ln/>
        </p:spPr>
      </p:sp>
      <p:sp>
        <p:nvSpPr>
          <p:cNvPr id="18" name="Shape 15"/>
          <p:cNvSpPr/>
          <p:nvPr/>
        </p:nvSpPr>
        <p:spPr>
          <a:xfrm>
            <a:off x="5120640" y="2606040"/>
            <a:ext cx="54864" cy="3566160"/>
          </a:xfrm>
          <a:prstGeom prst="rect">
            <a:avLst/>
          </a:prstGeom>
          <a:solidFill>
            <a:srgbClr val="2E8B57"/>
          </a:solidFill>
          <a:ln/>
        </p:spPr>
      </p:sp>
      <p:sp>
        <p:nvSpPr>
          <p:cNvPr id="19" name="Text 16"/>
          <p:cNvSpPr txBox="1"/>
          <p:nvPr/>
        </p:nvSpPr>
        <p:spPr>
          <a:xfrm>
            <a:off x="5303520" y="2679192"/>
            <a:ext cx="5971032" cy="228600"/>
          </a:xfrm>
          <a:prstGeom prst="rect">
            <a:avLst/>
          </a:prstGeom>
          <a:noFill/>
          <a:ln/>
        </p:spPr>
        <p:txBody>
          <a:bodyPr wrap="square" lIns="0" tIns="0" rIns="0" bIns="0" rtlCol="0" anchor="ctr"/>
          <a:lstStyle/>
          <a:p>
            <a:pPr marL="0" indent="0">
              <a:buNone/>
            </a:pPr>
            <a:r>
              <a:rPr lang="en-US" sz="850" b="1" kern="0" spc="50" dirty="0">
                <a:solidFill>
                  <a:srgbClr val="2E8B57"/>
                </a:solidFill>
                <a:latin typeface="Calibri" pitchFamily="34" charset="0"/>
                <a:ea typeface="Calibri" pitchFamily="34" charset="-122"/>
                <a:cs typeface="Calibri" pitchFamily="34" charset="-120"/>
              </a:rPr>
              <a:t>INTERPRETASI BISNIS</a:t>
            </a:r>
            <a:endParaRPr lang="en-US" sz="850" dirty="0"/>
          </a:p>
        </p:txBody>
      </p:sp>
      <p:sp>
        <p:nvSpPr>
          <p:cNvPr id="20" name="Text 17"/>
          <p:cNvSpPr txBox="1"/>
          <p:nvPr/>
        </p:nvSpPr>
        <p:spPr>
          <a:xfrm>
            <a:off x="5303520" y="2898648"/>
            <a:ext cx="5971032" cy="3182112"/>
          </a:xfrm>
          <a:prstGeom prst="rect">
            <a:avLst/>
          </a:prstGeom>
          <a:noFill/>
          <a:ln/>
        </p:spPr>
        <p:txBody>
          <a:bodyPr wrap="square" lIns="0" tIns="0" rIns="0" bIns="0" rtlCol="0" anchor="t"/>
          <a:lstStyle/>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Model sengaja diarahkan memaksimalkan recall (menangkap 79% pelanggan yang benar-benar akan churn) meski precision menurun ke 0,55 — artinya 45% dari yang diprediksi churn adalah false positive.</a:t>
            </a:r>
            <a:endParaRPr lang="en-US" sz="1050" dirty="0"/>
          </a:p>
          <a:p>
            <a:pPr marL="0" indent="0">
              <a:lnSpc>
                <a:spcPct val="115000"/>
              </a:lnSpc>
              <a:buNone/>
            </a:pPr>
            <a:endParaRPr lang="en-US" sz="1050" dirty="0"/>
          </a:p>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Ini trade-off yang wajar secara bisnis: biaya memberi promo retensi ke pelanggan yang sebenarnya tidak akan churn jauh lebih murah dibanding biaya kehilangan pelanggan yang sebenarnya bisa diselamatkan. Dalam konteks churn prevention, recall tinggi lebih diprioritaskan dibanding precision tinggi.</a:t>
            </a:r>
            <a:endParaRPr lang="en-US" sz="1050" dirty="0"/>
          </a:p>
        </p:txBody>
      </p:sp>
      <p:sp>
        <p:nvSpPr>
          <p:cNvPr id="21" name="Text 18"/>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08 · Predictive Modeling</a:t>
            </a:r>
            <a:endParaRPr lang="en-US" sz="850" dirty="0"/>
          </a:p>
        </p:txBody>
      </p:sp>
      <p:sp>
        <p:nvSpPr>
          <p:cNvPr id="22" name="Text 19"/>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12 / 16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08 · PYTHON / XGBOOST</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Predictive Modeling — Feature Importance</a:t>
            </a:r>
            <a:endParaRPr lang="en-US" sz="2700" dirty="0"/>
          </a:p>
        </p:txBody>
      </p:sp>
      <p:pic>
        <p:nvPicPr>
          <p:cNvPr id="4" name="Image 0" descr="/home/claude/imgs/cell_32_0.png"/>
          <p:cNvPicPr>
            <a:picLocks noChangeAspect="1"/>
          </p:cNvPicPr>
          <p:nvPr/>
        </p:nvPicPr>
        <p:blipFill>
          <a:blip r:embed="rId3"/>
          <a:stretch>
            <a:fillRect/>
          </a:stretch>
        </p:blipFill>
        <p:spPr>
          <a:xfrm>
            <a:off x="548640" y="1463040"/>
            <a:ext cx="6949440" cy="3548107"/>
          </a:xfrm>
          <a:prstGeom prst="rect">
            <a:avLst/>
          </a:prstGeom>
        </p:spPr>
      </p:pic>
      <p:sp>
        <p:nvSpPr>
          <p:cNvPr id="5" name="Text 2"/>
          <p:cNvSpPr txBox="1"/>
          <p:nvPr/>
        </p:nvSpPr>
        <p:spPr>
          <a:xfrm>
            <a:off x="7772400" y="1463040"/>
            <a:ext cx="3867912" cy="274320"/>
          </a:xfrm>
          <a:prstGeom prst="rect">
            <a:avLst/>
          </a:prstGeom>
          <a:noFill/>
          <a:ln/>
        </p:spPr>
        <p:txBody>
          <a:bodyPr wrap="square" lIns="0" tIns="0" rIns="0" bIns="0" rtlCol="0" anchor="ctr"/>
          <a:lstStyle/>
          <a:p>
            <a:pPr marL="0" indent="0">
              <a:buNone/>
            </a:pPr>
            <a:r>
              <a:rPr lang="en-US" sz="1000" b="1" kern="0" spc="50" dirty="0">
                <a:solidFill>
                  <a:srgbClr val="1C7293"/>
                </a:solidFill>
                <a:latin typeface="Calibri" pitchFamily="34" charset="0"/>
                <a:ea typeface="Calibri" pitchFamily="34" charset="-122"/>
                <a:cs typeface="Calibri" pitchFamily="34" charset="-120"/>
              </a:rPr>
              <a:t>CLOSING THE LOOP DENGAN EDA</a:t>
            </a:r>
            <a:endParaRPr lang="en-US" sz="1000" dirty="0"/>
          </a:p>
        </p:txBody>
      </p:sp>
      <p:sp>
        <p:nvSpPr>
          <p:cNvPr id="6" name="Text 3"/>
          <p:cNvSpPr txBox="1"/>
          <p:nvPr/>
        </p:nvSpPr>
        <p:spPr>
          <a:xfrm>
            <a:off x="7772400" y="1783080"/>
            <a:ext cx="3867912" cy="2468880"/>
          </a:xfrm>
          <a:prstGeom prst="rect">
            <a:avLst/>
          </a:prstGeom>
          <a:noFill/>
          <a:ln/>
        </p:spPr>
        <p:txBody>
          <a:bodyPr wrap="square" lIns="0" tIns="0" rIns="0" bIns="0" rtlCol="0" anchor="t"/>
          <a:lstStyle/>
          <a:p>
            <a:pPr marL="342900" indent="-342900">
              <a:lnSpc>
                <a:spcPct val="120000"/>
              </a:lnSpc>
              <a:spcAft>
                <a:spcPts val="1000"/>
              </a:spcAft>
              <a:buSzPct val="100000"/>
              <a:buChar char="•"/>
            </a:pPr>
            <a:r>
              <a:rPr lang="en-US" sz="1100" dirty="0">
                <a:solidFill>
                  <a:srgbClr val="1B2430"/>
                </a:solidFill>
                <a:latin typeface="Calibri" pitchFamily="34" charset="0"/>
                <a:ea typeface="Calibri" pitchFamily="34" charset="-122"/>
                <a:cs typeface="Calibri" pitchFamily="34" charset="-120"/>
              </a:rPr>
              <a:t>Contract = fitur #1, disusul tenure &amp; InternetService — memvalidasi penuh temuan bivariate &amp; multivariate.</a:t>
            </a:r>
            <a:endParaRPr lang="en-US" sz="1100" dirty="0"/>
          </a:p>
          <a:p>
            <a:pPr marL="342900" indent="-342900">
              <a:lnSpc>
                <a:spcPct val="120000"/>
              </a:lnSpc>
              <a:spcAft>
                <a:spcPts val="1000"/>
              </a:spcAft>
              <a:buSzPct val="100000"/>
              <a:buChar char="•"/>
            </a:pPr>
            <a:r>
              <a:rPr lang="en-US" sz="1100" dirty="0">
                <a:solidFill>
                  <a:srgbClr val="1B2430"/>
                </a:solidFill>
                <a:latin typeface="Calibri" pitchFamily="34" charset="0"/>
                <a:ea typeface="Calibri" pitchFamily="34" charset="-122"/>
                <a:cs typeface="Calibri" pitchFamily="34" charset="-120"/>
              </a:rPr>
              <a:t>TotalCharges &amp; MonthlyCharges konsisten dengan correlation heatmap.</a:t>
            </a:r>
            <a:endParaRPr lang="en-US" sz="1100" dirty="0"/>
          </a:p>
          <a:p>
            <a:pPr marL="342900" indent="-342900">
              <a:lnSpc>
                <a:spcPct val="120000"/>
              </a:lnSpc>
              <a:spcAft>
                <a:spcPts val="1000"/>
              </a:spcAft>
              <a:buSzPct val="100000"/>
              <a:buChar char="•"/>
            </a:pPr>
            <a:r>
              <a:rPr lang="en-US" sz="1100" dirty="0">
                <a:solidFill>
                  <a:srgbClr val="1B2430"/>
                </a:solidFill>
                <a:latin typeface="Calibri" pitchFamily="34" charset="0"/>
                <a:ea typeface="Calibri" pitchFamily="34" charset="-122"/>
                <a:cs typeface="Calibri" pitchFamily="34" charset="-120"/>
              </a:rPr>
              <a:t>OnlineSecurity &amp; TechSupport masuk top feature — menegaskan hipotesis protection bundle.</a:t>
            </a:r>
            <a:endParaRPr lang="en-US" sz="1100" dirty="0"/>
          </a:p>
        </p:txBody>
      </p:sp>
      <p:sp>
        <p:nvSpPr>
          <p:cNvPr id="7" name="Shape 4"/>
          <p:cNvSpPr/>
          <p:nvPr/>
        </p:nvSpPr>
        <p:spPr>
          <a:xfrm>
            <a:off x="7772400" y="4389120"/>
            <a:ext cx="3867912" cy="1783080"/>
          </a:xfrm>
          <a:prstGeom prst="roundRect">
            <a:avLst>
              <a:gd name="adj" fmla="val 3077"/>
            </a:avLst>
          </a:prstGeom>
          <a:solidFill>
            <a:srgbClr val="EAF6EE"/>
          </a:solidFill>
          <a:ln/>
        </p:spPr>
      </p:sp>
      <p:sp>
        <p:nvSpPr>
          <p:cNvPr id="8" name="Shape 5"/>
          <p:cNvSpPr/>
          <p:nvPr/>
        </p:nvSpPr>
        <p:spPr>
          <a:xfrm>
            <a:off x="7772400" y="4389120"/>
            <a:ext cx="54864" cy="1783080"/>
          </a:xfrm>
          <a:prstGeom prst="rect">
            <a:avLst/>
          </a:prstGeom>
          <a:solidFill>
            <a:srgbClr val="2E8B57"/>
          </a:solidFill>
          <a:ln/>
        </p:spPr>
      </p:sp>
      <p:sp>
        <p:nvSpPr>
          <p:cNvPr id="9" name="Text 6"/>
          <p:cNvSpPr txBox="1"/>
          <p:nvPr/>
        </p:nvSpPr>
        <p:spPr>
          <a:xfrm>
            <a:off x="7955280" y="4462272"/>
            <a:ext cx="3502152" cy="228600"/>
          </a:xfrm>
          <a:prstGeom prst="rect">
            <a:avLst/>
          </a:prstGeom>
          <a:noFill/>
          <a:ln/>
        </p:spPr>
        <p:txBody>
          <a:bodyPr wrap="square" lIns="0" tIns="0" rIns="0" bIns="0" rtlCol="0" anchor="ctr"/>
          <a:lstStyle/>
          <a:p>
            <a:pPr marL="0" indent="0">
              <a:buNone/>
            </a:pPr>
            <a:r>
              <a:rPr lang="en-US" sz="850" b="1" kern="0" spc="50" dirty="0">
                <a:solidFill>
                  <a:srgbClr val="2E8B57"/>
                </a:solidFill>
                <a:latin typeface="Calibri" pitchFamily="34" charset="0"/>
                <a:ea typeface="Calibri" pitchFamily="34" charset="-122"/>
                <a:cs typeface="Calibri" pitchFamily="34" charset="-120"/>
              </a:rPr>
              <a:t>KESIMPULAN</a:t>
            </a:r>
            <a:endParaRPr lang="en-US" sz="850" dirty="0"/>
          </a:p>
        </p:txBody>
      </p:sp>
      <p:sp>
        <p:nvSpPr>
          <p:cNvPr id="10" name="Text 7"/>
          <p:cNvSpPr txBox="1"/>
          <p:nvPr/>
        </p:nvSpPr>
        <p:spPr>
          <a:xfrm>
            <a:off x="7955280" y="4681728"/>
            <a:ext cx="3502152" cy="1399032"/>
          </a:xfrm>
          <a:prstGeom prst="rect">
            <a:avLst/>
          </a:prstGeom>
          <a:noFill/>
          <a:ln/>
        </p:spPr>
        <p:txBody>
          <a:bodyPr wrap="square" lIns="0" tIns="0" rIns="0" bIns="0" rtlCol="0" anchor="t"/>
          <a:lstStyle/>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Feature importance XGBoost selaras penuh dengan insight EDA — memberi landasan solid dan saling menguatkan untuk strategi retensi di slide Rekomendasi.</a:t>
            </a:r>
            <a:endParaRPr lang="en-US" sz="1050" dirty="0"/>
          </a:p>
        </p:txBody>
      </p:sp>
      <p:sp>
        <p:nvSpPr>
          <p:cNvPr id="11" name="Text 8"/>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08 · Feature Importance</a:t>
            </a:r>
            <a:endParaRPr lang="en-US" sz="850" dirty="0"/>
          </a:p>
        </p:txBody>
      </p:sp>
      <p:sp>
        <p:nvSpPr>
          <p:cNvPr id="12" name="Text 9"/>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13 / 16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09 · POWER BI</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Dashboard — 3 Halaman Interaktif</a:t>
            </a:r>
            <a:endParaRPr lang="en-US" sz="2700" dirty="0"/>
          </a:p>
        </p:txBody>
      </p:sp>
      <p:sp>
        <p:nvSpPr>
          <p:cNvPr id="6" name="Text 3"/>
          <p:cNvSpPr txBox="1"/>
          <p:nvPr/>
        </p:nvSpPr>
        <p:spPr>
          <a:xfrm>
            <a:off x="548640" y="3765133"/>
            <a:ext cx="3639312" cy="274320"/>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Overview</a:t>
            </a:r>
            <a:endParaRPr lang="en-US" sz="1200" dirty="0"/>
          </a:p>
        </p:txBody>
      </p:sp>
      <p:sp>
        <p:nvSpPr>
          <p:cNvPr id="7" name="Text 4"/>
          <p:cNvSpPr txBox="1"/>
          <p:nvPr/>
        </p:nvSpPr>
        <p:spPr>
          <a:xfrm>
            <a:off x="548640" y="4057741"/>
            <a:ext cx="3639312" cy="640080"/>
          </a:xfrm>
          <a:prstGeom prst="rect">
            <a:avLst/>
          </a:prstGeom>
          <a:noFill/>
          <a:ln/>
        </p:spPr>
        <p:txBody>
          <a:bodyPr wrap="square" lIns="0" tIns="0" rIns="0" bIns="0" rtlCol="0" anchor="ctr"/>
          <a:lstStyle/>
          <a:p>
            <a:pPr marL="0" indent="0">
              <a:lnSpc>
                <a:spcPct val="120000"/>
              </a:lnSpc>
              <a:buNone/>
            </a:pPr>
            <a:r>
              <a:rPr lang="en-US" sz="930" dirty="0">
                <a:solidFill>
                  <a:srgbClr val="5C6B80"/>
                </a:solidFill>
                <a:latin typeface="Calibri" pitchFamily="34" charset="0"/>
                <a:ea typeface="Calibri" pitchFamily="34" charset="-122"/>
                <a:cs typeface="Calibri" pitchFamily="34" charset="-120"/>
              </a:rPr>
              <a:t>KPI utama, proporsi churn, tren berdasarkan tenure</a:t>
            </a:r>
            <a:endParaRPr lang="en-US" sz="930" dirty="0"/>
          </a:p>
        </p:txBody>
      </p:sp>
      <p:sp>
        <p:nvSpPr>
          <p:cNvPr id="10" name="Text 6"/>
          <p:cNvSpPr txBox="1"/>
          <p:nvPr/>
        </p:nvSpPr>
        <p:spPr>
          <a:xfrm>
            <a:off x="4361688" y="3765133"/>
            <a:ext cx="3639312" cy="274320"/>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Segment Deep Dive</a:t>
            </a:r>
            <a:endParaRPr lang="en-US" sz="1200" dirty="0"/>
          </a:p>
        </p:txBody>
      </p:sp>
      <p:sp>
        <p:nvSpPr>
          <p:cNvPr id="11" name="Text 7"/>
          <p:cNvSpPr txBox="1"/>
          <p:nvPr/>
        </p:nvSpPr>
        <p:spPr>
          <a:xfrm>
            <a:off x="4361688" y="4057741"/>
            <a:ext cx="3639312" cy="640080"/>
          </a:xfrm>
          <a:prstGeom prst="rect">
            <a:avLst/>
          </a:prstGeom>
          <a:noFill/>
          <a:ln/>
        </p:spPr>
        <p:txBody>
          <a:bodyPr wrap="square" lIns="0" tIns="0" rIns="0" bIns="0" rtlCol="0" anchor="ctr"/>
          <a:lstStyle/>
          <a:p>
            <a:pPr marL="0" indent="0">
              <a:lnSpc>
                <a:spcPct val="120000"/>
              </a:lnSpc>
              <a:buNone/>
            </a:pPr>
            <a:r>
              <a:rPr lang="en-US" sz="930" dirty="0">
                <a:solidFill>
                  <a:srgbClr val="5C6B80"/>
                </a:solidFill>
                <a:latin typeface="Calibri" pitchFamily="34" charset="0"/>
                <a:ea typeface="Calibri" pitchFamily="34" charset="-122"/>
                <a:cs typeface="Calibri" pitchFamily="34" charset="-120"/>
              </a:rPr>
              <a:t>Matriks TenureGroup × Contract, ChargeSegment, AutoPay</a:t>
            </a:r>
            <a:endParaRPr lang="en-US" sz="930" dirty="0"/>
          </a:p>
        </p:txBody>
      </p:sp>
      <p:sp>
        <p:nvSpPr>
          <p:cNvPr id="14" name="Text 9"/>
          <p:cNvSpPr txBox="1"/>
          <p:nvPr/>
        </p:nvSpPr>
        <p:spPr>
          <a:xfrm>
            <a:off x="8174736" y="3765133"/>
            <a:ext cx="3639312" cy="274320"/>
          </a:xfrm>
          <a:prstGeom prst="rect">
            <a:avLst/>
          </a:prstGeom>
          <a:noFill/>
          <a:ln/>
        </p:spPr>
        <p:txBody>
          <a:bodyPr wrap="square" lIns="0" tIns="0" rIns="0" bIns="0" rtlCol="0" anchor="ctr"/>
          <a:lstStyle/>
          <a:p>
            <a:pPr marL="0" indent="0">
              <a:buNone/>
            </a:pPr>
            <a:r>
              <a:rPr lang="en-US" sz="1200" b="1" dirty="0">
                <a:solidFill>
                  <a:srgbClr val="21295C"/>
                </a:solidFill>
                <a:latin typeface="Calibri" pitchFamily="34" charset="0"/>
                <a:ea typeface="Calibri" pitchFamily="34" charset="-122"/>
                <a:cs typeface="Calibri" pitchFamily="34" charset="-120"/>
              </a:rPr>
              <a:t>Recommendation</a:t>
            </a:r>
            <a:endParaRPr lang="en-US" sz="1200" dirty="0"/>
          </a:p>
        </p:txBody>
      </p:sp>
      <p:sp>
        <p:nvSpPr>
          <p:cNvPr id="15" name="Text 10"/>
          <p:cNvSpPr txBox="1"/>
          <p:nvPr/>
        </p:nvSpPr>
        <p:spPr>
          <a:xfrm>
            <a:off x="8174736" y="4057741"/>
            <a:ext cx="3639312" cy="640080"/>
          </a:xfrm>
          <a:prstGeom prst="rect">
            <a:avLst/>
          </a:prstGeom>
          <a:noFill/>
          <a:ln/>
        </p:spPr>
        <p:txBody>
          <a:bodyPr wrap="square" lIns="0" tIns="0" rIns="0" bIns="0" rtlCol="0" anchor="ctr"/>
          <a:lstStyle/>
          <a:p>
            <a:pPr marL="0" indent="0">
              <a:lnSpc>
                <a:spcPct val="120000"/>
              </a:lnSpc>
              <a:buNone/>
            </a:pPr>
            <a:r>
              <a:rPr lang="en-US" sz="930" dirty="0">
                <a:solidFill>
                  <a:srgbClr val="5C6B80"/>
                </a:solidFill>
                <a:latin typeface="Calibri" pitchFamily="34" charset="0"/>
                <a:ea typeface="Calibri" pitchFamily="34" charset="-122"/>
                <a:cs typeface="Calibri" pitchFamily="34" charset="-120"/>
              </a:rPr>
              <a:t>Segmen prioritas, rekomendasi, proyeksi dampak</a:t>
            </a:r>
            <a:endParaRPr lang="en-US" sz="930" dirty="0"/>
          </a:p>
        </p:txBody>
      </p:sp>
      <p:sp>
        <p:nvSpPr>
          <p:cNvPr id="16" name="Shape 11"/>
          <p:cNvSpPr/>
          <p:nvPr/>
        </p:nvSpPr>
        <p:spPr>
          <a:xfrm>
            <a:off x="548640" y="5257800"/>
            <a:ext cx="11091672" cy="914400"/>
          </a:xfrm>
          <a:prstGeom prst="roundRect">
            <a:avLst>
              <a:gd name="adj" fmla="val 6000"/>
            </a:avLst>
          </a:prstGeom>
          <a:solidFill>
            <a:srgbClr val="FDECEA"/>
          </a:solidFill>
          <a:ln/>
        </p:spPr>
      </p:sp>
      <p:sp>
        <p:nvSpPr>
          <p:cNvPr id="17" name="Shape 12"/>
          <p:cNvSpPr/>
          <p:nvPr/>
        </p:nvSpPr>
        <p:spPr>
          <a:xfrm>
            <a:off x="548640" y="5257800"/>
            <a:ext cx="54864" cy="914400"/>
          </a:xfrm>
          <a:prstGeom prst="rect">
            <a:avLst/>
          </a:prstGeom>
          <a:solidFill>
            <a:srgbClr val="C0392B"/>
          </a:solidFill>
          <a:ln/>
        </p:spPr>
      </p:sp>
      <p:sp>
        <p:nvSpPr>
          <p:cNvPr id="18" name="Text 13"/>
          <p:cNvSpPr txBox="1"/>
          <p:nvPr/>
        </p:nvSpPr>
        <p:spPr>
          <a:xfrm>
            <a:off x="731520" y="5330952"/>
            <a:ext cx="10725912" cy="228600"/>
          </a:xfrm>
          <a:prstGeom prst="rect">
            <a:avLst/>
          </a:prstGeom>
          <a:noFill/>
          <a:ln/>
        </p:spPr>
        <p:txBody>
          <a:bodyPr wrap="square" lIns="0" tIns="0" rIns="0" bIns="0" rtlCol="0" anchor="ctr"/>
          <a:lstStyle/>
          <a:p>
            <a:pPr marL="0" indent="0">
              <a:buNone/>
            </a:pPr>
            <a:r>
              <a:rPr lang="en-US" sz="850" b="1" kern="0" spc="50" dirty="0">
                <a:solidFill>
                  <a:srgbClr val="C0392B"/>
                </a:solidFill>
                <a:latin typeface="Calibri" pitchFamily="34" charset="0"/>
                <a:ea typeface="Calibri" pitchFamily="34" charset="-122"/>
                <a:cs typeface="Calibri" pitchFamily="34" charset="-120"/>
              </a:rPr>
              <a:t>CATATAN PERBAIKAN METRIK</a:t>
            </a:r>
            <a:endParaRPr lang="en-US" sz="850" dirty="0"/>
          </a:p>
        </p:txBody>
      </p:sp>
      <p:sp>
        <p:nvSpPr>
          <p:cNvPr id="19" name="Text 14"/>
          <p:cNvSpPr txBox="1"/>
          <p:nvPr/>
        </p:nvSpPr>
        <p:spPr>
          <a:xfrm>
            <a:off x="731520" y="5550408"/>
            <a:ext cx="10725912" cy="530352"/>
          </a:xfrm>
          <a:prstGeom prst="rect">
            <a:avLst/>
          </a:prstGeom>
          <a:noFill/>
          <a:ln/>
        </p:spPr>
        <p:txBody>
          <a:bodyPr wrap="square" lIns="0" tIns="0" rIns="0" bIns="0" rtlCol="0" anchor="t"/>
          <a:lstStyle/>
          <a:p>
            <a:pPr marL="0" indent="0">
              <a:lnSpc>
                <a:spcPct val="115000"/>
              </a:lnSpc>
              <a:buNone/>
            </a:pPr>
            <a:r>
              <a:rPr lang="en-US" sz="1050" dirty="0">
                <a:solidFill>
                  <a:srgbClr val="1B2430"/>
                </a:solidFill>
                <a:latin typeface="Calibri" pitchFamily="34" charset="0"/>
                <a:ea typeface="Calibri" pitchFamily="34" charset="-122"/>
                <a:cs typeface="Calibri" pitchFamily="34" charset="-120"/>
              </a:rPr>
              <a:t>“Saved Revenue (10% Success)” dihitung dari SUM(TotalCharges) — basis historis, bukan recurring. Basis yang benar: SUM(MonthlyCharges) pelanggan churn (formula koreksi di slide Business Impact).</a:t>
            </a:r>
            <a:endParaRPr lang="en-US" sz="1050" dirty="0"/>
          </a:p>
        </p:txBody>
      </p:sp>
      <p:sp>
        <p:nvSpPr>
          <p:cNvPr id="20" name="Text 15"/>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09 · Dashboard Power BI</a:t>
            </a:r>
            <a:endParaRPr lang="en-US" sz="850" dirty="0"/>
          </a:p>
        </p:txBody>
      </p:sp>
      <p:sp>
        <p:nvSpPr>
          <p:cNvPr id="21" name="Text 16"/>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14 / 16</a:t>
            </a:r>
            <a:endParaRPr lang="en-US" sz="850" dirty="0"/>
          </a:p>
        </p:txBody>
      </p:sp>
      <p:pic>
        <p:nvPicPr>
          <p:cNvPr id="22" name="Picture 21">
            <a:extLst>
              <a:ext uri="{FF2B5EF4-FFF2-40B4-BE49-F238E27FC236}">
                <a16:creationId xmlns:a16="http://schemas.microsoft.com/office/drawing/2014/main" id="{79BCD652-ADB6-43DC-A962-F00457A71147}"/>
              </a:ext>
            </a:extLst>
          </p:cNvPr>
          <p:cNvPicPr>
            <a:picLocks noChangeAspect="1"/>
          </p:cNvPicPr>
          <p:nvPr/>
        </p:nvPicPr>
        <p:blipFill>
          <a:blip r:embed="rId3"/>
          <a:stretch>
            <a:fillRect/>
          </a:stretch>
        </p:blipFill>
        <p:spPr>
          <a:xfrm>
            <a:off x="603504" y="1293791"/>
            <a:ext cx="3124936" cy="2425622"/>
          </a:xfrm>
          <a:prstGeom prst="rect">
            <a:avLst/>
          </a:prstGeom>
        </p:spPr>
      </p:pic>
      <p:pic>
        <p:nvPicPr>
          <p:cNvPr id="23" name="Picture 22">
            <a:extLst>
              <a:ext uri="{FF2B5EF4-FFF2-40B4-BE49-F238E27FC236}">
                <a16:creationId xmlns:a16="http://schemas.microsoft.com/office/drawing/2014/main" id="{9835ACC4-4BED-4B12-8A43-95FF11A11484}"/>
              </a:ext>
            </a:extLst>
          </p:cNvPr>
          <p:cNvPicPr>
            <a:picLocks noChangeAspect="1"/>
          </p:cNvPicPr>
          <p:nvPr/>
        </p:nvPicPr>
        <p:blipFill>
          <a:blip r:embed="rId4"/>
          <a:stretch>
            <a:fillRect/>
          </a:stretch>
        </p:blipFill>
        <p:spPr>
          <a:xfrm>
            <a:off x="4323745" y="1270589"/>
            <a:ext cx="3255685" cy="2403104"/>
          </a:xfrm>
          <a:prstGeom prst="rect">
            <a:avLst/>
          </a:prstGeom>
        </p:spPr>
      </p:pic>
      <p:pic>
        <p:nvPicPr>
          <p:cNvPr id="24" name="Picture 23">
            <a:extLst>
              <a:ext uri="{FF2B5EF4-FFF2-40B4-BE49-F238E27FC236}">
                <a16:creationId xmlns:a16="http://schemas.microsoft.com/office/drawing/2014/main" id="{0F52047B-233A-4455-986B-C3EEA8B56B5D}"/>
              </a:ext>
            </a:extLst>
          </p:cNvPr>
          <p:cNvPicPr>
            <a:picLocks noChangeAspect="1"/>
          </p:cNvPicPr>
          <p:nvPr/>
        </p:nvPicPr>
        <p:blipFill rotWithShape="1">
          <a:blip r:embed="rId5"/>
          <a:srcRect b="8970"/>
          <a:stretch/>
        </p:blipFill>
        <p:spPr>
          <a:xfrm>
            <a:off x="7967055" y="1298020"/>
            <a:ext cx="3846993" cy="240310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320040"/>
            <a:ext cx="9144000" cy="274320"/>
          </a:xfrm>
          <a:prstGeom prst="rect">
            <a:avLst/>
          </a:prstGeom>
          <a:noFill/>
          <a:ln/>
        </p:spPr>
        <p:txBody>
          <a:bodyPr wrap="square" lIns="0" tIns="0" rIns="0" bIns="0" rtlCol="0" anchor="ctr"/>
          <a:lstStyle/>
          <a:p>
            <a:pPr marL="0" indent="0">
              <a:buNone/>
            </a:pPr>
            <a:r>
              <a:rPr lang="en-US" sz="1100" b="1" kern="0" spc="200" dirty="0">
                <a:solidFill>
                  <a:srgbClr val="1C7293"/>
                </a:solidFill>
                <a:latin typeface="Calibri" pitchFamily="34" charset="0"/>
                <a:ea typeface="Calibri" pitchFamily="34" charset="-122"/>
                <a:cs typeface="Calibri" pitchFamily="34" charset="-120"/>
              </a:rPr>
              <a:t>BAGIAN 10</a:t>
            </a:r>
            <a:endParaRPr lang="en-US" sz="1100" dirty="0"/>
          </a:p>
        </p:txBody>
      </p:sp>
      <p:sp>
        <p:nvSpPr>
          <p:cNvPr id="3" name="Text 1"/>
          <p:cNvSpPr txBox="1"/>
          <p:nvPr/>
        </p:nvSpPr>
        <p:spPr>
          <a:xfrm>
            <a:off x="548640" y="566928"/>
            <a:ext cx="11064240" cy="566928"/>
          </a:xfrm>
          <a:prstGeom prst="rect">
            <a:avLst/>
          </a:prstGeom>
          <a:noFill/>
          <a:ln/>
        </p:spPr>
        <p:txBody>
          <a:bodyPr wrap="square" lIns="0" tIns="0" rIns="0" bIns="0" rtlCol="0" anchor="ctr"/>
          <a:lstStyle/>
          <a:p>
            <a:pPr marL="0" indent="0">
              <a:buNone/>
            </a:pPr>
            <a:r>
              <a:rPr lang="en-US" sz="2700" b="1" dirty="0">
                <a:solidFill>
                  <a:srgbClr val="21295C"/>
                </a:solidFill>
                <a:latin typeface="Cambria" pitchFamily="34" charset="0"/>
                <a:ea typeface="Cambria" pitchFamily="34" charset="-122"/>
                <a:cs typeface="Cambria" pitchFamily="34" charset="-120"/>
              </a:rPr>
              <a:t>Insight &amp; Rekomendasi</a:t>
            </a:r>
            <a:endParaRPr lang="en-US" sz="2700" dirty="0"/>
          </a:p>
        </p:txBody>
      </p:sp>
      <p:sp>
        <p:nvSpPr>
          <p:cNvPr id="4" name="Shape 2"/>
          <p:cNvSpPr/>
          <p:nvPr/>
        </p:nvSpPr>
        <p:spPr>
          <a:xfrm>
            <a:off x="548640" y="1463040"/>
            <a:ext cx="3063240" cy="365760"/>
          </a:xfrm>
          <a:prstGeom prst="rect">
            <a:avLst/>
          </a:prstGeom>
          <a:solidFill>
            <a:srgbClr val="21295C"/>
          </a:solidFill>
          <a:ln/>
        </p:spPr>
      </p:sp>
      <p:sp>
        <p:nvSpPr>
          <p:cNvPr id="5" name="Text 3"/>
          <p:cNvSpPr txBox="1"/>
          <p:nvPr/>
        </p:nvSpPr>
        <p:spPr>
          <a:xfrm>
            <a:off x="640080" y="1463040"/>
            <a:ext cx="2916936" cy="36576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Insight</a:t>
            </a:r>
            <a:endParaRPr lang="en-US" sz="1000" dirty="0"/>
          </a:p>
        </p:txBody>
      </p:sp>
      <p:sp>
        <p:nvSpPr>
          <p:cNvPr id="6" name="Shape 4"/>
          <p:cNvSpPr/>
          <p:nvPr/>
        </p:nvSpPr>
        <p:spPr>
          <a:xfrm>
            <a:off x="3611880" y="1463040"/>
            <a:ext cx="4480560" cy="365760"/>
          </a:xfrm>
          <a:prstGeom prst="rect">
            <a:avLst/>
          </a:prstGeom>
          <a:solidFill>
            <a:srgbClr val="21295C"/>
          </a:solidFill>
          <a:ln/>
        </p:spPr>
      </p:sp>
      <p:sp>
        <p:nvSpPr>
          <p:cNvPr id="7" name="Text 5"/>
          <p:cNvSpPr txBox="1"/>
          <p:nvPr/>
        </p:nvSpPr>
        <p:spPr>
          <a:xfrm>
            <a:off x="3703320" y="1463040"/>
            <a:ext cx="4334256" cy="36576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Rekomendasi</a:t>
            </a:r>
            <a:endParaRPr lang="en-US" sz="1000" dirty="0"/>
          </a:p>
        </p:txBody>
      </p:sp>
      <p:sp>
        <p:nvSpPr>
          <p:cNvPr id="8" name="Shape 6"/>
          <p:cNvSpPr/>
          <p:nvPr/>
        </p:nvSpPr>
        <p:spPr>
          <a:xfrm>
            <a:off x="8092440" y="1463040"/>
            <a:ext cx="1600200" cy="365760"/>
          </a:xfrm>
          <a:prstGeom prst="rect">
            <a:avLst/>
          </a:prstGeom>
          <a:solidFill>
            <a:srgbClr val="21295C"/>
          </a:solidFill>
          <a:ln/>
        </p:spPr>
      </p:sp>
      <p:sp>
        <p:nvSpPr>
          <p:cNvPr id="9" name="Text 7"/>
          <p:cNvSpPr txBox="1"/>
          <p:nvPr/>
        </p:nvSpPr>
        <p:spPr>
          <a:xfrm>
            <a:off x="8183880" y="1463040"/>
            <a:ext cx="1453896" cy="36576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Tim</a:t>
            </a:r>
            <a:endParaRPr lang="en-US" sz="1000" dirty="0"/>
          </a:p>
        </p:txBody>
      </p:sp>
      <p:sp>
        <p:nvSpPr>
          <p:cNvPr id="10" name="Shape 8"/>
          <p:cNvSpPr/>
          <p:nvPr/>
        </p:nvSpPr>
        <p:spPr>
          <a:xfrm>
            <a:off x="9692640" y="1463040"/>
            <a:ext cx="1947672" cy="365760"/>
          </a:xfrm>
          <a:prstGeom prst="rect">
            <a:avLst/>
          </a:prstGeom>
          <a:solidFill>
            <a:srgbClr val="21295C"/>
          </a:solidFill>
          <a:ln/>
        </p:spPr>
      </p:sp>
      <p:sp>
        <p:nvSpPr>
          <p:cNvPr id="11" name="Text 9"/>
          <p:cNvSpPr txBox="1"/>
          <p:nvPr/>
        </p:nvSpPr>
        <p:spPr>
          <a:xfrm>
            <a:off x="9784080" y="1463040"/>
            <a:ext cx="1801368" cy="365760"/>
          </a:xfrm>
          <a:prstGeom prst="rect">
            <a:avLst/>
          </a:prstGeom>
          <a:noFill/>
          <a:ln/>
        </p:spPr>
        <p:txBody>
          <a:bodyPr wrap="square" lIns="0" tIns="0" rIns="0" bIns="0" rtlCol="0" anchor="ctr"/>
          <a:lstStyle/>
          <a:p>
            <a:pPr marL="0" indent="0">
              <a:buNone/>
            </a:pPr>
            <a:r>
              <a:rPr lang="en-US" sz="1000" b="1" dirty="0">
                <a:solidFill>
                  <a:srgbClr val="FFFFFF"/>
                </a:solidFill>
                <a:latin typeface="Calibri" pitchFamily="34" charset="0"/>
                <a:ea typeface="Calibri" pitchFamily="34" charset="-122"/>
                <a:cs typeface="Calibri" pitchFamily="34" charset="-120"/>
              </a:rPr>
              <a:t>Prioritas</a:t>
            </a:r>
            <a:endParaRPr lang="en-US" sz="1000" dirty="0"/>
          </a:p>
        </p:txBody>
      </p:sp>
      <p:sp>
        <p:nvSpPr>
          <p:cNvPr id="12" name="Shape 10"/>
          <p:cNvSpPr/>
          <p:nvPr/>
        </p:nvSpPr>
        <p:spPr>
          <a:xfrm>
            <a:off x="548640" y="1828800"/>
            <a:ext cx="3063240" cy="566928"/>
          </a:xfrm>
          <a:prstGeom prst="rect">
            <a:avLst/>
          </a:prstGeom>
          <a:solidFill>
            <a:srgbClr val="FFFFFF"/>
          </a:solidFill>
          <a:ln w="6350">
            <a:solidFill>
              <a:srgbClr val="DCE6EF"/>
            </a:solidFill>
            <a:prstDash val="solid"/>
          </a:ln>
        </p:spPr>
      </p:sp>
      <p:sp>
        <p:nvSpPr>
          <p:cNvPr id="13" name="Text 11"/>
          <p:cNvSpPr txBox="1"/>
          <p:nvPr/>
        </p:nvSpPr>
        <p:spPr>
          <a:xfrm>
            <a:off x="640080" y="1828800"/>
            <a:ext cx="291693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Kontrak bulanan churn tinggi</a:t>
            </a:r>
            <a:endParaRPr lang="en-US" sz="880" dirty="0"/>
          </a:p>
        </p:txBody>
      </p:sp>
      <p:sp>
        <p:nvSpPr>
          <p:cNvPr id="14" name="Shape 12"/>
          <p:cNvSpPr/>
          <p:nvPr/>
        </p:nvSpPr>
        <p:spPr>
          <a:xfrm>
            <a:off x="3611880" y="1828800"/>
            <a:ext cx="4480560" cy="566928"/>
          </a:xfrm>
          <a:prstGeom prst="rect">
            <a:avLst/>
          </a:prstGeom>
          <a:solidFill>
            <a:srgbClr val="FFFFFF"/>
          </a:solidFill>
          <a:ln w="6350">
            <a:solidFill>
              <a:srgbClr val="DCE6EF"/>
            </a:solidFill>
            <a:prstDash val="solid"/>
          </a:ln>
        </p:spPr>
      </p:sp>
      <p:sp>
        <p:nvSpPr>
          <p:cNvPr id="15" name="Text 13"/>
          <p:cNvSpPr txBox="1"/>
          <p:nvPr/>
        </p:nvSpPr>
        <p:spPr>
          <a:xfrm>
            <a:off x="3703320" y="1828800"/>
            <a:ext cx="433425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Program “Lock-In”: diskon bulan ke-3 untuk upgrade ke kontrak 1 tahun</a:t>
            </a:r>
            <a:endParaRPr lang="en-US" sz="880" dirty="0"/>
          </a:p>
        </p:txBody>
      </p:sp>
      <p:sp>
        <p:nvSpPr>
          <p:cNvPr id="16" name="Shape 14"/>
          <p:cNvSpPr/>
          <p:nvPr/>
        </p:nvSpPr>
        <p:spPr>
          <a:xfrm>
            <a:off x="8092440" y="1828800"/>
            <a:ext cx="1600200" cy="566928"/>
          </a:xfrm>
          <a:prstGeom prst="rect">
            <a:avLst/>
          </a:prstGeom>
          <a:solidFill>
            <a:srgbClr val="FFFFFF"/>
          </a:solidFill>
          <a:ln w="6350">
            <a:solidFill>
              <a:srgbClr val="DCE6EF"/>
            </a:solidFill>
            <a:prstDash val="solid"/>
          </a:ln>
        </p:spPr>
      </p:sp>
      <p:sp>
        <p:nvSpPr>
          <p:cNvPr id="17" name="Text 15"/>
          <p:cNvSpPr txBox="1"/>
          <p:nvPr/>
        </p:nvSpPr>
        <p:spPr>
          <a:xfrm>
            <a:off x="8183880" y="1828800"/>
            <a:ext cx="145389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Marketing</a:t>
            </a:r>
            <a:endParaRPr lang="en-US" sz="880" dirty="0"/>
          </a:p>
        </p:txBody>
      </p:sp>
      <p:sp>
        <p:nvSpPr>
          <p:cNvPr id="18" name="Shape 16"/>
          <p:cNvSpPr/>
          <p:nvPr/>
        </p:nvSpPr>
        <p:spPr>
          <a:xfrm>
            <a:off x="9692640" y="1828800"/>
            <a:ext cx="1947672" cy="566928"/>
          </a:xfrm>
          <a:prstGeom prst="rect">
            <a:avLst/>
          </a:prstGeom>
          <a:solidFill>
            <a:srgbClr val="FFFFFF"/>
          </a:solidFill>
          <a:ln w="6350">
            <a:solidFill>
              <a:srgbClr val="DCE6EF"/>
            </a:solidFill>
            <a:prstDash val="solid"/>
          </a:ln>
        </p:spPr>
      </p:sp>
      <p:sp>
        <p:nvSpPr>
          <p:cNvPr id="19" name="Text 17"/>
          <p:cNvSpPr txBox="1"/>
          <p:nvPr/>
        </p:nvSpPr>
        <p:spPr>
          <a:xfrm>
            <a:off x="9784080" y="1828800"/>
            <a:ext cx="1801368" cy="566928"/>
          </a:xfrm>
          <a:prstGeom prst="rect">
            <a:avLst/>
          </a:prstGeom>
          <a:noFill/>
          <a:ln/>
        </p:spPr>
        <p:txBody>
          <a:bodyPr wrap="square" lIns="0" tIns="0" rIns="0" bIns="0" rtlCol="0" anchor="ctr"/>
          <a:lstStyle/>
          <a:p>
            <a:pPr marL="0" indent="0">
              <a:lnSpc>
                <a:spcPct val="105000"/>
              </a:lnSpc>
              <a:buNone/>
            </a:pPr>
            <a:r>
              <a:rPr lang="en-US" sz="880" b="1" dirty="0">
                <a:solidFill>
                  <a:srgbClr val="C0392B"/>
                </a:solidFill>
                <a:latin typeface="Calibri" pitchFamily="34" charset="0"/>
                <a:ea typeface="Calibri" pitchFamily="34" charset="-122"/>
                <a:cs typeface="Calibri" pitchFamily="34" charset="-120"/>
              </a:rPr>
              <a:t>Tinggi</a:t>
            </a:r>
            <a:endParaRPr lang="en-US" sz="880" dirty="0"/>
          </a:p>
        </p:txBody>
      </p:sp>
      <p:sp>
        <p:nvSpPr>
          <p:cNvPr id="20" name="Shape 18"/>
          <p:cNvSpPr/>
          <p:nvPr/>
        </p:nvSpPr>
        <p:spPr>
          <a:xfrm>
            <a:off x="548640" y="2395728"/>
            <a:ext cx="3063240" cy="566928"/>
          </a:xfrm>
          <a:prstGeom prst="rect">
            <a:avLst/>
          </a:prstGeom>
          <a:solidFill>
            <a:srgbClr val="F4F8FB"/>
          </a:solidFill>
          <a:ln w="6350">
            <a:solidFill>
              <a:srgbClr val="DCE6EF"/>
            </a:solidFill>
            <a:prstDash val="solid"/>
          </a:ln>
        </p:spPr>
      </p:sp>
      <p:sp>
        <p:nvSpPr>
          <p:cNvPr id="21" name="Text 19"/>
          <p:cNvSpPr txBox="1"/>
          <p:nvPr/>
        </p:nvSpPr>
        <p:spPr>
          <a:xfrm>
            <a:off x="640080" y="2395728"/>
            <a:ext cx="291693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Churn tinggi di 12 bulan pertama</a:t>
            </a:r>
            <a:endParaRPr lang="en-US" sz="880" dirty="0"/>
          </a:p>
        </p:txBody>
      </p:sp>
      <p:sp>
        <p:nvSpPr>
          <p:cNvPr id="22" name="Shape 20"/>
          <p:cNvSpPr/>
          <p:nvPr/>
        </p:nvSpPr>
        <p:spPr>
          <a:xfrm>
            <a:off x="3611880" y="2395728"/>
            <a:ext cx="4480560" cy="566928"/>
          </a:xfrm>
          <a:prstGeom prst="rect">
            <a:avLst/>
          </a:prstGeom>
          <a:solidFill>
            <a:srgbClr val="F4F8FB"/>
          </a:solidFill>
          <a:ln w="6350">
            <a:solidFill>
              <a:srgbClr val="DCE6EF"/>
            </a:solidFill>
            <a:prstDash val="solid"/>
          </a:ln>
        </p:spPr>
      </p:sp>
      <p:sp>
        <p:nvSpPr>
          <p:cNvPr id="23" name="Text 21"/>
          <p:cNvSpPr txBox="1"/>
          <p:nvPr/>
        </p:nvSpPr>
        <p:spPr>
          <a:xfrm>
            <a:off x="3703320" y="2395728"/>
            <a:ext cx="433425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Program onboarding intensif dgn follow-up aktif</a:t>
            </a:r>
            <a:endParaRPr lang="en-US" sz="880" dirty="0"/>
          </a:p>
        </p:txBody>
      </p:sp>
      <p:sp>
        <p:nvSpPr>
          <p:cNvPr id="24" name="Shape 22"/>
          <p:cNvSpPr/>
          <p:nvPr/>
        </p:nvSpPr>
        <p:spPr>
          <a:xfrm>
            <a:off x="8092440" y="2395728"/>
            <a:ext cx="1600200" cy="566928"/>
          </a:xfrm>
          <a:prstGeom prst="rect">
            <a:avLst/>
          </a:prstGeom>
          <a:solidFill>
            <a:srgbClr val="F4F8FB"/>
          </a:solidFill>
          <a:ln w="6350">
            <a:solidFill>
              <a:srgbClr val="DCE6EF"/>
            </a:solidFill>
            <a:prstDash val="solid"/>
          </a:ln>
        </p:spPr>
      </p:sp>
      <p:sp>
        <p:nvSpPr>
          <p:cNvPr id="25" name="Text 23"/>
          <p:cNvSpPr txBox="1"/>
          <p:nvPr/>
        </p:nvSpPr>
        <p:spPr>
          <a:xfrm>
            <a:off x="8183880" y="2395728"/>
            <a:ext cx="145389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CRM</a:t>
            </a:r>
            <a:endParaRPr lang="en-US" sz="880" dirty="0"/>
          </a:p>
        </p:txBody>
      </p:sp>
      <p:sp>
        <p:nvSpPr>
          <p:cNvPr id="26" name="Shape 24"/>
          <p:cNvSpPr/>
          <p:nvPr/>
        </p:nvSpPr>
        <p:spPr>
          <a:xfrm>
            <a:off x="9692640" y="2395728"/>
            <a:ext cx="1947672" cy="566928"/>
          </a:xfrm>
          <a:prstGeom prst="rect">
            <a:avLst/>
          </a:prstGeom>
          <a:solidFill>
            <a:srgbClr val="F4F8FB"/>
          </a:solidFill>
          <a:ln w="6350">
            <a:solidFill>
              <a:srgbClr val="DCE6EF"/>
            </a:solidFill>
            <a:prstDash val="solid"/>
          </a:ln>
        </p:spPr>
      </p:sp>
      <p:sp>
        <p:nvSpPr>
          <p:cNvPr id="27" name="Text 25"/>
          <p:cNvSpPr txBox="1"/>
          <p:nvPr/>
        </p:nvSpPr>
        <p:spPr>
          <a:xfrm>
            <a:off x="9784080" y="2395728"/>
            <a:ext cx="1801368" cy="566928"/>
          </a:xfrm>
          <a:prstGeom prst="rect">
            <a:avLst/>
          </a:prstGeom>
          <a:noFill/>
          <a:ln/>
        </p:spPr>
        <p:txBody>
          <a:bodyPr wrap="square" lIns="0" tIns="0" rIns="0" bIns="0" rtlCol="0" anchor="ctr"/>
          <a:lstStyle/>
          <a:p>
            <a:pPr marL="0" indent="0">
              <a:lnSpc>
                <a:spcPct val="105000"/>
              </a:lnSpc>
              <a:buNone/>
            </a:pPr>
            <a:r>
              <a:rPr lang="en-US" sz="880" b="1" dirty="0">
                <a:solidFill>
                  <a:srgbClr val="C0392B"/>
                </a:solidFill>
                <a:latin typeface="Calibri" pitchFamily="34" charset="0"/>
                <a:ea typeface="Calibri" pitchFamily="34" charset="-122"/>
                <a:cs typeface="Calibri" pitchFamily="34" charset="-120"/>
              </a:rPr>
              <a:t>Tinggi</a:t>
            </a:r>
            <a:endParaRPr lang="en-US" sz="880" dirty="0"/>
          </a:p>
        </p:txBody>
      </p:sp>
      <p:sp>
        <p:nvSpPr>
          <p:cNvPr id="28" name="Shape 26"/>
          <p:cNvSpPr/>
          <p:nvPr/>
        </p:nvSpPr>
        <p:spPr>
          <a:xfrm>
            <a:off x="548640" y="2962656"/>
            <a:ext cx="3063240" cy="566928"/>
          </a:xfrm>
          <a:prstGeom prst="rect">
            <a:avLst/>
          </a:prstGeom>
          <a:solidFill>
            <a:srgbClr val="FFFFFF"/>
          </a:solidFill>
          <a:ln w="6350">
            <a:solidFill>
              <a:srgbClr val="DCE6EF"/>
            </a:solidFill>
            <a:prstDash val="solid"/>
          </a:ln>
        </p:spPr>
      </p:sp>
      <p:sp>
        <p:nvSpPr>
          <p:cNvPr id="29" name="Text 27"/>
          <p:cNvSpPr txBox="1"/>
          <p:nvPr/>
        </p:nvSpPr>
        <p:spPr>
          <a:xfrm>
            <a:off x="640080" y="2962656"/>
            <a:ext cx="291693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Pembayaran manual lebih rawan churn</a:t>
            </a:r>
            <a:endParaRPr lang="en-US" sz="880" dirty="0"/>
          </a:p>
        </p:txBody>
      </p:sp>
      <p:sp>
        <p:nvSpPr>
          <p:cNvPr id="30" name="Shape 28"/>
          <p:cNvSpPr/>
          <p:nvPr/>
        </p:nvSpPr>
        <p:spPr>
          <a:xfrm>
            <a:off x="3611880" y="2962656"/>
            <a:ext cx="4480560" cy="566928"/>
          </a:xfrm>
          <a:prstGeom prst="rect">
            <a:avLst/>
          </a:prstGeom>
          <a:solidFill>
            <a:srgbClr val="FFFFFF"/>
          </a:solidFill>
          <a:ln w="6350">
            <a:solidFill>
              <a:srgbClr val="DCE6EF"/>
            </a:solidFill>
            <a:prstDash val="solid"/>
          </a:ln>
        </p:spPr>
      </p:sp>
      <p:sp>
        <p:nvSpPr>
          <p:cNvPr id="31" name="Text 29"/>
          <p:cNvSpPr txBox="1"/>
          <p:nvPr/>
        </p:nvSpPr>
        <p:spPr>
          <a:xfrm>
            <a:off x="3703320" y="2962656"/>
            <a:ext cx="433425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Kampanye Auto-Pay: cashback / free trial Tech Support</a:t>
            </a:r>
            <a:endParaRPr lang="en-US" sz="880" dirty="0"/>
          </a:p>
        </p:txBody>
      </p:sp>
      <p:sp>
        <p:nvSpPr>
          <p:cNvPr id="32" name="Shape 30"/>
          <p:cNvSpPr/>
          <p:nvPr/>
        </p:nvSpPr>
        <p:spPr>
          <a:xfrm>
            <a:off x="8092440" y="2962656"/>
            <a:ext cx="1600200" cy="566928"/>
          </a:xfrm>
          <a:prstGeom prst="rect">
            <a:avLst/>
          </a:prstGeom>
          <a:solidFill>
            <a:srgbClr val="FFFFFF"/>
          </a:solidFill>
          <a:ln w="6350">
            <a:solidFill>
              <a:srgbClr val="DCE6EF"/>
            </a:solidFill>
            <a:prstDash val="solid"/>
          </a:ln>
        </p:spPr>
      </p:sp>
      <p:sp>
        <p:nvSpPr>
          <p:cNvPr id="33" name="Text 31"/>
          <p:cNvSpPr txBox="1"/>
          <p:nvPr/>
        </p:nvSpPr>
        <p:spPr>
          <a:xfrm>
            <a:off x="8183880" y="2962656"/>
            <a:ext cx="145389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Finance</a:t>
            </a:r>
            <a:endParaRPr lang="en-US" sz="880" dirty="0"/>
          </a:p>
        </p:txBody>
      </p:sp>
      <p:sp>
        <p:nvSpPr>
          <p:cNvPr id="34" name="Shape 32"/>
          <p:cNvSpPr/>
          <p:nvPr/>
        </p:nvSpPr>
        <p:spPr>
          <a:xfrm>
            <a:off x="9692640" y="2962656"/>
            <a:ext cx="1947672" cy="566928"/>
          </a:xfrm>
          <a:prstGeom prst="rect">
            <a:avLst/>
          </a:prstGeom>
          <a:solidFill>
            <a:srgbClr val="FFFFFF"/>
          </a:solidFill>
          <a:ln w="6350">
            <a:solidFill>
              <a:srgbClr val="DCE6EF"/>
            </a:solidFill>
            <a:prstDash val="solid"/>
          </a:ln>
        </p:spPr>
      </p:sp>
      <p:sp>
        <p:nvSpPr>
          <p:cNvPr id="35" name="Text 33"/>
          <p:cNvSpPr txBox="1"/>
          <p:nvPr/>
        </p:nvSpPr>
        <p:spPr>
          <a:xfrm>
            <a:off x="9784080" y="2962656"/>
            <a:ext cx="1801368" cy="566928"/>
          </a:xfrm>
          <a:prstGeom prst="rect">
            <a:avLst/>
          </a:prstGeom>
          <a:noFill/>
          <a:ln/>
        </p:spPr>
        <p:txBody>
          <a:bodyPr wrap="square" lIns="0" tIns="0" rIns="0" bIns="0" rtlCol="0" anchor="ctr"/>
          <a:lstStyle/>
          <a:p>
            <a:pPr marL="0" indent="0">
              <a:lnSpc>
                <a:spcPct val="105000"/>
              </a:lnSpc>
              <a:buNone/>
            </a:pPr>
            <a:r>
              <a:rPr lang="en-US" sz="880" b="1" dirty="0">
                <a:solidFill>
                  <a:srgbClr val="D9822B"/>
                </a:solidFill>
                <a:latin typeface="Calibri" pitchFamily="34" charset="0"/>
                <a:ea typeface="Calibri" pitchFamily="34" charset="-122"/>
                <a:cs typeface="Calibri" pitchFamily="34" charset="-120"/>
              </a:rPr>
              <a:t>Sedang</a:t>
            </a:r>
            <a:endParaRPr lang="en-US" sz="880" dirty="0"/>
          </a:p>
        </p:txBody>
      </p:sp>
      <p:sp>
        <p:nvSpPr>
          <p:cNvPr id="36" name="Shape 34"/>
          <p:cNvSpPr/>
          <p:nvPr/>
        </p:nvSpPr>
        <p:spPr>
          <a:xfrm>
            <a:off x="548640" y="3529584"/>
            <a:ext cx="3063240" cy="566928"/>
          </a:xfrm>
          <a:prstGeom prst="rect">
            <a:avLst/>
          </a:prstGeom>
          <a:solidFill>
            <a:srgbClr val="F4F8FB"/>
          </a:solidFill>
          <a:ln w="6350">
            <a:solidFill>
              <a:srgbClr val="DCE6EF"/>
            </a:solidFill>
            <a:prstDash val="solid"/>
          </a:ln>
        </p:spPr>
      </p:sp>
      <p:sp>
        <p:nvSpPr>
          <p:cNvPr id="37" name="Text 35"/>
          <p:cNvSpPr txBox="1"/>
          <p:nvPr/>
        </p:nvSpPr>
        <p:spPr>
          <a:xfrm>
            <a:off x="640080" y="3529584"/>
            <a:ext cx="291693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Tanpa protection bundle churn tinggi</a:t>
            </a:r>
            <a:endParaRPr lang="en-US" sz="880" dirty="0"/>
          </a:p>
        </p:txBody>
      </p:sp>
      <p:sp>
        <p:nvSpPr>
          <p:cNvPr id="38" name="Shape 36"/>
          <p:cNvSpPr/>
          <p:nvPr/>
        </p:nvSpPr>
        <p:spPr>
          <a:xfrm>
            <a:off x="3611880" y="3529584"/>
            <a:ext cx="4480560" cy="566928"/>
          </a:xfrm>
          <a:prstGeom prst="rect">
            <a:avLst/>
          </a:prstGeom>
          <a:solidFill>
            <a:srgbClr val="F4F8FB"/>
          </a:solidFill>
          <a:ln w="6350">
            <a:solidFill>
              <a:srgbClr val="DCE6EF"/>
            </a:solidFill>
            <a:prstDash val="solid"/>
          </a:ln>
        </p:spPr>
      </p:sp>
      <p:sp>
        <p:nvSpPr>
          <p:cNvPr id="39" name="Text 37"/>
          <p:cNvSpPr txBox="1"/>
          <p:nvPr/>
        </p:nvSpPr>
        <p:spPr>
          <a:xfrm>
            <a:off x="3703320" y="3529584"/>
            <a:ext cx="433425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Bundling gratis trial Security/Tech Support</a:t>
            </a:r>
            <a:endParaRPr lang="en-US" sz="880" dirty="0"/>
          </a:p>
        </p:txBody>
      </p:sp>
      <p:sp>
        <p:nvSpPr>
          <p:cNvPr id="40" name="Shape 38"/>
          <p:cNvSpPr/>
          <p:nvPr/>
        </p:nvSpPr>
        <p:spPr>
          <a:xfrm>
            <a:off x="8092440" y="3529584"/>
            <a:ext cx="1600200" cy="566928"/>
          </a:xfrm>
          <a:prstGeom prst="rect">
            <a:avLst/>
          </a:prstGeom>
          <a:solidFill>
            <a:srgbClr val="F4F8FB"/>
          </a:solidFill>
          <a:ln w="6350">
            <a:solidFill>
              <a:srgbClr val="DCE6EF"/>
            </a:solidFill>
            <a:prstDash val="solid"/>
          </a:ln>
        </p:spPr>
      </p:sp>
      <p:sp>
        <p:nvSpPr>
          <p:cNvPr id="41" name="Text 39"/>
          <p:cNvSpPr txBox="1"/>
          <p:nvPr/>
        </p:nvSpPr>
        <p:spPr>
          <a:xfrm>
            <a:off x="8183880" y="3529584"/>
            <a:ext cx="145389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Product</a:t>
            </a:r>
            <a:endParaRPr lang="en-US" sz="880" dirty="0"/>
          </a:p>
        </p:txBody>
      </p:sp>
      <p:sp>
        <p:nvSpPr>
          <p:cNvPr id="42" name="Shape 40"/>
          <p:cNvSpPr/>
          <p:nvPr/>
        </p:nvSpPr>
        <p:spPr>
          <a:xfrm>
            <a:off x="9692640" y="3529584"/>
            <a:ext cx="1947672" cy="566928"/>
          </a:xfrm>
          <a:prstGeom prst="rect">
            <a:avLst/>
          </a:prstGeom>
          <a:solidFill>
            <a:srgbClr val="F4F8FB"/>
          </a:solidFill>
          <a:ln w="6350">
            <a:solidFill>
              <a:srgbClr val="DCE6EF"/>
            </a:solidFill>
            <a:prstDash val="solid"/>
          </a:ln>
        </p:spPr>
      </p:sp>
      <p:sp>
        <p:nvSpPr>
          <p:cNvPr id="43" name="Text 41"/>
          <p:cNvSpPr txBox="1"/>
          <p:nvPr/>
        </p:nvSpPr>
        <p:spPr>
          <a:xfrm>
            <a:off x="9784080" y="3529584"/>
            <a:ext cx="1801368" cy="566928"/>
          </a:xfrm>
          <a:prstGeom prst="rect">
            <a:avLst/>
          </a:prstGeom>
          <a:noFill/>
          <a:ln/>
        </p:spPr>
        <p:txBody>
          <a:bodyPr wrap="square" lIns="0" tIns="0" rIns="0" bIns="0" rtlCol="0" anchor="ctr"/>
          <a:lstStyle/>
          <a:p>
            <a:pPr marL="0" indent="0">
              <a:lnSpc>
                <a:spcPct val="105000"/>
              </a:lnSpc>
              <a:buNone/>
            </a:pPr>
            <a:r>
              <a:rPr lang="en-US" sz="880" b="1" dirty="0">
                <a:solidFill>
                  <a:srgbClr val="D9822B"/>
                </a:solidFill>
                <a:latin typeface="Calibri" pitchFamily="34" charset="0"/>
                <a:ea typeface="Calibri" pitchFamily="34" charset="-122"/>
                <a:cs typeface="Calibri" pitchFamily="34" charset="-120"/>
              </a:rPr>
              <a:t>Sedang</a:t>
            </a:r>
            <a:endParaRPr lang="en-US" sz="880" dirty="0"/>
          </a:p>
        </p:txBody>
      </p:sp>
      <p:sp>
        <p:nvSpPr>
          <p:cNvPr id="44" name="Shape 42"/>
          <p:cNvSpPr/>
          <p:nvPr/>
        </p:nvSpPr>
        <p:spPr>
          <a:xfrm>
            <a:off x="548640" y="4096512"/>
            <a:ext cx="3063240" cy="566928"/>
          </a:xfrm>
          <a:prstGeom prst="rect">
            <a:avLst/>
          </a:prstGeom>
          <a:solidFill>
            <a:srgbClr val="FFFFFF"/>
          </a:solidFill>
          <a:ln w="6350">
            <a:solidFill>
              <a:srgbClr val="DCE6EF"/>
            </a:solidFill>
            <a:prstDash val="solid"/>
          </a:ln>
        </p:spPr>
      </p:sp>
      <p:sp>
        <p:nvSpPr>
          <p:cNvPr id="45" name="Text 43"/>
          <p:cNvSpPr txBox="1"/>
          <p:nvPr/>
        </p:nvSpPr>
        <p:spPr>
          <a:xfrm>
            <a:off x="640080" y="4096512"/>
            <a:ext cx="291693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Fiber optic churn tertinggi</a:t>
            </a:r>
            <a:endParaRPr lang="en-US" sz="880" dirty="0"/>
          </a:p>
        </p:txBody>
      </p:sp>
      <p:sp>
        <p:nvSpPr>
          <p:cNvPr id="46" name="Shape 44"/>
          <p:cNvSpPr/>
          <p:nvPr/>
        </p:nvSpPr>
        <p:spPr>
          <a:xfrm>
            <a:off x="3611880" y="4096512"/>
            <a:ext cx="4480560" cy="566928"/>
          </a:xfrm>
          <a:prstGeom prst="rect">
            <a:avLst/>
          </a:prstGeom>
          <a:solidFill>
            <a:srgbClr val="FFFFFF"/>
          </a:solidFill>
          <a:ln w="6350">
            <a:solidFill>
              <a:srgbClr val="DCE6EF"/>
            </a:solidFill>
            <a:prstDash val="solid"/>
          </a:ln>
        </p:spPr>
      </p:sp>
      <p:sp>
        <p:nvSpPr>
          <p:cNvPr id="47" name="Text 45"/>
          <p:cNvSpPr txBox="1"/>
          <p:nvPr/>
        </p:nvSpPr>
        <p:spPr>
          <a:xfrm>
            <a:off x="3703320" y="4096512"/>
            <a:ext cx="433425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Audit kepuasan layanan (survei/NPS)</a:t>
            </a:r>
            <a:endParaRPr lang="en-US" sz="880" dirty="0"/>
          </a:p>
        </p:txBody>
      </p:sp>
      <p:sp>
        <p:nvSpPr>
          <p:cNvPr id="48" name="Shape 46"/>
          <p:cNvSpPr/>
          <p:nvPr/>
        </p:nvSpPr>
        <p:spPr>
          <a:xfrm>
            <a:off x="8092440" y="4096512"/>
            <a:ext cx="1600200" cy="566928"/>
          </a:xfrm>
          <a:prstGeom prst="rect">
            <a:avLst/>
          </a:prstGeom>
          <a:solidFill>
            <a:srgbClr val="FFFFFF"/>
          </a:solidFill>
          <a:ln w="6350">
            <a:solidFill>
              <a:srgbClr val="DCE6EF"/>
            </a:solidFill>
            <a:prstDash val="solid"/>
          </a:ln>
        </p:spPr>
      </p:sp>
      <p:sp>
        <p:nvSpPr>
          <p:cNvPr id="49" name="Text 47"/>
          <p:cNvSpPr txBox="1"/>
          <p:nvPr/>
        </p:nvSpPr>
        <p:spPr>
          <a:xfrm>
            <a:off x="8183880" y="4096512"/>
            <a:ext cx="1453896" cy="566928"/>
          </a:xfrm>
          <a:prstGeom prst="rect">
            <a:avLst/>
          </a:prstGeom>
          <a:noFill/>
          <a:ln/>
        </p:spPr>
        <p:txBody>
          <a:bodyPr wrap="square" lIns="0" tIns="0" rIns="0" bIns="0" rtlCol="0" anchor="ctr"/>
          <a:lstStyle/>
          <a:p>
            <a:pPr marL="0" indent="0">
              <a:lnSpc>
                <a:spcPct val="105000"/>
              </a:lnSpc>
              <a:buNone/>
            </a:pPr>
            <a:r>
              <a:rPr lang="en-US" sz="880" dirty="0">
                <a:solidFill>
                  <a:srgbClr val="1B2430"/>
                </a:solidFill>
                <a:latin typeface="Calibri" pitchFamily="34" charset="0"/>
                <a:ea typeface="Calibri" pitchFamily="34" charset="-122"/>
                <a:cs typeface="Calibri" pitchFamily="34" charset="-120"/>
              </a:rPr>
              <a:t>Product</a:t>
            </a:r>
            <a:endParaRPr lang="en-US" sz="880" dirty="0"/>
          </a:p>
        </p:txBody>
      </p:sp>
      <p:sp>
        <p:nvSpPr>
          <p:cNvPr id="50" name="Shape 48"/>
          <p:cNvSpPr/>
          <p:nvPr/>
        </p:nvSpPr>
        <p:spPr>
          <a:xfrm>
            <a:off x="9692640" y="4096512"/>
            <a:ext cx="1947672" cy="566928"/>
          </a:xfrm>
          <a:prstGeom prst="rect">
            <a:avLst/>
          </a:prstGeom>
          <a:solidFill>
            <a:srgbClr val="FFFFFF"/>
          </a:solidFill>
          <a:ln w="6350">
            <a:solidFill>
              <a:srgbClr val="DCE6EF"/>
            </a:solidFill>
            <a:prstDash val="solid"/>
          </a:ln>
        </p:spPr>
      </p:sp>
      <p:sp>
        <p:nvSpPr>
          <p:cNvPr id="51" name="Text 49"/>
          <p:cNvSpPr txBox="1"/>
          <p:nvPr/>
        </p:nvSpPr>
        <p:spPr>
          <a:xfrm>
            <a:off x="9784080" y="4096512"/>
            <a:ext cx="1801368" cy="566928"/>
          </a:xfrm>
          <a:prstGeom prst="rect">
            <a:avLst/>
          </a:prstGeom>
          <a:noFill/>
          <a:ln/>
        </p:spPr>
        <p:txBody>
          <a:bodyPr wrap="square" lIns="0" tIns="0" rIns="0" bIns="0" rtlCol="0" anchor="ctr"/>
          <a:lstStyle/>
          <a:p>
            <a:pPr marL="0" indent="0">
              <a:lnSpc>
                <a:spcPct val="105000"/>
              </a:lnSpc>
              <a:buNone/>
            </a:pPr>
            <a:r>
              <a:rPr lang="en-US" sz="880" b="1" dirty="0">
                <a:solidFill>
                  <a:srgbClr val="2E8B57"/>
                </a:solidFill>
                <a:latin typeface="Calibri" pitchFamily="34" charset="0"/>
                <a:ea typeface="Calibri" pitchFamily="34" charset="-122"/>
                <a:cs typeface="Calibri" pitchFamily="34" charset="-120"/>
              </a:rPr>
              <a:t>Rendah–Sedang</a:t>
            </a:r>
            <a:endParaRPr lang="en-US" sz="880" dirty="0"/>
          </a:p>
        </p:txBody>
      </p:sp>
      <p:sp>
        <p:nvSpPr>
          <p:cNvPr id="52" name="Text 50"/>
          <p:cNvSpPr txBox="1"/>
          <p:nvPr/>
        </p:nvSpPr>
        <p:spPr>
          <a:xfrm>
            <a:off x="457200" y="6528816"/>
            <a:ext cx="7315200" cy="292608"/>
          </a:xfrm>
          <a:prstGeom prst="rect">
            <a:avLst/>
          </a:prstGeom>
          <a:noFill/>
          <a:ln/>
        </p:spPr>
        <p:txBody>
          <a:bodyPr wrap="square" lIns="0" tIns="0" rIns="0" bIns="0" rtlCol="0" anchor="ctr"/>
          <a:lstStyle/>
          <a:p>
            <a:pPr marL="0" indent="0">
              <a:buNone/>
            </a:pPr>
            <a:r>
              <a:rPr lang="en-US" sz="850" dirty="0">
                <a:solidFill>
                  <a:srgbClr val="5C6B80"/>
                </a:solidFill>
                <a:latin typeface="Calibri" pitchFamily="34" charset="0"/>
                <a:ea typeface="Calibri" pitchFamily="34" charset="-122"/>
                <a:cs typeface="Calibri" pitchFamily="34" charset="-120"/>
              </a:rPr>
              <a:t>10 · Insight &amp; Rekomendasi</a:t>
            </a:r>
            <a:endParaRPr lang="en-US" sz="850" dirty="0"/>
          </a:p>
        </p:txBody>
      </p:sp>
      <p:sp>
        <p:nvSpPr>
          <p:cNvPr id="53" name="Text 51"/>
          <p:cNvSpPr txBox="1"/>
          <p:nvPr/>
        </p:nvSpPr>
        <p:spPr>
          <a:xfrm>
            <a:off x="11002975" y="6528816"/>
            <a:ext cx="731520" cy="292608"/>
          </a:xfrm>
          <a:prstGeom prst="rect">
            <a:avLst/>
          </a:prstGeom>
          <a:noFill/>
          <a:ln/>
        </p:spPr>
        <p:txBody>
          <a:bodyPr wrap="square" lIns="0" tIns="0" rIns="0" bIns="0" rtlCol="0" anchor="ctr"/>
          <a:lstStyle/>
          <a:p>
            <a:pPr marL="0" indent="0" algn="r">
              <a:buNone/>
            </a:pPr>
            <a:r>
              <a:rPr lang="en-US" sz="850" dirty="0">
                <a:solidFill>
                  <a:srgbClr val="5C6B80"/>
                </a:solidFill>
                <a:latin typeface="Calibri" pitchFamily="34" charset="0"/>
                <a:ea typeface="Calibri" pitchFamily="34" charset="-122"/>
                <a:cs typeface="Calibri" pitchFamily="34" charset="-120"/>
              </a:rPr>
              <a:t>15 / 16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9326880" y="4206240"/>
            <a:ext cx="4754880" cy="4754880"/>
          </a:xfrm>
          <a:prstGeom prst="ellipse">
            <a:avLst/>
          </a:prstGeom>
          <a:solidFill>
            <a:srgbClr val="065A82">
              <a:alpha val="45000"/>
            </a:srgbClr>
          </a:solidFill>
          <a:ln/>
        </p:spPr>
      </p:sp>
      <p:sp>
        <p:nvSpPr>
          <p:cNvPr id="3" name="Text 1"/>
          <p:cNvSpPr txBox="1"/>
          <p:nvPr/>
        </p:nvSpPr>
        <p:spPr>
          <a:xfrm>
            <a:off x="640080" y="548640"/>
            <a:ext cx="5486400" cy="274320"/>
          </a:xfrm>
          <a:prstGeom prst="rect">
            <a:avLst/>
          </a:prstGeom>
          <a:noFill/>
          <a:ln/>
        </p:spPr>
        <p:txBody>
          <a:bodyPr wrap="square" lIns="0" tIns="0" rIns="0" bIns="0" rtlCol="0" anchor="ctr"/>
          <a:lstStyle/>
          <a:p>
            <a:pPr marL="0" indent="0">
              <a:buNone/>
            </a:pPr>
            <a:r>
              <a:rPr lang="en-US" sz="1100" b="1" kern="0" spc="200" dirty="0">
                <a:solidFill>
                  <a:srgbClr val="9FC1DE"/>
                </a:solidFill>
                <a:latin typeface="Calibri" pitchFamily="34" charset="0"/>
                <a:ea typeface="Calibri" pitchFamily="34" charset="-122"/>
                <a:cs typeface="Calibri" pitchFamily="34" charset="-120"/>
              </a:rPr>
              <a:t>BAGIAN 10.3</a:t>
            </a:r>
            <a:endParaRPr lang="en-US" sz="1100" dirty="0"/>
          </a:p>
        </p:txBody>
      </p:sp>
      <p:sp>
        <p:nvSpPr>
          <p:cNvPr id="4" name="Text 2"/>
          <p:cNvSpPr txBox="1"/>
          <p:nvPr/>
        </p:nvSpPr>
        <p:spPr>
          <a:xfrm>
            <a:off x="640080" y="822960"/>
            <a:ext cx="82296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Business Impact</a:t>
            </a:r>
            <a:endParaRPr lang="en-US" sz="3200" dirty="0"/>
          </a:p>
        </p:txBody>
      </p:sp>
      <p:sp>
        <p:nvSpPr>
          <p:cNvPr id="5" name="Shape 3"/>
          <p:cNvSpPr/>
          <p:nvPr/>
        </p:nvSpPr>
        <p:spPr>
          <a:xfrm>
            <a:off x="640080" y="1691640"/>
            <a:ext cx="10881360" cy="1371600"/>
          </a:xfrm>
          <a:prstGeom prst="roundRect">
            <a:avLst>
              <a:gd name="adj" fmla="val 4000"/>
            </a:avLst>
          </a:prstGeom>
          <a:solidFill>
            <a:srgbClr val="FFFFFF">
              <a:alpha val="8000"/>
            </a:srgbClr>
          </a:solidFill>
          <a:ln w="9525">
            <a:solidFill>
              <a:srgbClr val="FFFFFF">
                <a:alpha val="30000"/>
              </a:srgbClr>
            </a:solidFill>
            <a:prstDash val="solid"/>
          </a:ln>
        </p:spPr>
      </p:sp>
      <p:sp>
        <p:nvSpPr>
          <p:cNvPr id="6" name="Text 4"/>
          <p:cNvSpPr txBox="1"/>
          <p:nvPr/>
        </p:nvSpPr>
        <p:spPr>
          <a:xfrm>
            <a:off x="868680" y="1828800"/>
            <a:ext cx="10424160" cy="274320"/>
          </a:xfrm>
          <a:prstGeom prst="rect">
            <a:avLst/>
          </a:prstGeom>
          <a:noFill/>
          <a:ln/>
        </p:spPr>
        <p:txBody>
          <a:bodyPr wrap="square" lIns="0" tIns="0" rIns="0" bIns="0" rtlCol="0" anchor="ctr"/>
          <a:lstStyle/>
          <a:p>
            <a:pPr marL="0" indent="0">
              <a:buNone/>
            </a:pPr>
            <a:r>
              <a:rPr lang="en-US" sz="1000" b="1" kern="0" spc="50" dirty="0">
                <a:solidFill>
                  <a:srgbClr val="FFD79A"/>
                </a:solidFill>
                <a:latin typeface="Calibri" pitchFamily="34" charset="0"/>
                <a:ea typeface="Calibri" pitchFamily="34" charset="-122"/>
                <a:cs typeface="Calibri" pitchFamily="34" charset="-120"/>
              </a:rPr>
              <a:t>KOREKSI DEFINISI METRIK</a:t>
            </a:r>
            <a:endParaRPr lang="en-US" sz="1000" dirty="0"/>
          </a:p>
        </p:txBody>
      </p:sp>
      <p:sp>
        <p:nvSpPr>
          <p:cNvPr id="7" name="Text 5"/>
          <p:cNvSpPr txBox="1"/>
          <p:nvPr/>
        </p:nvSpPr>
        <p:spPr>
          <a:xfrm>
            <a:off x="868680" y="2121408"/>
            <a:ext cx="10424160" cy="868680"/>
          </a:xfrm>
          <a:prstGeom prst="rect">
            <a:avLst/>
          </a:prstGeom>
          <a:noFill/>
          <a:ln/>
        </p:spPr>
        <p:txBody>
          <a:bodyPr wrap="square" lIns="0" tIns="0" rIns="0" bIns="0" rtlCol="0" anchor="ctr"/>
          <a:lstStyle/>
          <a:p>
            <a:pPr marL="0" indent="0">
              <a:lnSpc>
                <a:spcPct val="125000"/>
              </a:lnSpc>
              <a:buNone/>
            </a:pPr>
            <a:r>
              <a:rPr lang="en-US" sz="1100" dirty="0">
                <a:solidFill>
                  <a:srgbClr val="E9EEF5"/>
                </a:solidFill>
                <a:latin typeface="Calibri" pitchFamily="34" charset="0"/>
                <a:ea typeface="Calibri" pitchFamily="34" charset="-122"/>
                <a:cs typeface="Calibri" pitchFamily="34" charset="-120"/>
              </a:rPr>
              <a:t>Dashboard awal melabeli 10% dari SUM(TotalCharges) sebagai “pendapatan bulanan diselamatkan” — keliru karena TotalCharges bersifat kumulatif historis. Formula yang benar: SUM(MonthlyCharges) pelanggan churn × 12 untuk basis tahunan.</a:t>
            </a:r>
            <a:endParaRPr lang="en-US" sz="1100" dirty="0"/>
          </a:p>
        </p:txBody>
      </p:sp>
      <p:sp>
        <p:nvSpPr>
          <p:cNvPr id="8" name="Shape 6"/>
          <p:cNvSpPr/>
          <p:nvPr/>
        </p:nvSpPr>
        <p:spPr>
          <a:xfrm>
            <a:off x="640080" y="3337560"/>
            <a:ext cx="3502152" cy="1508760"/>
          </a:xfrm>
          <a:prstGeom prst="roundRect">
            <a:avLst>
              <a:gd name="adj" fmla="val 3636"/>
            </a:avLst>
          </a:prstGeom>
          <a:solidFill>
            <a:srgbClr val="FFFFFF">
              <a:alpha val="8000"/>
            </a:srgbClr>
          </a:solidFill>
          <a:ln w="9525">
            <a:solidFill>
              <a:srgbClr val="FFFFFF">
                <a:alpha val="30000"/>
              </a:srgbClr>
            </a:solidFill>
            <a:prstDash val="solid"/>
          </a:ln>
        </p:spPr>
      </p:sp>
      <p:sp>
        <p:nvSpPr>
          <p:cNvPr id="9" name="Text 7"/>
          <p:cNvSpPr txBox="1"/>
          <p:nvPr/>
        </p:nvSpPr>
        <p:spPr>
          <a:xfrm>
            <a:off x="822960" y="3474720"/>
            <a:ext cx="3136392" cy="274320"/>
          </a:xfrm>
          <a:prstGeom prst="rect">
            <a:avLst/>
          </a:prstGeom>
          <a:noFill/>
          <a:ln/>
        </p:spPr>
        <p:txBody>
          <a:bodyPr wrap="square" lIns="0" tIns="0" rIns="0" bIns="0" rtlCol="0" anchor="ctr"/>
          <a:lstStyle/>
          <a:p>
            <a:pPr marL="0" indent="0">
              <a:buNone/>
            </a:pPr>
            <a:r>
              <a:rPr lang="en-US" sz="950" b="1" kern="0" spc="100" dirty="0">
                <a:solidFill>
                  <a:srgbClr val="9FC1DE"/>
                </a:solidFill>
                <a:latin typeface="Calibri" pitchFamily="34" charset="0"/>
                <a:ea typeface="Calibri" pitchFamily="34" charset="-122"/>
                <a:cs typeface="Calibri" pitchFamily="34" charset="-120"/>
              </a:rPr>
              <a:t>KONSERVATIF</a:t>
            </a:r>
            <a:endParaRPr lang="en-US" sz="950" dirty="0"/>
          </a:p>
        </p:txBody>
      </p:sp>
      <p:sp>
        <p:nvSpPr>
          <p:cNvPr id="10" name="Text 8"/>
          <p:cNvSpPr txBox="1"/>
          <p:nvPr/>
        </p:nvSpPr>
        <p:spPr>
          <a:xfrm>
            <a:off x="822960" y="3703320"/>
            <a:ext cx="313639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5%</a:t>
            </a:r>
            <a:endParaRPr lang="en-US" sz="3000" dirty="0"/>
          </a:p>
        </p:txBody>
      </p:sp>
      <p:sp>
        <p:nvSpPr>
          <p:cNvPr id="11" name="Text 9"/>
          <p:cNvSpPr txBox="1"/>
          <p:nvPr/>
        </p:nvSpPr>
        <p:spPr>
          <a:xfrm>
            <a:off x="822960" y="4251960"/>
            <a:ext cx="3136392" cy="502920"/>
          </a:xfrm>
          <a:prstGeom prst="rect">
            <a:avLst/>
          </a:prstGeom>
          <a:noFill/>
          <a:ln/>
        </p:spPr>
        <p:txBody>
          <a:bodyPr wrap="square" lIns="0" tIns="0" rIns="0" bIns="0" rtlCol="0" anchor="ctr"/>
          <a:lstStyle/>
          <a:p>
            <a:pPr marL="0" indent="0">
              <a:lnSpc>
                <a:spcPct val="120000"/>
              </a:lnSpc>
              <a:buNone/>
            </a:pPr>
            <a:r>
              <a:rPr lang="en-US" sz="900" dirty="0">
                <a:solidFill>
                  <a:srgbClr val="D7E6F2"/>
                </a:solidFill>
                <a:latin typeface="Calibri" pitchFamily="34" charset="0"/>
                <a:ea typeface="Calibri" pitchFamily="34" charset="-122"/>
                <a:cs typeface="Calibri" pitchFamily="34" charset="-120"/>
              </a:rPr>
              <a:t>dari pelanggan churn berhasil dipertahankan</a:t>
            </a:r>
            <a:endParaRPr lang="en-US" sz="900" dirty="0"/>
          </a:p>
        </p:txBody>
      </p:sp>
      <p:sp>
        <p:nvSpPr>
          <p:cNvPr id="12" name="Shape 10"/>
          <p:cNvSpPr/>
          <p:nvPr/>
        </p:nvSpPr>
        <p:spPr>
          <a:xfrm>
            <a:off x="4325112" y="3337560"/>
            <a:ext cx="3502152" cy="1508760"/>
          </a:xfrm>
          <a:prstGeom prst="roundRect">
            <a:avLst>
              <a:gd name="adj" fmla="val 3636"/>
            </a:avLst>
          </a:prstGeom>
          <a:solidFill>
            <a:srgbClr val="FFFFFF">
              <a:alpha val="8000"/>
            </a:srgbClr>
          </a:solidFill>
          <a:ln w="9525">
            <a:solidFill>
              <a:srgbClr val="FFFFFF">
                <a:alpha val="30000"/>
              </a:srgbClr>
            </a:solidFill>
            <a:prstDash val="solid"/>
          </a:ln>
        </p:spPr>
      </p:sp>
      <p:sp>
        <p:nvSpPr>
          <p:cNvPr id="13" name="Text 11"/>
          <p:cNvSpPr txBox="1"/>
          <p:nvPr/>
        </p:nvSpPr>
        <p:spPr>
          <a:xfrm>
            <a:off x="4507992" y="3474720"/>
            <a:ext cx="3136392" cy="274320"/>
          </a:xfrm>
          <a:prstGeom prst="rect">
            <a:avLst/>
          </a:prstGeom>
          <a:noFill/>
          <a:ln/>
        </p:spPr>
        <p:txBody>
          <a:bodyPr wrap="square" lIns="0" tIns="0" rIns="0" bIns="0" rtlCol="0" anchor="ctr"/>
          <a:lstStyle/>
          <a:p>
            <a:pPr marL="0" indent="0">
              <a:buNone/>
            </a:pPr>
            <a:r>
              <a:rPr lang="en-US" sz="950" b="1" kern="0" spc="100" dirty="0">
                <a:solidFill>
                  <a:srgbClr val="9FC1DE"/>
                </a:solidFill>
                <a:latin typeface="Calibri" pitchFamily="34" charset="0"/>
                <a:ea typeface="Calibri" pitchFamily="34" charset="-122"/>
                <a:cs typeface="Calibri" pitchFamily="34" charset="-120"/>
              </a:rPr>
              <a:t>MODERAT</a:t>
            </a:r>
            <a:endParaRPr lang="en-US" sz="950" dirty="0"/>
          </a:p>
        </p:txBody>
      </p:sp>
      <p:sp>
        <p:nvSpPr>
          <p:cNvPr id="14" name="Text 12"/>
          <p:cNvSpPr txBox="1"/>
          <p:nvPr/>
        </p:nvSpPr>
        <p:spPr>
          <a:xfrm>
            <a:off x="4507992" y="3703320"/>
            <a:ext cx="313639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10%</a:t>
            </a:r>
            <a:endParaRPr lang="en-US" sz="3000" dirty="0"/>
          </a:p>
        </p:txBody>
      </p:sp>
      <p:sp>
        <p:nvSpPr>
          <p:cNvPr id="15" name="Text 13"/>
          <p:cNvSpPr txBox="1"/>
          <p:nvPr/>
        </p:nvSpPr>
        <p:spPr>
          <a:xfrm>
            <a:off x="4507992" y="4251960"/>
            <a:ext cx="3136392" cy="502920"/>
          </a:xfrm>
          <a:prstGeom prst="rect">
            <a:avLst/>
          </a:prstGeom>
          <a:noFill/>
          <a:ln/>
        </p:spPr>
        <p:txBody>
          <a:bodyPr wrap="square" lIns="0" tIns="0" rIns="0" bIns="0" rtlCol="0" anchor="ctr"/>
          <a:lstStyle/>
          <a:p>
            <a:pPr marL="0" indent="0">
              <a:lnSpc>
                <a:spcPct val="120000"/>
              </a:lnSpc>
              <a:buNone/>
            </a:pPr>
            <a:r>
              <a:rPr lang="en-US" sz="900" dirty="0">
                <a:solidFill>
                  <a:srgbClr val="D7E6F2"/>
                </a:solidFill>
                <a:latin typeface="Calibri" pitchFamily="34" charset="0"/>
                <a:ea typeface="Calibri" pitchFamily="34" charset="-122"/>
                <a:cs typeface="Calibri" pitchFamily="34" charset="-120"/>
              </a:rPr>
              <a:t>dari pelanggan churn berhasil dipertahankan</a:t>
            </a:r>
            <a:endParaRPr lang="en-US" sz="900" dirty="0"/>
          </a:p>
        </p:txBody>
      </p:sp>
      <p:sp>
        <p:nvSpPr>
          <p:cNvPr id="16" name="Shape 14"/>
          <p:cNvSpPr/>
          <p:nvPr/>
        </p:nvSpPr>
        <p:spPr>
          <a:xfrm>
            <a:off x="8010144" y="3337560"/>
            <a:ext cx="3502152" cy="1508760"/>
          </a:xfrm>
          <a:prstGeom prst="roundRect">
            <a:avLst>
              <a:gd name="adj" fmla="val 3636"/>
            </a:avLst>
          </a:prstGeom>
          <a:solidFill>
            <a:srgbClr val="FFFFFF">
              <a:alpha val="8000"/>
            </a:srgbClr>
          </a:solidFill>
          <a:ln w="9525">
            <a:solidFill>
              <a:srgbClr val="FFFFFF">
                <a:alpha val="30000"/>
              </a:srgbClr>
            </a:solidFill>
            <a:prstDash val="solid"/>
          </a:ln>
        </p:spPr>
      </p:sp>
      <p:sp>
        <p:nvSpPr>
          <p:cNvPr id="17" name="Text 15"/>
          <p:cNvSpPr txBox="1"/>
          <p:nvPr/>
        </p:nvSpPr>
        <p:spPr>
          <a:xfrm>
            <a:off x="8193024" y="3474720"/>
            <a:ext cx="3136392" cy="274320"/>
          </a:xfrm>
          <a:prstGeom prst="rect">
            <a:avLst/>
          </a:prstGeom>
          <a:noFill/>
          <a:ln/>
        </p:spPr>
        <p:txBody>
          <a:bodyPr wrap="square" lIns="0" tIns="0" rIns="0" bIns="0" rtlCol="0" anchor="ctr"/>
          <a:lstStyle/>
          <a:p>
            <a:pPr marL="0" indent="0">
              <a:buNone/>
            </a:pPr>
            <a:r>
              <a:rPr lang="en-US" sz="950" b="1" kern="0" spc="100" dirty="0">
                <a:solidFill>
                  <a:srgbClr val="9FC1DE"/>
                </a:solidFill>
                <a:latin typeface="Calibri" pitchFamily="34" charset="0"/>
                <a:ea typeface="Calibri" pitchFamily="34" charset="-122"/>
                <a:cs typeface="Calibri" pitchFamily="34" charset="-120"/>
              </a:rPr>
              <a:t>OPTIMIS</a:t>
            </a:r>
            <a:endParaRPr lang="en-US" sz="950" dirty="0"/>
          </a:p>
        </p:txBody>
      </p:sp>
      <p:sp>
        <p:nvSpPr>
          <p:cNvPr id="18" name="Text 16"/>
          <p:cNvSpPr txBox="1"/>
          <p:nvPr/>
        </p:nvSpPr>
        <p:spPr>
          <a:xfrm>
            <a:off x="8193024" y="3703320"/>
            <a:ext cx="3136392" cy="54864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20%</a:t>
            </a:r>
            <a:endParaRPr lang="en-US" sz="3000" dirty="0"/>
          </a:p>
        </p:txBody>
      </p:sp>
      <p:sp>
        <p:nvSpPr>
          <p:cNvPr id="19" name="Text 17"/>
          <p:cNvSpPr txBox="1"/>
          <p:nvPr/>
        </p:nvSpPr>
        <p:spPr>
          <a:xfrm>
            <a:off x="8193024" y="4251960"/>
            <a:ext cx="3136392" cy="502920"/>
          </a:xfrm>
          <a:prstGeom prst="rect">
            <a:avLst/>
          </a:prstGeom>
          <a:noFill/>
          <a:ln/>
        </p:spPr>
        <p:txBody>
          <a:bodyPr wrap="square" lIns="0" tIns="0" rIns="0" bIns="0" rtlCol="0" anchor="ctr"/>
          <a:lstStyle/>
          <a:p>
            <a:pPr marL="0" indent="0">
              <a:lnSpc>
                <a:spcPct val="120000"/>
              </a:lnSpc>
              <a:buNone/>
            </a:pPr>
            <a:r>
              <a:rPr lang="en-US" sz="900" dirty="0">
                <a:solidFill>
                  <a:srgbClr val="D7E6F2"/>
                </a:solidFill>
                <a:latin typeface="Calibri" pitchFamily="34" charset="0"/>
                <a:ea typeface="Calibri" pitchFamily="34" charset="-122"/>
                <a:cs typeface="Calibri" pitchFamily="34" charset="-120"/>
              </a:rPr>
              <a:t>retensi difokuskan pada segmen “zona merah”</a:t>
            </a:r>
            <a:endParaRPr lang="en-US" sz="900" dirty="0"/>
          </a:p>
        </p:txBody>
      </p:sp>
      <p:sp>
        <p:nvSpPr>
          <p:cNvPr id="20" name="Text 18"/>
          <p:cNvSpPr txBox="1"/>
          <p:nvPr/>
        </p:nvSpPr>
        <p:spPr>
          <a:xfrm>
            <a:off x="640080" y="5074920"/>
            <a:ext cx="10424160" cy="274320"/>
          </a:xfrm>
          <a:prstGeom prst="rect">
            <a:avLst/>
          </a:prstGeom>
          <a:noFill/>
          <a:ln/>
        </p:spPr>
        <p:txBody>
          <a:bodyPr wrap="square" lIns="0" tIns="0" rIns="0" bIns="0" rtlCol="0" anchor="ctr"/>
          <a:lstStyle/>
          <a:p>
            <a:pPr marL="0" indent="0">
              <a:buNone/>
            </a:pPr>
            <a:r>
              <a:rPr lang="en-US" sz="1000" b="1" kern="0" spc="100" dirty="0">
                <a:solidFill>
                  <a:srgbClr val="9FC1DE"/>
                </a:solidFill>
                <a:latin typeface="Calibri" pitchFamily="34" charset="0"/>
                <a:ea typeface="Calibri" pitchFamily="34" charset="-122"/>
                <a:cs typeface="Calibri" pitchFamily="34" charset="-120"/>
              </a:rPr>
              <a:t>KPI MONITORING PASCA-IMPLEMENTASI</a:t>
            </a:r>
            <a:endParaRPr lang="en-US" sz="1000" dirty="0"/>
          </a:p>
        </p:txBody>
      </p:sp>
      <p:sp>
        <p:nvSpPr>
          <p:cNvPr id="21" name="Text 19"/>
          <p:cNvSpPr txBox="1"/>
          <p:nvPr/>
        </p:nvSpPr>
        <p:spPr>
          <a:xfrm>
            <a:off x="640080" y="5367528"/>
            <a:ext cx="10424160" cy="3200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Churn rate bulanan  ·  Retention rate per cohort tenure  ·  Adoption rate autopay  ·  Recall &amp; precision model XGBoost</a:t>
            </a:r>
            <a:endParaRPr lang="en-US" sz="1100" dirty="0"/>
          </a:p>
        </p:txBody>
      </p:sp>
      <p:sp>
        <p:nvSpPr>
          <p:cNvPr id="22" name="Shape 20"/>
          <p:cNvSpPr/>
          <p:nvPr/>
        </p:nvSpPr>
        <p:spPr>
          <a:xfrm>
            <a:off x="640080" y="6126480"/>
            <a:ext cx="10881360" cy="0"/>
          </a:xfrm>
          <a:prstGeom prst="line">
            <a:avLst/>
          </a:prstGeom>
          <a:noFill/>
          <a:ln w="12700">
            <a:solidFill>
              <a:srgbClr val="FFFFFF">
                <a:alpha val="25000"/>
              </a:srgbClr>
            </a:solidFill>
            <a:prstDash val="solid"/>
          </a:ln>
        </p:spPr>
      </p:sp>
      <p:sp>
        <p:nvSpPr>
          <p:cNvPr id="23" name="Text 21"/>
          <p:cNvSpPr txBox="1"/>
          <p:nvPr/>
        </p:nvSpPr>
        <p:spPr>
          <a:xfrm>
            <a:off x="640080" y="6263640"/>
            <a:ext cx="7315200" cy="320040"/>
          </a:xfrm>
          <a:prstGeom prst="rect">
            <a:avLst/>
          </a:prstGeom>
          <a:noFill/>
          <a:ln/>
        </p:spPr>
        <p:txBody>
          <a:bodyPr wrap="square" lIns="0" tIns="0" rIns="0" bIns="0" rtlCol="0" anchor="ctr"/>
          <a:lstStyle/>
          <a:p>
            <a:pPr marL="0" indent="0">
              <a:buNone/>
            </a:pPr>
            <a:r>
              <a:rPr lang="en-US" sz="1000" dirty="0">
                <a:solidFill>
                  <a:srgbClr val="9FC1DE"/>
                </a:solidFill>
                <a:latin typeface="Calibri" pitchFamily="34" charset="0"/>
                <a:ea typeface="Calibri" pitchFamily="34" charset="-122"/>
                <a:cs typeface="Calibri" pitchFamily="34" charset="-120"/>
              </a:rPr>
              <a:t>Customer Churn Analysis Portfolio  —  Hadi Rahman</a:t>
            </a:r>
            <a:endParaRPr lang="en-US" sz="1000" dirty="0"/>
          </a:p>
        </p:txBody>
      </p:sp>
      <p:sp>
        <p:nvSpPr>
          <p:cNvPr id="24" name="Text 22"/>
          <p:cNvSpPr txBox="1"/>
          <p:nvPr/>
        </p:nvSpPr>
        <p:spPr>
          <a:xfrm>
            <a:off x="10424160" y="6263640"/>
            <a:ext cx="1097280" cy="320040"/>
          </a:xfrm>
          <a:prstGeom prst="rect">
            <a:avLst/>
          </a:prstGeom>
          <a:noFill/>
          <a:ln/>
        </p:spPr>
        <p:txBody>
          <a:bodyPr wrap="square" lIns="0" tIns="0" rIns="0" bIns="0" rtlCol="0" anchor="ctr"/>
          <a:lstStyle/>
          <a:p>
            <a:pPr marL="0" indent="0" algn="r">
              <a:buNone/>
            </a:pPr>
            <a:r>
              <a:rPr lang="en-US" sz="1000" dirty="0">
                <a:solidFill>
                  <a:srgbClr val="9FC1DE"/>
                </a:solidFill>
                <a:latin typeface="Calibri" pitchFamily="34" charset="0"/>
                <a:ea typeface="Calibri" pitchFamily="34" charset="-122"/>
                <a:cs typeface="Calibri" pitchFamily="34" charset="-120"/>
              </a:rPr>
              <a:t>16 / 16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1719</Words>
  <Application>Microsoft Office PowerPoint</Application>
  <PresentationFormat>Widescreen</PresentationFormat>
  <Paragraphs>294</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Grow Level Up</cp:lastModifiedBy>
  <cp:revision>2</cp:revision>
  <dcterms:created xsi:type="dcterms:W3CDTF">2026-09-25T01:26:19Z</dcterms:created>
  <dcterms:modified xsi:type="dcterms:W3CDTF">2026-10-01T18:14:10Z</dcterms:modified>
</cp:coreProperties>
</file>